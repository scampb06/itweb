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7010400" cy="92964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DA0E25-7F1D-4785-983B-3682A180F18A}" v="3" dt="2026-05-22T11:42:20.407"/>
    <p1510:client id="{AD4CFEBF-357B-49D1-A20F-4B0DDAE5D073}" v="38" dt="2026-05-21T21:18:51.2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55704" autoAdjust="0"/>
  </p:normalViewPr>
  <p:slideViewPr>
    <p:cSldViewPr>
      <p:cViewPr varScale="1">
        <p:scale>
          <a:sx n="61" d="100"/>
          <a:sy n="61" d="100"/>
        </p:scale>
        <p:origin x="1013" y="43"/>
      </p:cViewPr>
      <p:guideLst>
        <p:guide orient="horz" pos="1620"/>
        <p:guide pos="2880"/>
      </p:guideLst>
    </p:cSldViewPr>
  </p:slideViewPr>
  <p:notesTextViewPr>
    <p:cViewPr>
      <p:scale>
        <a:sx n="1" d="1"/>
        <a:sy n="1" d="1"/>
      </p:scale>
      <p:origin x="0" y="0"/>
    </p:cViewPr>
  </p:notesTextViewPr>
  <p:notesViewPr>
    <p:cSldViewPr>
      <p:cViewPr varScale="1">
        <p:scale>
          <a:sx n="57" d="100"/>
          <a:sy n="57" d="100"/>
        </p:scale>
        <p:origin x="-2862" y="-8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Campbell" userId="038c3b5ed3a64a24" providerId="LiveId" clId="{03ABA033-24B8-4A46-823D-685D4D3DB034}"/>
    <pc:docChg chg="undo custSel addSld delSld modSld modNotesMaster modHandout">
      <pc:chgData name="Stephen Campbell" userId="038c3b5ed3a64a24" providerId="LiveId" clId="{03ABA033-24B8-4A46-823D-685D4D3DB034}" dt="2026-05-22T11:42:26.358" v="165" actId="1076"/>
      <pc:docMkLst>
        <pc:docMk/>
      </pc:docMkLst>
      <pc:sldChg chg="addSp modSp mod">
        <pc:chgData name="Stephen Campbell" userId="038c3b5ed3a64a24" providerId="LiveId" clId="{03ABA033-24B8-4A46-823D-685D4D3DB034}" dt="2026-05-21T20:01:54.033" v="50" actId="14100"/>
        <pc:sldMkLst>
          <pc:docMk/>
          <pc:sldMk cId="0" sldId="256"/>
        </pc:sldMkLst>
        <pc:picChg chg="add mod modCrop">
          <ac:chgData name="Stephen Campbell" userId="038c3b5ed3a64a24" providerId="LiveId" clId="{03ABA033-24B8-4A46-823D-685D4D3DB034}" dt="2026-05-21T20:01:54.033" v="50" actId="14100"/>
          <ac:picMkLst>
            <pc:docMk/>
            <pc:sldMk cId="0" sldId="256"/>
            <ac:picMk id="3" creationId="{EC50D5D7-FB6C-EB8A-4A14-0C377DF62E8B}"/>
          </ac:picMkLst>
        </pc:picChg>
      </pc:sldChg>
      <pc:sldChg chg="addSp delSp modSp mod">
        <pc:chgData name="Stephen Campbell" userId="038c3b5ed3a64a24" providerId="LiveId" clId="{03ABA033-24B8-4A46-823D-685D4D3DB034}" dt="2026-05-21T20:01:21.263" v="46" actId="14100"/>
        <pc:sldMkLst>
          <pc:docMk/>
          <pc:sldMk cId="0" sldId="257"/>
        </pc:sldMkLst>
        <pc:picChg chg="add del mod">
          <ac:chgData name="Stephen Campbell" userId="038c3b5ed3a64a24" providerId="LiveId" clId="{03ABA033-24B8-4A46-823D-685D4D3DB034}" dt="2026-05-21T19:59:40.208" v="42" actId="478"/>
          <ac:picMkLst>
            <pc:docMk/>
            <pc:sldMk cId="0" sldId="257"/>
            <ac:picMk id="3" creationId="{31431A03-4720-6D52-2022-6963BA1072C1}"/>
          </ac:picMkLst>
        </pc:picChg>
        <pc:picChg chg="add mod">
          <ac:chgData name="Stephen Campbell" userId="038c3b5ed3a64a24" providerId="LiveId" clId="{03ABA033-24B8-4A46-823D-685D4D3DB034}" dt="2026-05-21T20:01:21.263" v="46" actId="14100"/>
          <ac:picMkLst>
            <pc:docMk/>
            <pc:sldMk cId="0" sldId="257"/>
            <ac:picMk id="5" creationId="{3E8E981E-CCCC-7EE9-4081-0D4ECC093867}"/>
          </ac:picMkLst>
        </pc:picChg>
      </pc:sldChg>
      <pc:sldChg chg="addSp delSp modSp add mod">
        <pc:chgData name="Stephen Campbell" userId="038c3b5ed3a64a24" providerId="LiveId" clId="{03ABA033-24B8-4A46-823D-685D4D3DB034}" dt="2026-05-21T20:09:06.905" v="56" actId="14100"/>
        <pc:sldMkLst>
          <pc:docMk/>
          <pc:sldMk cId="406895635" sldId="258"/>
        </pc:sldMkLst>
        <pc:picChg chg="add del mod">
          <ac:chgData name="Stephen Campbell" userId="038c3b5ed3a64a24" providerId="LiveId" clId="{03ABA033-24B8-4A46-823D-685D4D3DB034}" dt="2026-05-21T20:07:36.249" v="53" actId="478"/>
          <ac:picMkLst>
            <pc:docMk/>
            <pc:sldMk cId="406895635" sldId="258"/>
            <ac:picMk id="3" creationId="{2BE4F59D-3567-618D-6961-B32FD876B348}"/>
          </ac:picMkLst>
        </pc:picChg>
        <pc:picChg chg="add mod">
          <ac:chgData name="Stephen Campbell" userId="038c3b5ed3a64a24" providerId="LiveId" clId="{03ABA033-24B8-4A46-823D-685D4D3DB034}" dt="2026-05-21T20:09:06.905" v="56" actId="14100"/>
          <ac:picMkLst>
            <pc:docMk/>
            <pc:sldMk cId="406895635" sldId="258"/>
            <ac:picMk id="5" creationId="{A86DB016-808C-DB50-9B67-FAE3A10FDB02}"/>
          </ac:picMkLst>
        </pc:picChg>
      </pc:sldChg>
      <pc:sldChg chg="addSp modSp add mod">
        <pc:chgData name="Stephen Campbell" userId="038c3b5ed3a64a24" providerId="LiveId" clId="{03ABA033-24B8-4A46-823D-685D4D3DB034}" dt="2026-05-21T20:10:54.891" v="59" actId="14100"/>
        <pc:sldMkLst>
          <pc:docMk/>
          <pc:sldMk cId="1605043243" sldId="259"/>
        </pc:sldMkLst>
        <pc:picChg chg="add mod">
          <ac:chgData name="Stephen Campbell" userId="038c3b5ed3a64a24" providerId="LiveId" clId="{03ABA033-24B8-4A46-823D-685D4D3DB034}" dt="2026-05-21T20:10:54.891" v="59" actId="14100"/>
          <ac:picMkLst>
            <pc:docMk/>
            <pc:sldMk cId="1605043243" sldId="259"/>
            <ac:picMk id="3" creationId="{C3FE4C91-2EBE-5DF6-0E73-557016F23E00}"/>
          </ac:picMkLst>
        </pc:picChg>
      </pc:sldChg>
      <pc:sldChg chg="addSp modSp add mod">
        <pc:chgData name="Stephen Campbell" userId="038c3b5ed3a64a24" providerId="LiveId" clId="{03ABA033-24B8-4A46-823D-685D4D3DB034}" dt="2026-05-21T20:12:57.555" v="62" actId="14100"/>
        <pc:sldMkLst>
          <pc:docMk/>
          <pc:sldMk cId="2219578225" sldId="260"/>
        </pc:sldMkLst>
        <pc:picChg chg="add mod">
          <ac:chgData name="Stephen Campbell" userId="038c3b5ed3a64a24" providerId="LiveId" clId="{03ABA033-24B8-4A46-823D-685D4D3DB034}" dt="2026-05-21T20:12:57.555" v="62" actId="14100"/>
          <ac:picMkLst>
            <pc:docMk/>
            <pc:sldMk cId="2219578225" sldId="260"/>
            <ac:picMk id="3" creationId="{55820C27-D9B7-100A-4A47-52E324BE11E0}"/>
          </ac:picMkLst>
        </pc:picChg>
      </pc:sldChg>
      <pc:sldChg chg="addSp modSp add mod">
        <pc:chgData name="Stephen Campbell" userId="038c3b5ed3a64a24" providerId="LiveId" clId="{03ABA033-24B8-4A46-823D-685D4D3DB034}" dt="2026-05-21T20:16:00.439" v="67" actId="14100"/>
        <pc:sldMkLst>
          <pc:docMk/>
          <pc:sldMk cId="1917772099" sldId="261"/>
        </pc:sldMkLst>
        <pc:picChg chg="add mod">
          <ac:chgData name="Stephen Campbell" userId="038c3b5ed3a64a24" providerId="LiveId" clId="{03ABA033-24B8-4A46-823D-685D4D3DB034}" dt="2026-05-21T20:16:00.439" v="67" actId="14100"/>
          <ac:picMkLst>
            <pc:docMk/>
            <pc:sldMk cId="1917772099" sldId="261"/>
            <ac:picMk id="3" creationId="{CAD9FBEB-2B81-5843-2217-D0FA6A0A70C7}"/>
          </ac:picMkLst>
        </pc:picChg>
      </pc:sldChg>
      <pc:sldChg chg="addSp modSp add mod">
        <pc:chgData name="Stephen Campbell" userId="038c3b5ed3a64a24" providerId="LiveId" clId="{03ABA033-24B8-4A46-823D-685D4D3DB034}" dt="2026-05-21T20:17:39.367" v="69" actId="14100"/>
        <pc:sldMkLst>
          <pc:docMk/>
          <pc:sldMk cId="1122328568" sldId="262"/>
        </pc:sldMkLst>
        <pc:picChg chg="add mod">
          <ac:chgData name="Stephen Campbell" userId="038c3b5ed3a64a24" providerId="LiveId" clId="{03ABA033-24B8-4A46-823D-685D4D3DB034}" dt="2026-05-21T20:17:39.367" v="69" actId="14100"/>
          <ac:picMkLst>
            <pc:docMk/>
            <pc:sldMk cId="1122328568" sldId="262"/>
            <ac:picMk id="3" creationId="{35D6C80A-2BD7-5669-81BD-8450D47BF4D8}"/>
          </ac:picMkLst>
        </pc:picChg>
      </pc:sldChg>
      <pc:sldChg chg="addSp modSp add mod">
        <pc:chgData name="Stephen Campbell" userId="038c3b5ed3a64a24" providerId="LiveId" clId="{03ABA033-24B8-4A46-823D-685D4D3DB034}" dt="2026-05-21T20:23:49.381" v="76" actId="14100"/>
        <pc:sldMkLst>
          <pc:docMk/>
          <pc:sldMk cId="2076069025" sldId="263"/>
        </pc:sldMkLst>
        <pc:picChg chg="add mod">
          <ac:chgData name="Stephen Campbell" userId="038c3b5ed3a64a24" providerId="LiveId" clId="{03ABA033-24B8-4A46-823D-685D4D3DB034}" dt="2026-05-21T20:23:49.381" v="76" actId="14100"/>
          <ac:picMkLst>
            <pc:docMk/>
            <pc:sldMk cId="2076069025" sldId="263"/>
            <ac:picMk id="3" creationId="{88ECE9E4-8380-EF41-6769-A33D8C53C98D}"/>
          </ac:picMkLst>
        </pc:picChg>
      </pc:sldChg>
      <pc:sldChg chg="addSp modSp add mod">
        <pc:chgData name="Stephen Campbell" userId="038c3b5ed3a64a24" providerId="LiveId" clId="{03ABA033-24B8-4A46-823D-685D4D3DB034}" dt="2026-05-21T20:26:06.363" v="79" actId="14100"/>
        <pc:sldMkLst>
          <pc:docMk/>
          <pc:sldMk cId="2642571931" sldId="264"/>
        </pc:sldMkLst>
        <pc:picChg chg="add mod">
          <ac:chgData name="Stephen Campbell" userId="038c3b5ed3a64a24" providerId="LiveId" clId="{03ABA033-24B8-4A46-823D-685D4D3DB034}" dt="2026-05-21T20:26:06.363" v="79" actId="14100"/>
          <ac:picMkLst>
            <pc:docMk/>
            <pc:sldMk cId="2642571931" sldId="264"/>
            <ac:picMk id="3" creationId="{50C92A63-8717-FE54-274B-721AEB6D4C3D}"/>
          </ac:picMkLst>
        </pc:picChg>
      </pc:sldChg>
      <pc:sldChg chg="addSp modSp add mod">
        <pc:chgData name="Stephen Campbell" userId="038c3b5ed3a64a24" providerId="LiveId" clId="{03ABA033-24B8-4A46-823D-685D4D3DB034}" dt="2026-05-21T20:28:54.482" v="82" actId="14100"/>
        <pc:sldMkLst>
          <pc:docMk/>
          <pc:sldMk cId="2522997299" sldId="265"/>
        </pc:sldMkLst>
        <pc:picChg chg="add mod">
          <ac:chgData name="Stephen Campbell" userId="038c3b5ed3a64a24" providerId="LiveId" clId="{03ABA033-24B8-4A46-823D-685D4D3DB034}" dt="2026-05-21T20:28:54.482" v="82" actId="14100"/>
          <ac:picMkLst>
            <pc:docMk/>
            <pc:sldMk cId="2522997299" sldId="265"/>
            <ac:picMk id="3" creationId="{51C60C2D-FDFF-4CFA-32B1-BE82ECFB857C}"/>
          </ac:picMkLst>
        </pc:picChg>
      </pc:sldChg>
      <pc:sldChg chg="addSp modSp add mod">
        <pc:chgData name="Stephen Campbell" userId="038c3b5ed3a64a24" providerId="LiveId" clId="{03ABA033-24B8-4A46-823D-685D4D3DB034}" dt="2026-05-21T20:31:05.012" v="85" actId="14100"/>
        <pc:sldMkLst>
          <pc:docMk/>
          <pc:sldMk cId="3623311715" sldId="266"/>
        </pc:sldMkLst>
        <pc:picChg chg="add mod">
          <ac:chgData name="Stephen Campbell" userId="038c3b5ed3a64a24" providerId="LiveId" clId="{03ABA033-24B8-4A46-823D-685D4D3DB034}" dt="2026-05-21T20:31:05.012" v="85" actId="14100"/>
          <ac:picMkLst>
            <pc:docMk/>
            <pc:sldMk cId="3623311715" sldId="266"/>
            <ac:picMk id="3" creationId="{AE647F14-8220-64BD-83F1-7B4A5E35C305}"/>
          </ac:picMkLst>
        </pc:picChg>
      </pc:sldChg>
      <pc:sldChg chg="addSp modSp add mod">
        <pc:chgData name="Stephen Campbell" userId="038c3b5ed3a64a24" providerId="LiveId" clId="{03ABA033-24B8-4A46-823D-685D4D3DB034}" dt="2026-05-21T20:33:22.518" v="91" actId="14100"/>
        <pc:sldMkLst>
          <pc:docMk/>
          <pc:sldMk cId="2174710544" sldId="267"/>
        </pc:sldMkLst>
        <pc:picChg chg="add mod">
          <ac:chgData name="Stephen Campbell" userId="038c3b5ed3a64a24" providerId="LiveId" clId="{03ABA033-24B8-4A46-823D-685D4D3DB034}" dt="2026-05-21T20:33:22.518" v="91" actId="14100"/>
          <ac:picMkLst>
            <pc:docMk/>
            <pc:sldMk cId="2174710544" sldId="267"/>
            <ac:picMk id="3" creationId="{78E72B03-E2E2-3DE8-9607-27AC6BF93F51}"/>
          </ac:picMkLst>
        </pc:picChg>
      </pc:sldChg>
      <pc:sldChg chg="addSp modSp add mod">
        <pc:chgData name="Stephen Campbell" userId="038c3b5ed3a64a24" providerId="LiveId" clId="{03ABA033-24B8-4A46-823D-685D4D3DB034}" dt="2026-05-21T20:35:45.552" v="98" actId="14100"/>
        <pc:sldMkLst>
          <pc:docMk/>
          <pc:sldMk cId="237894032" sldId="268"/>
        </pc:sldMkLst>
        <pc:picChg chg="add mod">
          <ac:chgData name="Stephen Campbell" userId="038c3b5ed3a64a24" providerId="LiveId" clId="{03ABA033-24B8-4A46-823D-685D4D3DB034}" dt="2026-05-21T20:35:45.552" v="98" actId="14100"/>
          <ac:picMkLst>
            <pc:docMk/>
            <pc:sldMk cId="237894032" sldId="268"/>
            <ac:picMk id="3" creationId="{59D23D1A-5DA2-C7C2-DA07-29658B4A3627}"/>
          </ac:picMkLst>
        </pc:picChg>
      </pc:sldChg>
      <pc:sldChg chg="addSp modSp add mod">
        <pc:chgData name="Stephen Campbell" userId="038c3b5ed3a64a24" providerId="LiveId" clId="{03ABA033-24B8-4A46-823D-685D4D3DB034}" dt="2026-05-21T20:38:35.045" v="110" actId="14100"/>
        <pc:sldMkLst>
          <pc:docMk/>
          <pc:sldMk cId="503711600" sldId="269"/>
        </pc:sldMkLst>
        <pc:picChg chg="add mod">
          <ac:chgData name="Stephen Campbell" userId="038c3b5ed3a64a24" providerId="LiveId" clId="{03ABA033-24B8-4A46-823D-685D4D3DB034}" dt="2026-05-21T20:38:35.045" v="110" actId="14100"/>
          <ac:picMkLst>
            <pc:docMk/>
            <pc:sldMk cId="503711600" sldId="269"/>
            <ac:picMk id="3" creationId="{99BA2E27-552D-555B-8786-66A792D814E6}"/>
          </ac:picMkLst>
        </pc:picChg>
      </pc:sldChg>
      <pc:sldChg chg="addSp modSp add mod">
        <pc:chgData name="Stephen Campbell" userId="038c3b5ed3a64a24" providerId="LiveId" clId="{03ABA033-24B8-4A46-823D-685D4D3DB034}" dt="2026-05-21T20:41:13.024" v="115" actId="14100"/>
        <pc:sldMkLst>
          <pc:docMk/>
          <pc:sldMk cId="1413320232" sldId="270"/>
        </pc:sldMkLst>
        <pc:picChg chg="add mod">
          <ac:chgData name="Stephen Campbell" userId="038c3b5ed3a64a24" providerId="LiveId" clId="{03ABA033-24B8-4A46-823D-685D4D3DB034}" dt="2026-05-21T20:41:13.024" v="115" actId="14100"/>
          <ac:picMkLst>
            <pc:docMk/>
            <pc:sldMk cId="1413320232" sldId="270"/>
            <ac:picMk id="3" creationId="{F5CEB24C-84D0-B011-6EAD-2AD4DC25CCFE}"/>
          </ac:picMkLst>
        </pc:picChg>
      </pc:sldChg>
      <pc:sldChg chg="addSp modSp add mod">
        <pc:chgData name="Stephen Campbell" userId="038c3b5ed3a64a24" providerId="LiveId" clId="{03ABA033-24B8-4A46-823D-685D4D3DB034}" dt="2026-05-21T20:43:06.483" v="118" actId="14100"/>
        <pc:sldMkLst>
          <pc:docMk/>
          <pc:sldMk cId="3579345454" sldId="271"/>
        </pc:sldMkLst>
        <pc:picChg chg="add mod">
          <ac:chgData name="Stephen Campbell" userId="038c3b5ed3a64a24" providerId="LiveId" clId="{03ABA033-24B8-4A46-823D-685D4D3DB034}" dt="2026-05-21T20:43:06.483" v="118" actId="14100"/>
          <ac:picMkLst>
            <pc:docMk/>
            <pc:sldMk cId="3579345454" sldId="271"/>
            <ac:picMk id="3" creationId="{B7FE0C7C-622B-EF02-CFA6-8C024DBAF8D1}"/>
          </ac:picMkLst>
        </pc:picChg>
      </pc:sldChg>
      <pc:sldChg chg="addSp modSp add mod">
        <pc:chgData name="Stephen Campbell" userId="038c3b5ed3a64a24" providerId="LiveId" clId="{03ABA033-24B8-4A46-823D-685D4D3DB034}" dt="2026-05-21T20:44:54.991" v="125" actId="14100"/>
        <pc:sldMkLst>
          <pc:docMk/>
          <pc:sldMk cId="2005168265" sldId="272"/>
        </pc:sldMkLst>
        <pc:picChg chg="add mod">
          <ac:chgData name="Stephen Campbell" userId="038c3b5ed3a64a24" providerId="LiveId" clId="{03ABA033-24B8-4A46-823D-685D4D3DB034}" dt="2026-05-21T20:44:54.991" v="125" actId="14100"/>
          <ac:picMkLst>
            <pc:docMk/>
            <pc:sldMk cId="2005168265" sldId="272"/>
            <ac:picMk id="3" creationId="{73E39B9E-9F47-4712-1719-D0D503C3A463}"/>
          </ac:picMkLst>
        </pc:picChg>
      </pc:sldChg>
      <pc:sldChg chg="addSp delSp modSp add mod">
        <pc:chgData name="Stephen Campbell" userId="038c3b5ed3a64a24" providerId="LiveId" clId="{03ABA033-24B8-4A46-823D-685D4D3DB034}" dt="2026-05-21T20:48:26.590" v="137" actId="14100"/>
        <pc:sldMkLst>
          <pc:docMk/>
          <pc:sldMk cId="3450276664" sldId="273"/>
        </pc:sldMkLst>
        <pc:picChg chg="add del">
          <ac:chgData name="Stephen Campbell" userId="038c3b5ed3a64a24" providerId="LiveId" clId="{03ABA033-24B8-4A46-823D-685D4D3DB034}" dt="2026-05-21T20:47:18.595" v="131" actId="22"/>
          <ac:picMkLst>
            <pc:docMk/>
            <pc:sldMk cId="3450276664" sldId="273"/>
            <ac:picMk id="3" creationId="{B2EB4EDE-6956-0B49-76DA-05F9A2C3F0C7}"/>
          </ac:picMkLst>
        </pc:picChg>
        <pc:picChg chg="add del mod">
          <ac:chgData name="Stephen Campbell" userId="038c3b5ed3a64a24" providerId="LiveId" clId="{03ABA033-24B8-4A46-823D-685D4D3DB034}" dt="2026-05-21T20:47:15.493" v="130" actId="22"/>
          <ac:picMkLst>
            <pc:docMk/>
            <pc:sldMk cId="3450276664" sldId="273"/>
            <ac:picMk id="5" creationId="{201345F7-98B5-83E1-EA5C-399F1CFA41DB}"/>
          </ac:picMkLst>
        </pc:picChg>
        <pc:picChg chg="add mod">
          <ac:chgData name="Stephen Campbell" userId="038c3b5ed3a64a24" providerId="LiveId" clId="{03ABA033-24B8-4A46-823D-685D4D3DB034}" dt="2026-05-21T20:48:26.590" v="137" actId="14100"/>
          <ac:picMkLst>
            <pc:docMk/>
            <pc:sldMk cId="3450276664" sldId="273"/>
            <ac:picMk id="7" creationId="{AE065463-A667-A588-D8A1-653A099D1506}"/>
          </ac:picMkLst>
        </pc:picChg>
      </pc:sldChg>
      <pc:sldChg chg="addSp delSp modSp add mod">
        <pc:chgData name="Stephen Campbell" userId="038c3b5ed3a64a24" providerId="LiveId" clId="{03ABA033-24B8-4A46-823D-685D4D3DB034}" dt="2026-05-22T11:42:26.358" v="165" actId="1076"/>
        <pc:sldMkLst>
          <pc:docMk/>
          <pc:sldMk cId="446877702" sldId="274"/>
        </pc:sldMkLst>
        <pc:picChg chg="add del mod">
          <ac:chgData name="Stephen Campbell" userId="038c3b5ed3a64a24" providerId="LiveId" clId="{03ABA033-24B8-4A46-823D-685D4D3DB034}" dt="2026-05-22T11:35:12.935" v="155" actId="478"/>
          <ac:picMkLst>
            <pc:docMk/>
            <pc:sldMk cId="446877702" sldId="274"/>
            <ac:picMk id="2" creationId="{06F8A706-E3F2-24EC-4A51-5FD82D1822E9}"/>
          </ac:picMkLst>
        </pc:picChg>
        <pc:picChg chg="add del mod">
          <ac:chgData name="Stephen Campbell" userId="038c3b5ed3a64a24" providerId="LiveId" clId="{03ABA033-24B8-4A46-823D-685D4D3DB034}" dt="2026-05-21T20:50:28.324" v="141" actId="22"/>
          <ac:picMkLst>
            <pc:docMk/>
            <pc:sldMk cId="446877702" sldId="274"/>
            <ac:picMk id="3" creationId="{13C4FDD4-3589-C247-99A9-4615E56429E8}"/>
          </ac:picMkLst>
        </pc:picChg>
        <pc:picChg chg="add del mod">
          <ac:chgData name="Stephen Campbell" userId="038c3b5ed3a64a24" providerId="LiveId" clId="{03ABA033-24B8-4A46-823D-685D4D3DB034}" dt="2026-05-22T11:42:12.619" v="163" actId="478"/>
          <ac:picMkLst>
            <pc:docMk/>
            <pc:sldMk cId="446877702" sldId="274"/>
            <ac:picMk id="3" creationId="{19178AF2-1A8C-05DF-61E2-82282EDEA689}"/>
          </ac:picMkLst>
        </pc:picChg>
        <pc:picChg chg="add mod">
          <ac:chgData name="Stephen Campbell" userId="038c3b5ed3a64a24" providerId="LiveId" clId="{03ABA033-24B8-4A46-823D-685D4D3DB034}" dt="2026-05-22T11:42:26.358" v="165" actId="1076"/>
          <ac:picMkLst>
            <pc:docMk/>
            <pc:sldMk cId="446877702" sldId="274"/>
            <ac:picMk id="4" creationId="{CAC7F0DE-78ED-2030-69B8-A3524BDB02D5}"/>
          </ac:picMkLst>
        </pc:picChg>
        <pc:picChg chg="add mod">
          <ac:chgData name="Stephen Campbell" userId="038c3b5ed3a64a24" providerId="LiveId" clId="{03ABA033-24B8-4A46-823D-685D4D3DB034}" dt="2026-05-21T20:52:42.410" v="150" actId="1076"/>
          <ac:picMkLst>
            <pc:docMk/>
            <pc:sldMk cId="446877702" sldId="274"/>
            <ac:picMk id="5" creationId="{B136DA49-80C4-553C-6F47-F98822900F65}"/>
          </ac:picMkLst>
        </pc:picChg>
      </pc:sldChg>
      <pc:sldChg chg="add del">
        <pc:chgData name="Stephen Campbell" userId="038c3b5ed3a64a24" providerId="LiveId" clId="{03ABA033-24B8-4A46-823D-685D4D3DB034}" dt="2026-05-21T20:52:45.140" v="151" actId="47"/>
        <pc:sldMkLst>
          <pc:docMk/>
          <pc:sldMk cId="2259740682" sldId="27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63D2EC-BA32-F2D1-54E9-1104D1C708E3}"/>
              </a:ext>
            </a:extLst>
          </p:cNvPr>
          <p:cNvSpPr>
            <a:spLocks noGrp="1"/>
          </p:cNvSpPr>
          <p:nvPr>
            <p:ph type="hdr" sz="quarter"/>
          </p:nvPr>
        </p:nvSpPr>
        <p:spPr>
          <a:xfrm>
            <a:off x="0" y="0"/>
            <a:ext cx="3037840" cy="464820"/>
          </a:xfrm>
          <a:prstGeom prst="rect">
            <a:avLst/>
          </a:prstGeom>
        </p:spPr>
        <p:txBody>
          <a:bodyPr vert="horz" lIns="93177" tIns="46589" rIns="93177" bIns="46589" rtlCol="0"/>
          <a:lstStyle>
            <a:lvl1pPr algn="l" eaLnBrk="1" hangingPunct="1">
              <a:defRPr sz="1200">
                <a:cs typeface="Arial" charset="0"/>
              </a:defRPr>
            </a:lvl1pPr>
          </a:lstStyle>
          <a:p>
            <a:pPr>
              <a:defRPr/>
            </a:pPr>
            <a:endParaRPr lang="en-US"/>
          </a:p>
        </p:txBody>
      </p:sp>
      <p:sp>
        <p:nvSpPr>
          <p:cNvPr id="3" name="Date Placeholder 2">
            <a:extLst>
              <a:ext uri="{FF2B5EF4-FFF2-40B4-BE49-F238E27FC236}">
                <a16:creationId xmlns:a16="http://schemas.microsoft.com/office/drawing/2014/main" id="{F4A5D7DF-E2BA-1C62-0914-61D93A885581}"/>
              </a:ext>
            </a:extLst>
          </p:cNvPr>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eaLnBrk="1" hangingPunct="1">
              <a:defRPr sz="1200">
                <a:cs typeface="Arial" charset="0"/>
              </a:defRPr>
            </a:lvl1pPr>
          </a:lstStyle>
          <a:p>
            <a:pPr>
              <a:defRPr/>
            </a:pPr>
            <a:fld id="{562B4590-7BE6-F84C-B862-57C456EA9C7A}" type="datetimeFigureOut">
              <a:rPr lang="en-US"/>
              <a:pPr>
                <a:defRPr/>
              </a:pPr>
              <a:t>5/22/2026</a:t>
            </a:fld>
            <a:endParaRPr lang="en-US"/>
          </a:p>
        </p:txBody>
      </p:sp>
      <p:sp>
        <p:nvSpPr>
          <p:cNvPr id="4" name="Footer Placeholder 3">
            <a:extLst>
              <a:ext uri="{FF2B5EF4-FFF2-40B4-BE49-F238E27FC236}">
                <a16:creationId xmlns:a16="http://schemas.microsoft.com/office/drawing/2014/main" id="{110669B1-C331-E9E9-0270-D9231AB781E2}"/>
              </a:ext>
            </a:extLst>
          </p:cNvPr>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eaLnBrk="1" hangingPunct="1">
              <a:defRPr sz="1200">
                <a:cs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4EDBF753-D816-D983-BBB8-F407E0AE13EE}"/>
              </a:ext>
            </a:extLst>
          </p:cNvPr>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2C806CEF-1302-AD42-B722-9B82F4654C6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47CD9072-4B4C-4573-8541-4CCFF1CED147}" type="datetimeFigureOut">
              <a:rPr lang="en-US" smtClean="0"/>
              <a:t>5/22/2026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390A6D5-5873-48D6-B940-43DCCBB5F1C5}" type="slidenum">
              <a:rPr lang="en-US" smtClean="0"/>
              <a:t>‹#›</a:t>
            </a:fld>
            <a:endParaRPr lang="en-US"/>
          </a:p>
        </p:txBody>
      </p:sp>
    </p:spTree>
    <p:extLst>
      <p:ext uri="{BB962C8B-B14F-4D97-AF65-F5344CB8AC3E}">
        <p14:creationId xmlns:p14="http://schemas.microsoft.com/office/powerpoint/2010/main" val="411139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ITWeb Security Summit 2026 — Johannesburg.</a:t>
            </a:r>
            <a:r>
              <a:rPr lang="en-US"/>
              <a:t> Welcome delegates. This talk draws on a structured dataset of 80+ hybrid cyber-influence incidents from six continents, cross-referenced with EEAS FIMI reports, Mandiant, Microsoft MSTIC, and academic sources. The central argument: we have systematically under-counted the threat by focusing only on 'disinformation' when the actual attack surface spans four distinct weaponisation modes. | </a:t>
            </a:r>
            <a:r>
              <a:rPr lang="en-US" b="1"/>
              <a:t>Timing plan for 30 minutes (19 slides):</a:t>
            </a:r>
            <a:r>
              <a:rPr lang="en-US"/>
              <a:t> </a:t>
            </a:r>
            <a:r>
              <a:rPr lang="en-US" b="1"/>
              <a:t>19-slide deck · 30-minute keynote. Pace guide:</a:t>
            </a:r>
            <a:r>
              <a:rPr lang="en-US"/>
              <a:t> </a:t>
            </a:r>
            <a:r>
              <a:rPr lang="en-US" i="1"/>
              <a:t>Act 1 — Global Landscape (~12 min):</a:t>
            </a:r>
            <a:r>
              <a:rPr lang="en-US"/>
              <a:t> S1 Title 1min · S2 Agenda 1min · S3 OASIS framing 2min · S4 Three Modes 1.5min · S5 Prevalent types 2min · S6 Triggers 1.5min · S7 Protagonists 1.5min · S8 Landmark cases 2min · S9 Drivers 1.5min · S10 AI 1.5min. </a:t>
            </a:r>
            <a:r>
              <a:rPr lang="en-US" i="1"/>
              <a:t>Act 2 — Africa &amp; South Africa (~10 min):</a:t>
            </a:r>
            <a:r>
              <a:rPr lang="en-US"/>
              <a:t> S11 Africa environment 2min · S12 Real-world harm 3min (slow down — this is the human cost; do not skip) · S13 Africa two patterns 1.5min · S14 SA three tracks 2min. </a:t>
            </a:r>
            <a:r>
              <a:rPr lang="en-US" i="1"/>
              <a:t>Act 3 — Response (~6 min):</a:t>
            </a:r>
            <a:r>
              <a:rPr lang="en-US"/>
              <a:t> S15 No one-size-fits-all 1.5min · S16 Multilateral 1min (skippable) · S17 Firms 1.5min · S18 Communities 1.5min. </a:t>
            </a:r>
            <a:r>
              <a:rPr lang="en-US" i="1"/>
              <a:t>Close (~2 min):</a:t>
            </a:r>
            <a:r>
              <a:rPr lang="en-US"/>
              <a:t> S19 Mandela 2min. | </a:t>
            </a:r>
            <a:r>
              <a:rPr lang="en-US" b="1"/>
              <a:t>If time is tight (25 min):</a:t>
            </a:r>
            <a:r>
              <a:rPr lang="en-US"/>
              <a:t> Skip S6 (triggers), S8 (landmark cases), or S16 (multilateral) without losing the narrative thread. S12 (real-world harm to Africans) and S14 (SA three tracks) are anchor slides — do not skip. | </a:t>
            </a:r>
            <a:r>
              <a:rPr lang="en-US" b="1"/>
              <a:t>Skipping on the fly:</a:t>
            </a:r>
            <a:r>
              <a:rPr lang="en-US"/>
              <a:t> Use the dot navigation at the bottom to jump ahead. Slides 5, 6, 8, 16 are the four most skippable without breaking story continuity.</a:t>
            </a:r>
          </a:p>
        </p:txBody>
      </p:sp>
      <p:sp>
        <p:nvSpPr>
          <p:cNvPr id="4" name="Slide Number Placeholder 3"/>
          <p:cNvSpPr>
            <a:spLocks noGrp="1"/>
          </p:cNvSpPr>
          <p:nvPr>
            <p:ph type="sldNum" sz="quarter" idx="5"/>
          </p:nvPr>
        </p:nvSpPr>
        <p:spPr/>
        <p:txBody>
          <a:bodyPr/>
          <a:lstStyle/>
          <a:p>
            <a:fld id="{E390A6D5-5873-48D6-B940-43DCCBB5F1C5}" type="slidenum">
              <a:rPr lang="en-US" smtClean="0"/>
              <a:t>1</a:t>
            </a:fld>
            <a:endParaRPr lang="en-US"/>
          </a:p>
        </p:txBody>
      </p:sp>
    </p:spTree>
    <p:extLst>
      <p:ext uri="{BB962C8B-B14F-4D97-AF65-F5344CB8AC3E}">
        <p14:creationId xmlns:p14="http://schemas.microsoft.com/office/powerpoint/2010/main" val="2201997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Agenda — speaker orientation. Three-act structure.</a:t>
            </a:r>
            <a:r>
              <a:rPr lang="en-US"/>
              <a:t> Act 1 (Global, ~12 min): taxonomy, attack types, trigger conditions, protagonist classes, landmark cases, geopolitical/economic/technical drivers, AI acceleration. Act 2 (Africa &amp; SA, ~10 min): the continent has a qualitatively different threat environment — we move from abstract global threat to concrete African harm. The pivot after slide 10 (AI) is intentional: after establishing the global picture, we ask 'what does this mean for us, here?' Act 3 (Response, ~6 min): four-slide response framework covering no-one-size-fits-all, multilateral, firm-level, and community-level actions. | </a:t>
            </a:r>
            <a:r>
              <a:rPr lang="en-US" b="1"/>
              <a:t>Orientation for the audience:</a:t>
            </a:r>
            <a:r>
              <a:rPr lang="en-US"/>
              <a:t> Many in this room are technical practitioners — SOC analysts, CISOs, incident responders. This talk deliberately crosses into influence-operations and political territory. That is intentional: hybridisation means these domains are now inseparable. You cannot defend against MGM-style vishing without understanding social engineering as influence. You cannot defend against election CIB without understanding fake-account infrastructure. | </a:t>
            </a:r>
            <a:r>
              <a:rPr lang="en-US" b="1"/>
              <a:t>Africa pivot (Act 2):</a:t>
            </a:r>
            <a:r>
              <a:rPr lang="en-US"/>
              <a:t> Sub-Saharan Africa has 54 countries, 1.4 billion people, 600M+ internet users, but less than 3% of global cybersecurity investment. It is not a smaller version of the global threat — it is a structurally different one. Low cyber resilience + high digital growth + weak platform moderation + closed WhatsApp chains = a threat landscape that requires its own analysis. | </a:t>
            </a:r>
            <a:r>
              <a:rPr lang="en-US" b="1"/>
              <a:t>The Mandela framing:</a:t>
            </a:r>
            <a:r>
              <a:rPr lang="en-US"/>
              <a:t> The closing quote is not sentiment. The freedom South Africans fought for must be extended into the digital domain — and that extension is now under active attack.</a:t>
            </a:r>
          </a:p>
        </p:txBody>
      </p:sp>
      <p:sp>
        <p:nvSpPr>
          <p:cNvPr id="4" name="Slide Number Placeholder 3"/>
          <p:cNvSpPr>
            <a:spLocks noGrp="1"/>
          </p:cNvSpPr>
          <p:nvPr>
            <p:ph type="sldNum" sz="quarter" idx="5"/>
          </p:nvPr>
        </p:nvSpPr>
        <p:spPr/>
        <p:txBody>
          <a:bodyPr/>
          <a:lstStyle/>
          <a:p>
            <a:fld id="{E390A6D5-5873-48D6-B940-43DCCBB5F1C5}" type="slidenum">
              <a:rPr lang="en-US" smtClean="0"/>
              <a:t>2</a:t>
            </a:fld>
            <a:endParaRPr lang="en-US"/>
          </a:p>
        </p:txBody>
      </p:sp>
    </p:spTree>
    <p:extLst>
      <p:ext uri="{BB962C8B-B14F-4D97-AF65-F5344CB8AC3E}">
        <p14:creationId xmlns:p14="http://schemas.microsoft.com/office/powerpoint/2010/main" val="1690506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OASIS Open / STIX extension work.</a:t>
            </a:r>
            <a:r>
              <a:rPr lang="en-US"/>
              <a:t> OASIS is a global standards development organisation. STIX (Structured Threat Intelligence eXpression) is the dominant machine-readable format for sharing cyber threat intelligence — used by government CERTs, ISACs and commercial platforms worldwide. | This 4-quadrant model is being developed to extend STIX so it can model threats to </a:t>
            </a:r>
            <a:r>
              <a:rPr lang="en-US" i="1"/>
              <a:t>public</a:t>
            </a:r>
            <a:r>
              <a:rPr lang="en-US"/>
              <a:t> information environments (elections, civic discourse, public health) as well as the proprietary networks it currently covers. | </a:t>
            </a:r>
            <a:r>
              <a:rPr lang="en-US" b="1"/>
              <a:t>Key speaker point:</a:t>
            </a:r>
            <a:r>
              <a:rPr lang="en-US"/>
              <a:t> When we limit our frame to 'disinformation', we implicitly limit our countermeasures to veracity-based interventions — fact-checking, prebunking, labelling. These matter. But they do not address exploitation (ransomware, fraud), abuse (coordinated harassment, xenophobia), or intrusion (theft, sabotage). Each quadrant requires a different institutional response and a different legal framework. | </a:t>
            </a:r>
            <a:r>
              <a:rPr lang="en-US" b="1"/>
              <a:t>Source:</a:t>
            </a:r>
            <a:r>
              <a:rPr lang="en-US"/>
              <a:t> OASIS Open standards community; speaker's own framing for the STIX extension project.</a:t>
            </a:r>
          </a:p>
        </p:txBody>
      </p:sp>
      <p:sp>
        <p:nvSpPr>
          <p:cNvPr id="4" name="Slide Number Placeholder 3"/>
          <p:cNvSpPr>
            <a:spLocks noGrp="1"/>
          </p:cNvSpPr>
          <p:nvPr>
            <p:ph type="sldNum" sz="quarter" idx="5"/>
          </p:nvPr>
        </p:nvSpPr>
        <p:spPr/>
        <p:txBody>
          <a:bodyPr/>
          <a:lstStyle/>
          <a:p>
            <a:fld id="{E390A6D5-5873-48D6-B940-43DCCBB5F1C5}" type="slidenum">
              <a:rPr lang="en-US" smtClean="0"/>
              <a:t>3</a:t>
            </a:fld>
            <a:endParaRPr lang="en-US"/>
          </a:p>
        </p:txBody>
      </p:sp>
    </p:spTree>
    <p:extLst>
      <p:ext uri="{BB962C8B-B14F-4D97-AF65-F5344CB8AC3E}">
        <p14:creationId xmlns:p14="http://schemas.microsoft.com/office/powerpoint/2010/main" val="1997962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Taxonomy source:</a:t>
            </a:r>
            <a:r>
              <a:rPr lang="en-US"/>
              <a:t> Developed by the speaker for this research; influenced by EEAS FIMI taxonomy and NATO hybrid threat frameworks. | </a:t>
            </a:r>
            <a:r>
              <a:rPr lang="en-US" b="1"/>
              <a:t>Type 1 — Cyber-enabled influence (strict):</a:t>
            </a:r>
            <a:r>
              <a:rPr lang="en-US"/>
              <a:t> Requires an unauthorised intrusion or DDoS. Examples: DNC hack-and-leak (APT28, 2016); Transnet ransomware + port shutdown (2021); Sony Pictures / Guardians of Peace (North Korea, 2014). | </a:t>
            </a:r>
            <a:r>
              <a:rPr lang="en-US" b="1"/>
              <a:t>Type 1 (broad):</a:t>
            </a:r>
            <a:r>
              <a:rPr lang="en-US"/>
              <a:t> No intrusion required. Uses fake accounts, sham websites, coordinated inauthentic behaviour (CIB). Examples: Wagner-linked Africa CIB networks; Prigozhin's Internet Research Agency. | </a:t>
            </a:r>
            <a:r>
              <a:rPr lang="en-US" b="1"/>
              <a:t>Type 2 — Influence-enabled cyber:</a:t>
            </a:r>
            <a:r>
              <a:rPr lang="en-US"/>
              <a:t> Deception or social engineering creates the access. Examples: MGM Resorts vishing (Scattered Spider); Experian SA fraudulent client impersonation; Arup deepfake CFO fraud. | </a:t>
            </a:r>
            <a:r>
              <a:rPr lang="en-US" b="1"/>
              <a:t>Type 3 — Parallel:</a:t>
            </a:r>
            <a:r>
              <a:rPr lang="en-US"/>
              <a:t> Same actor runs both tracks simultaneously but independently. Examples: PRC pressure on Taiwan; Russian election interference 2016; Iran-Hamas operations. | </a:t>
            </a:r>
            <a:r>
              <a:rPr lang="en-US" b="1"/>
              <a:t>EEAS context:</a:t>
            </a:r>
            <a:r>
              <a:rPr lang="en-US"/>
              <a:t> The EU's 4th Annual FIMI Report (2025) identified increased hybridisation as one of three top trends alongside AI use and increased covertness.</a:t>
            </a:r>
          </a:p>
        </p:txBody>
      </p:sp>
      <p:sp>
        <p:nvSpPr>
          <p:cNvPr id="4" name="Slide Number Placeholder 3"/>
          <p:cNvSpPr>
            <a:spLocks noGrp="1"/>
          </p:cNvSpPr>
          <p:nvPr>
            <p:ph type="sldNum" sz="quarter" idx="5"/>
          </p:nvPr>
        </p:nvSpPr>
        <p:spPr/>
        <p:txBody>
          <a:bodyPr/>
          <a:lstStyle/>
          <a:p>
            <a:fld id="{E390A6D5-5873-48D6-B940-43DCCBB5F1C5}" type="slidenum">
              <a:rPr lang="en-US" smtClean="0"/>
              <a:t>4</a:t>
            </a:fld>
            <a:endParaRPr lang="en-US"/>
          </a:p>
        </p:txBody>
      </p:sp>
    </p:spTree>
    <p:extLst>
      <p:ext uri="{BB962C8B-B14F-4D97-AF65-F5344CB8AC3E}">
        <p14:creationId xmlns:p14="http://schemas.microsoft.com/office/powerpoint/2010/main" val="3688793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strict vs. broad distinction matters enormously for defenders.</a:t>
            </a:r>
            <a:r>
              <a:rPr lang="en-US"/>
              <a:t> Strictly-defined hybrid operations — those with an unauthorised intrusion — require state-grade or criminal-grade offensive capability. They are detectable by SOCs wired for network anomalies. The deception component tends to be targeted, timed, and purposeful. | </a:t>
            </a:r>
            <a:r>
              <a:rPr lang="en-US" b="1"/>
              <a:t>Loosely-defined operations (no intrusion)</a:t>
            </a:r>
            <a:r>
              <a:rPr lang="en-US"/>
              <a:t> have been democratised to the point where a domestic political party, a PR firm, or an individual influencer can run them. The barrier is money and motivation, not technical skill. This is why the Africa/South Africa landscape includes both state and domestic actors. | </a:t>
            </a:r>
            <a:r>
              <a:rPr lang="en-US" b="1"/>
              <a:t>Globally most prevalent (strict / intrusion-based):</a:t>
            </a:r>
            <a:r>
              <a:rPr lang="en-US"/>
              <a:t> Double-extortion ransomware (Type 2f) is by raw volume the highest-frequency hybrid type — every major ransomware attack is simultaneously a cyber intrusion and a psychological pressure campaign via the leak-site threat. Hack-and-leak (Type 1b) is lower frequency but higher strategic impact. Defacement (Type 1f) is common in conflict contexts. | </a:t>
            </a:r>
            <a:r>
              <a:rPr lang="en-US" b="1"/>
              <a:t>Globally most prevalent (broad / no intrusion):</a:t>
            </a:r>
            <a:r>
              <a:rPr lang="en-US"/>
              <a:t> CIB via fake-account infrastructure (Type 1c) is the dominant state-actor type for long-term narrative influence — used by Russia (IRA/Wagner), China (Spamouflage), Iran (Islamic Messaging Teams), and commercial contractors (Team Jorge, Archimedes). Deepfake/impersonation fraud (Type 2c) is the fastest-growing category. | </a:t>
            </a:r>
            <a:r>
              <a:rPr lang="en-US" b="1"/>
              <a:t>Africa-specific:</a:t>
            </a:r>
            <a:r>
              <a:rPr lang="en-US"/>
              <a:t> The 9-of-20 qualifying incidents in the dataset split into exactly these two tracks — CIB for influence (primarily elections), and ransomware/extortion for criminal profit.</a:t>
            </a:r>
          </a:p>
        </p:txBody>
      </p:sp>
      <p:sp>
        <p:nvSpPr>
          <p:cNvPr id="4" name="Slide Number Placeholder 3"/>
          <p:cNvSpPr>
            <a:spLocks noGrp="1"/>
          </p:cNvSpPr>
          <p:nvPr>
            <p:ph type="sldNum" sz="quarter" idx="5"/>
          </p:nvPr>
        </p:nvSpPr>
        <p:spPr/>
        <p:txBody>
          <a:bodyPr/>
          <a:lstStyle/>
          <a:p>
            <a:fld id="{E390A6D5-5873-48D6-B940-43DCCBB5F1C5}" type="slidenum">
              <a:rPr lang="en-US" smtClean="0"/>
              <a:t>5</a:t>
            </a:fld>
            <a:endParaRPr lang="en-US"/>
          </a:p>
        </p:txBody>
      </p:sp>
    </p:spTree>
    <p:extLst>
      <p:ext uri="{BB962C8B-B14F-4D97-AF65-F5344CB8AC3E}">
        <p14:creationId xmlns:p14="http://schemas.microsoft.com/office/powerpoint/2010/main" val="18650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Understanding trigger conditions helps defenders prepare, not just react.</a:t>
            </a:r>
            <a:r>
              <a:rPr lang="en-US"/>
              <a:t> The key insight is that hybrid attacks are not random — they cluster around identifiable structural conditions. | </a:t>
            </a:r>
            <a:r>
              <a:rPr lang="en-US" b="1"/>
              <a:t>Election cycles:</a:t>
            </a:r>
            <a:r>
              <a:rPr lang="en-US"/>
              <a:t> 2024 was the largest election year in history (70+ countries). EEAS data shows hybridisation spikes in the 6-month window before and after elections. Hack-and-leak (1b) operations require months of preparation — the DNC emails were stolen months before the timed leak. State actors pre-position. | </a:t>
            </a:r>
            <a:r>
              <a:rPr lang="en-US" b="1"/>
              <a:t>Geopolitical conflict and crisis:</a:t>
            </a:r>
            <a:r>
              <a:rPr lang="en-US"/>
              <a:t> War in Ukraine triggered the largest documented DDoS campaign (NoName057(16), 2022–present), the largest coordinated hack-and-leak environment (Ukrainian IT Army; Russian GRU), and a major increase in war-themed phishing (Gamaredon, EU-35). The Gaza war (Oct 2023) triggered a surge in Iranian hybrid ops — Microsoft reported a 5× increase in Iranian cyber-enabled influence operations in October 2023. | </a:t>
            </a:r>
            <a:r>
              <a:rPr lang="en-US" b="1"/>
              <a:t>Corporate vulnerability windows:</a:t>
            </a:r>
            <a:r>
              <a:rPr lang="en-US"/>
              <a:t> Ransomware operators target periods of corporate distress — M&amp;A activity, regulatory investigations, earnings periods. Transnet was attacked days after the 2021 KwaZulu-Natal unrest (CrowdStrike assessed as coincidental). Change Healthcare was targeted via an unpatched Citrix portal with no MFA. | </a:t>
            </a:r>
            <a:r>
              <a:rPr lang="en-US" b="1"/>
              <a:t>Low technical resilience:</a:t>
            </a:r>
            <a:r>
              <a:rPr lang="en-US"/>
              <a:t> TransUnion's server was brute-forced with the password 'Password'. This is a structural condition, not a one-off. Africa's high digital adoption + low cyber maturity = sustained attacker ROI. | </a:t>
            </a:r>
            <a:r>
              <a:rPr lang="en-US" b="1"/>
              <a:t>AI lowering the threshold:</a:t>
            </a:r>
            <a:r>
              <a:rPr lang="en-US"/>
              <a:t> Previously, authentic-sounding multi-language CIB campaigns required native speakers. LLMs have eliminated this constraint, enabling continuous operations regardless of election cycle.</a:t>
            </a:r>
          </a:p>
        </p:txBody>
      </p:sp>
      <p:sp>
        <p:nvSpPr>
          <p:cNvPr id="4" name="Slide Number Placeholder 3"/>
          <p:cNvSpPr>
            <a:spLocks noGrp="1"/>
          </p:cNvSpPr>
          <p:nvPr>
            <p:ph type="sldNum" sz="quarter" idx="5"/>
          </p:nvPr>
        </p:nvSpPr>
        <p:spPr/>
        <p:txBody>
          <a:bodyPr/>
          <a:lstStyle/>
          <a:p>
            <a:fld id="{E390A6D5-5873-48D6-B940-43DCCBB5F1C5}" type="slidenum">
              <a:rPr lang="en-US" smtClean="0"/>
              <a:t>6</a:t>
            </a:fld>
            <a:endParaRPr lang="en-US"/>
          </a:p>
        </p:txBody>
      </p:sp>
    </p:spTree>
    <p:extLst>
      <p:ext uri="{BB962C8B-B14F-4D97-AF65-F5344CB8AC3E}">
        <p14:creationId xmlns:p14="http://schemas.microsoft.com/office/powerpoint/2010/main" val="2283790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Five actor classes — key distinctions for the audience:</a:t>
            </a:r>
            <a:r>
              <a:rPr lang="en-US"/>
              <a:t> | 1. </a:t>
            </a:r>
            <a:r>
              <a:rPr lang="en-US" b="1"/>
              <a:t>State agencies (Tier 1):</a:t>
            </a:r>
            <a:r>
              <a:rPr lang="en-US"/>
              <a:t> GRU (Russian military intelligence), SVR (Russian foreign intelligence), IRGC (Iran), PLA-SSF (China's military cyber command). Direct state capability — most sophisticated, highest deniability problem. | 2. </a:t>
            </a:r>
            <a:r>
              <a:rPr lang="en-US" b="1"/>
              <a:t>State-linked APTs:</a:t>
            </a:r>
            <a:r>
              <a:rPr lang="en-US"/>
              <a:t> APT28 = Fancy Bear = GRU Unit 26165. Gamaredon (FSB-linked, Ukraine). Lazarus Group (DPRK). APT41 (China, dual espionage + financial). APT = Advanced Persistent Threat. | 3. </a:t>
            </a:r>
            <a:r>
              <a:rPr lang="en-US" b="1"/>
              <a:t>Proxies/contractors:</a:t>
            </a:r>
            <a:r>
              <a:rPr lang="en-US"/>
              <a:t> Wagner Group / IRA (now 'Africa Corps'). Team Jorge (Tal Hanan, Israeli contractor) — claimed 30+ election ops globally, exposed Feb 2023 by Haaretz/Guardian/Le Monde. Archimedes Group (Israel, suspended by Facebook 2019 for CIB targeting Nigeria, Senegal, Togo, Angola, Niger, Tunisia). | 4. </a:t>
            </a:r>
            <a:r>
              <a:rPr lang="en-US" b="1"/>
              <a:t>Patriotic hacktivists:</a:t>
            </a:r>
            <a:r>
              <a:rPr lang="en-US"/>
              <a:t> NoName057(16) — ~4,000 volunteers, DDoSia tool, 2,000+ attacks against NATO financial sector 2022–2025. Operation Eastwood (Europol, July 2025) disrupted them: 100+ servers seized, 2 arrested. Ukrainian IT Army — government-directed volunteer DDoS force. | 5. </a:t>
            </a:r>
            <a:r>
              <a:rPr lang="en-US" b="1"/>
              <a:t>Criminal groups:</a:t>
            </a:r>
            <a:r>
              <a:rPr lang="en-US"/>
              <a:t> REvil (dismantled 2022), ALPHV/BlackCat (exit-scam 2024), RansomHub (successor), Scattered Spider (English-speaking, social-engineering specialists), RansomHouse, BianLian. RaaS = Ransomware-as-a-Service.</a:t>
            </a:r>
          </a:p>
        </p:txBody>
      </p:sp>
      <p:sp>
        <p:nvSpPr>
          <p:cNvPr id="4" name="Slide Number Placeholder 3"/>
          <p:cNvSpPr>
            <a:spLocks noGrp="1"/>
          </p:cNvSpPr>
          <p:nvPr>
            <p:ph type="sldNum" sz="quarter" idx="5"/>
          </p:nvPr>
        </p:nvSpPr>
        <p:spPr/>
        <p:txBody>
          <a:bodyPr/>
          <a:lstStyle/>
          <a:p>
            <a:fld id="{E390A6D5-5873-48D6-B940-43DCCBB5F1C5}" type="slidenum">
              <a:rPr lang="en-US" smtClean="0"/>
              <a:t>7</a:t>
            </a:fld>
            <a:endParaRPr lang="en-US"/>
          </a:p>
        </p:txBody>
      </p:sp>
    </p:spTree>
    <p:extLst>
      <p:ext uri="{BB962C8B-B14F-4D97-AF65-F5344CB8AC3E}">
        <p14:creationId xmlns:p14="http://schemas.microsoft.com/office/powerpoint/2010/main" val="1325142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Four landmark cases — speaking notes:</a:t>
            </a:r>
            <a:r>
              <a:rPr lang="en-US"/>
              <a:t> | </a:t>
            </a:r>
            <a:r>
              <a:rPr lang="en-US" b="1"/>
              <a:t>DNC Hack-and-Leak (2016):</a:t>
            </a:r>
            <a:r>
              <a:rPr lang="en-US"/>
              <a:t> APT28 (GRU Unit 26165) spearphished John Podesta with a fake Google security alert. 50,000+ emails stolen. Released via DCLeaks and WikiLeaks. Timed to damage the Clinton campaign. 12 GRU officers indicted by Mueller. Classic Type 1: intrusion serving a geopolitical influence goal. | </a:t>
            </a:r>
            <a:r>
              <a:rPr lang="en-US" b="1"/>
              <a:t>Sony Pictures (2014):</a:t>
            </a:r>
            <a:r>
              <a:rPr lang="en-US"/>
              <a:t> 'Guardians of Peace' (attributed by FBI to North Korea). Months inside Sony's network; Shamoon-variant wiper; 100TB released including executive emails and unreleased films. Coerced Sony to pull 'The Interview'. CEO Amy Pascal departed. Hack-and-leak + hack-and-destroy + coercive threats. | </a:t>
            </a:r>
            <a:r>
              <a:rPr lang="en-US" b="1"/>
              <a:t>MGM Resorts (2023):</a:t>
            </a:r>
            <a:r>
              <a:rPr lang="en-US"/>
              <a:t> Scattered Spider (UNC3944) — English-speaking US/UK members, some aged 17–25. 10-min LinkedIn recon → vishing help desk pretending to be an MGM employee → Okta SSO lateral movement → ALPHV ransomware. ~$100M in losses. Caesars paid ~$15M ransom a week earlier. One vishing call defeated enterprise MFA. | </a:t>
            </a:r>
            <a:r>
              <a:rPr lang="en-US" b="1"/>
              <a:t>Arup Deepfake (2024):</a:t>
            </a:r>
            <a:r>
              <a:rPr lang="en-US"/>
              <a:t> Finance worker received spearphish from 'CFO'. Joined a video call with deepfake versions of CFO + colleagues built from LinkedIn and public footage. Authorised 15 wire transfers totalling HK$200M (~$25.6M). Zero system intrusion — the deception was the entire attack. Source: CNN, Fortune, Arup CIO Rob Greig interview at WEF 2025.</a:t>
            </a:r>
          </a:p>
        </p:txBody>
      </p:sp>
      <p:sp>
        <p:nvSpPr>
          <p:cNvPr id="4" name="Slide Number Placeholder 3"/>
          <p:cNvSpPr>
            <a:spLocks noGrp="1"/>
          </p:cNvSpPr>
          <p:nvPr>
            <p:ph type="sldNum" sz="quarter" idx="5"/>
          </p:nvPr>
        </p:nvSpPr>
        <p:spPr/>
        <p:txBody>
          <a:bodyPr/>
          <a:lstStyle/>
          <a:p>
            <a:fld id="{E390A6D5-5873-48D6-B940-43DCCBB5F1C5}" type="slidenum">
              <a:rPr lang="en-US" smtClean="0"/>
              <a:t>8</a:t>
            </a:fld>
            <a:endParaRPr lang="en-US"/>
          </a:p>
        </p:txBody>
      </p:sp>
    </p:spTree>
    <p:extLst>
      <p:ext uri="{BB962C8B-B14F-4D97-AF65-F5344CB8AC3E}">
        <p14:creationId xmlns:p14="http://schemas.microsoft.com/office/powerpoint/2010/main" val="1266515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Geopolitical drivers:</a:t>
            </a:r>
            <a:r>
              <a:rPr lang="en-US"/>
              <a:t> The multipolar order — Russia, China, Iran, North Korea ('CRINK' bloc) — uses hybrid ops as statecraft below the threshold of open war. 2024 was the largest election year in history (70+ countries). EEAS notes hybridisation spiked in election periods. | </a:t>
            </a:r>
            <a:r>
              <a:rPr lang="en-US" b="1"/>
              <a:t>Economic drivers:</a:t>
            </a:r>
            <a:r>
              <a:rPr lang="en-US"/>
              <a:t> Cybercrime is a $10.5 trillion annual economy (Cybersecurity Ventures 2025). RaaS industrialised the attack. ALPHV charged ~20% of ransom; affiliates keep 80%. Africa's low cyber maturity + high digital adoption = profitable target. | </a:t>
            </a:r>
            <a:r>
              <a:rPr lang="en-US" b="1"/>
              <a:t>Technical drivers:</a:t>
            </a:r>
            <a:r>
              <a:rPr lang="en-US"/>
              <a:t> GenAI has collapsed the cost of: (a) content generation for CIB, (b) voice cloning for vishing, (c) deepfake video for impersonation fraud, (d) translation for multilingual ops. Bulletproof hosting and Tor hidden services enable persistent infrastructure. As-a-service ecosystems mean capability gaps are filled by criminal markets. | </a:t>
            </a:r>
            <a:r>
              <a:rPr lang="en-US" b="1"/>
              <a:t>EEAS 2025 top 3 FIMI trends:</a:t>
            </a:r>
            <a:r>
              <a:rPr lang="en-US"/>
              <a:t> (1) Increased hybridisation, (2) Increased AI use, (3) Increased covertness.</a:t>
            </a:r>
          </a:p>
        </p:txBody>
      </p:sp>
      <p:sp>
        <p:nvSpPr>
          <p:cNvPr id="4" name="Slide Number Placeholder 3"/>
          <p:cNvSpPr>
            <a:spLocks noGrp="1"/>
          </p:cNvSpPr>
          <p:nvPr>
            <p:ph type="sldNum" sz="quarter" idx="5"/>
          </p:nvPr>
        </p:nvSpPr>
        <p:spPr/>
        <p:txBody>
          <a:bodyPr/>
          <a:lstStyle/>
          <a:p>
            <a:fld id="{E390A6D5-5873-48D6-B940-43DCCBB5F1C5}" type="slidenum">
              <a:rPr lang="en-US" smtClean="0"/>
              <a:t>9</a:t>
            </a:fld>
            <a:endParaRPr lang="en-US"/>
          </a:p>
        </p:txBody>
      </p:sp>
    </p:spTree>
    <p:extLst>
      <p:ext uri="{BB962C8B-B14F-4D97-AF65-F5344CB8AC3E}">
        <p14:creationId xmlns:p14="http://schemas.microsoft.com/office/powerpoint/2010/main" val="2854919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AI acceleration — key facts for Q&amp;A:</a:t>
            </a:r>
            <a:r>
              <a:rPr lang="en-US"/>
              <a:t> | </a:t>
            </a:r>
            <a:r>
              <a:rPr lang="en-US" b="1"/>
              <a:t>Deepfakes:</a:t>
            </a:r>
            <a:r>
              <a:rPr lang="en-US"/>
              <a:t> Arup ($25.6M, Jan 2024) used publicly available footage from LinkedIn, YouTube and earnings calls to build real-time deepfake video + audio of the CFO and colleagues. 'I saw them on camera.' No arrests as of early 2025. | </a:t>
            </a:r>
            <a:r>
              <a:rPr lang="en-US" b="1"/>
              <a:t>Voice cloning:</a:t>
            </a:r>
            <a:r>
              <a:rPr lang="en-US"/>
              <a:t> ElevenLabs and similar services can clone a voice from 3 seconds of audio. Used in CEO fraud vishing calls. Increasingly combined with LinkedIn recon. | </a:t>
            </a:r>
            <a:r>
              <a:rPr lang="en-US" b="1"/>
              <a:t>AI-accelerated CIB:</a:t>
            </a:r>
            <a:r>
              <a:rPr lang="en-US"/>
              <a:t> Meta's Q1 2025 transparency report identified AI-generated profile pictures and AI-written posts in CIB takedowns. EEAS notes AI allows campaigns to scale in multiple languages simultaneously — previously requiring native speakers. | </a:t>
            </a:r>
            <a:r>
              <a:rPr lang="en-US" b="1"/>
              <a:t>Spearphishing:</a:t>
            </a:r>
            <a:r>
              <a:rPr lang="en-US"/>
              <a:t> LLMs reduce the skill barrier for highly personalised phishing. Previous heuristics (grammar errors, generic greetings) no longer reliable. | </a:t>
            </a:r>
            <a:r>
              <a:rPr lang="en-US" b="1"/>
              <a:t>Countermeasure gap:</a:t>
            </a:r>
            <a:r>
              <a:rPr lang="en-US"/>
              <a:t> Technical solutions (deepfake detection, C2PA content provenance standard) are nascent. Out-of-band verification (call-back on a known number; in-person for large transfers) is the most reliable current countermeasure. | </a:t>
            </a:r>
            <a:r>
              <a:rPr lang="en-US" b="1"/>
              <a:t>C2PA</a:t>
            </a:r>
            <a:r>
              <a:rPr lang="en-US"/>
              <a:t> = Coalition for Content Provenance and Authenticity — open standard for cryptographic provenance metadata. Adopted by Adobe, Microsoft, BBC.</a:t>
            </a:r>
          </a:p>
        </p:txBody>
      </p:sp>
      <p:sp>
        <p:nvSpPr>
          <p:cNvPr id="4" name="Slide Number Placeholder 3"/>
          <p:cNvSpPr>
            <a:spLocks noGrp="1"/>
          </p:cNvSpPr>
          <p:nvPr>
            <p:ph type="sldNum" sz="quarter" idx="5"/>
          </p:nvPr>
        </p:nvSpPr>
        <p:spPr/>
        <p:txBody>
          <a:bodyPr/>
          <a:lstStyle/>
          <a:p>
            <a:fld id="{E390A6D5-5873-48D6-B940-43DCCBB5F1C5}" type="slidenum">
              <a:rPr lang="en-US" smtClean="0"/>
              <a:t>10</a:t>
            </a:fld>
            <a:endParaRPr lang="en-US"/>
          </a:p>
        </p:txBody>
      </p:sp>
    </p:spTree>
    <p:extLst>
      <p:ext uri="{BB962C8B-B14F-4D97-AF65-F5344CB8AC3E}">
        <p14:creationId xmlns:p14="http://schemas.microsoft.com/office/powerpoint/2010/main" val="18435127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This slide is the pivot point — from global to continental.</a:t>
            </a:r>
            <a:r>
              <a:rPr lang="en-US"/>
              <a:t> The key argument: Africa is not simply a smaller version of the global threat landscape. It has distinct structural features that change how hybrid attacks manifest, who runs them, and what harms they cause. | </a:t>
            </a:r>
            <a:r>
              <a:rPr lang="en-US" b="1"/>
              <a:t>Mobile-first digital infrastructure:</a:t>
            </a:r>
            <a:r>
              <a:rPr lang="en-US"/>
              <a:t> In most sub-Saharan African countries, the majority of internet access is via mobile phone, not desktop. This means WhatsApp is not a supplement to the information ecosystem — it IS the information ecosystem for most people. WhatsApp's end-to-end encryption and group-forwarding mechanics make it ideal for disinformation spread and nearly impossible to moderate. | </a:t>
            </a:r>
            <a:r>
              <a:rPr lang="en-US" b="1"/>
              <a:t>Limited African-language content moderation:</a:t>
            </a:r>
            <a:r>
              <a:rPr lang="en-US"/>
              <a:t> Facebook, X/Twitter, YouTube and TikTok have very thin moderation capacity in Swahili, Amharic, Hausa, Igbo, Yoruba, Zulu, Xhosa, or any of the continent's 2,000+ languages. This means that content flagged in English in hours can circulate in Zulu or Hausa for weeks. | </a:t>
            </a:r>
            <a:r>
              <a:rPr lang="en-US" b="1"/>
              <a:t>Rapid digital adoption + low cyber resilience:</a:t>
            </a:r>
            <a:r>
              <a:rPr lang="en-US"/>
              <a:t> Africa is the world's fastest-growing mobile internet market. But the security infrastructure — trained workforce, patched systems, MFA adoption, incident response capacity — has not kept pace. TransUnion's server was brute-forced with the password 'Password'. This is a structural feature of the market, not an outlier. | </a:t>
            </a:r>
            <a:r>
              <a:rPr lang="en-US" b="1"/>
              <a:t>Geopolitical contest:</a:t>
            </a:r>
            <a:r>
              <a:rPr lang="en-US"/>
              <a:t> Africa is the new arena for the Russia-France contest (Sahel), China's Belt and Road influence, and US Africa Command operations. Each external actor runs both cyber and influence tracks. | </a:t>
            </a:r>
            <a:r>
              <a:rPr lang="en-US" b="1"/>
              <a:t>Domestic commercial influence market:</a:t>
            </a:r>
            <a:r>
              <a:rPr lang="en-US"/>
              <a:t> Team Jorge and Archimedes Group both ran commercial election-interference operations explicitly targeting African elections — Nigeria, Senegal, Togo, Angola, Niger, Tunisia. This is a market, not a state secret.</a:t>
            </a:r>
          </a:p>
          <a:p>
            <a:r>
              <a:rPr lang="en-US"/>
              <a:t>🔐</a:t>
            </a:r>
          </a:p>
          <a:p>
            <a:r>
              <a:rPr lang="en-US" cap="all"/>
              <a:t>ITWeb Security Summit · Johannesburg 2026</a:t>
            </a:r>
          </a:p>
          <a:p>
            <a:r>
              <a:rPr lang="en-US" b="1"/>
              <a:t>Hybrid Cyber &amp; Information Operations</a:t>
            </a:r>
            <a:br>
              <a:rPr lang="en-US" b="1"/>
            </a:br>
            <a:r>
              <a:rPr lang="en-US" b="1"/>
              <a:t>in 2026</a:t>
            </a:r>
          </a:p>
          <a:p>
            <a:r>
              <a:rPr lang="en-US"/>
              <a:t>How attackers blend disruption and influence — and why </a:t>
            </a:r>
            <a:r>
              <a:rPr lang="en-US" i="1"/>
              <a:t>fact-checking alone will never be enough</a:t>
            </a:r>
            <a:endParaRPr lang="en-US"/>
          </a:p>
          <a:p>
            <a:r>
              <a:rPr lang="en-US" cap="all"/>
              <a:t>Roadmap</a:t>
            </a:r>
          </a:p>
          <a:p>
            <a:r>
              <a:rPr lang="en-US" b="1"/>
              <a:t>Today's Agenda</a:t>
            </a:r>
          </a:p>
          <a:p>
            <a:r>
              <a:rPr lang="en-US"/>
              <a:t>🌍</a:t>
            </a:r>
          </a:p>
          <a:p>
            <a:r>
              <a:rPr lang="en-US" b="1" cap="all"/>
              <a:t>Act 1 · Global Landscape</a:t>
            </a:r>
          </a:p>
          <a:p>
            <a:r>
              <a:rPr lang="en-US"/>
              <a:t>Four ways to weaponise ICT</a:t>
            </a:r>
          </a:p>
          <a:p>
            <a:r>
              <a:rPr lang="en-US"/>
              <a:t>Three modes of hybrid attack</a:t>
            </a:r>
          </a:p>
          <a:p>
            <a:r>
              <a:rPr lang="en-US"/>
              <a:t>Most prevalent types + triggers</a:t>
            </a:r>
          </a:p>
          <a:p>
            <a:r>
              <a:rPr lang="en-US"/>
              <a:t>Five protagonist classes</a:t>
            </a:r>
          </a:p>
          <a:p>
            <a:r>
              <a:rPr lang="en-US"/>
              <a:t>Landmark cases</a:t>
            </a:r>
          </a:p>
          <a:p>
            <a:r>
              <a:rPr lang="en-US"/>
              <a:t>Drivers of hybridisation</a:t>
            </a:r>
          </a:p>
          <a:p>
            <a:r>
              <a:rPr lang="en-US"/>
              <a:t>AI acceleration</a:t>
            </a:r>
          </a:p>
          <a:p>
            <a:r>
              <a:rPr lang="en-US"/>
              <a:t>🌍</a:t>
            </a:r>
          </a:p>
          <a:p>
            <a:r>
              <a:rPr lang="en-US" b="1" cap="all"/>
              <a:t>Act 2 · Africa &amp; South Africa</a:t>
            </a:r>
          </a:p>
          <a:p>
            <a:r>
              <a:rPr lang="en-US"/>
              <a:t>Africa: a different operational environment</a:t>
            </a:r>
          </a:p>
          <a:p>
            <a:r>
              <a:rPr lang="en-US"/>
              <a:t>Real-world harm to ordinary Africans</a:t>
            </a:r>
          </a:p>
          <a:p>
            <a:r>
              <a:rPr lang="en-US"/>
              <a:t>Deadliest harms &amp; stark health example</a:t>
            </a:r>
          </a:p>
          <a:p>
            <a:r>
              <a:rPr lang="en-US"/>
              <a:t>Africa: two dominant attack patterns</a:t>
            </a:r>
          </a:p>
          <a:p>
            <a:r>
              <a:rPr lang="en-US"/>
              <a:t>South Africa: three simultaneous tracks</a:t>
            </a:r>
          </a:p>
          <a:p>
            <a:r>
              <a:rPr lang="en-US"/>
              <a:t>🛡️</a:t>
            </a:r>
          </a:p>
          <a:p>
            <a:r>
              <a:rPr lang="en-US" b="1" cap="all"/>
              <a:t>Act 3 · Response</a:t>
            </a:r>
          </a:p>
          <a:p>
            <a:r>
              <a:rPr lang="en-US"/>
              <a:t>No one-size-fits-all</a:t>
            </a:r>
          </a:p>
          <a:p>
            <a:r>
              <a:rPr lang="en-US"/>
              <a:t>Multilateral frameworks</a:t>
            </a:r>
          </a:p>
          <a:p>
            <a:r>
              <a:rPr lang="en-US"/>
              <a:t>What firms can do</a:t>
            </a:r>
          </a:p>
          <a:p>
            <a:r>
              <a:rPr lang="en-US"/>
              <a:t>What communities can do</a:t>
            </a:r>
          </a:p>
          <a:p>
            <a:r>
              <a:rPr lang="en-US"/>
              <a:t>Closing: Mandela + OASIS</a:t>
            </a:r>
          </a:p>
          <a:p>
            <a:r>
              <a:rPr lang="en-US" cap="all"/>
              <a:t>Framing the Problem</a:t>
            </a:r>
          </a:p>
          <a:p>
            <a:r>
              <a:rPr lang="en-US" b="1"/>
              <a:t>Four Ways to Weaponise Information &amp; Communication</a:t>
            </a:r>
          </a:p>
          <a:p>
            <a:r>
              <a:rPr lang="en-US"/>
              <a:t>Focusing only on disinformation limits us to veracity-based countermeasures. The full attack surface is wider.</a:t>
            </a:r>
          </a:p>
          <a:p>
            <a:r>
              <a:rPr lang="en-US"/>
              <a:t>INTRUSIONTheft · SabotageEspionage · WiperMANIPULATIONDisinformationPropaganda · CIBABUSEHate speechXenophobia · DoxxingEXPLOITATIONFraud · ExtortionRansomware · ScamICTWeapon</a:t>
            </a:r>
          </a:p>
          <a:p>
            <a:r>
              <a:rPr lang="en-US"/>
              <a:t>OASIS / STIX extension framing · All four quadrants require distinct countermeasures</a:t>
            </a:r>
          </a:p>
          <a:p>
            <a:r>
              <a:rPr lang="en-US" cap="all"/>
              <a:t>The Taxonomy</a:t>
            </a:r>
          </a:p>
          <a:p>
            <a:r>
              <a:rPr lang="en-US" b="1"/>
              <a:t>Three Modes of Hybrid Attack</a:t>
            </a:r>
          </a:p>
          <a:p>
            <a:r>
              <a:rPr lang="en-US"/>
              <a:t>🎯</a:t>
            </a:r>
          </a:p>
          <a:p>
            <a:r>
              <a:rPr lang="en-US" b="1"/>
              <a:t>TYPE 1</a:t>
            </a:r>
          </a:p>
          <a:p>
            <a:r>
              <a:rPr lang="en-US" b="1"/>
              <a:t>Cyber-Enabled Influence</a:t>
            </a:r>
          </a:p>
          <a:p>
            <a:r>
              <a:rPr lang="en-US"/>
              <a:t>Cyber operation </a:t>
            </a:r>
            <a:r>
              <a:rPr lang="en-US" i="1"/>
              <a:t>serves</a:t>
            </a:r>
            <a:r>
              <a:rPr lang="en-US"/>
              <a:t> an influence goal. With or without intrusion (strict vs. broad).</a:t>
            </a:r>
          </a:p>
          <a:p>
            <a:r>
              <a:rPr lang="en-US" b="1"/>
              <a:t>Examples:</a:t>
            </a:r>
            <a:r>
              <a:rPr lang="en-US"/>
              <a:t> Hack-and-leak, defacement, ransomware-as-coercion, CIB/fake accounts</a:t>
            </a:r>
          </a:p>
          <a:p>
            <a:r>
              <a:rPr lang="en-US"/>
              <a:t>🎭</a:t>
            </a:r>
          </a:p>
          <a:p>
            <a:r>
              <a:rPr lang="en-US" b="1"/>
              <a:t>TYPE 2</a:t>
            </a:r>
          </a:p>
          <a:p>
            <a:r>
              <a:rPr lang="en-US" b="1"/>
              <a:t>Influence-Enabled Cyber</a:t>
            </a:r>
          </a:p>
          <a:p>
            <a:r>
              <a:rPr lang="en-US"/>
              <a:t>Disinformation or deception </a:t>
            </a:r>
            <a:r>
              <a:rPr lang="en-US" i="1"/>
              <a:t>enables</a:t>
            </a:r>
            <a:r>
              <a:rPr lang="en-US"/>
              <a:t> the intrusion. The lie is the key.</a:t>
            </a:r>
          </a:p>
          <a:p>
            <a:r>
              <a:rPr lang="en-US" b="1"/>
              <a:t>Examples:</a:t>
            </a:r>
            <a:r>
              <a:rPr lang="en-US"/>
              <a:t> Vishing help desks, deepfake CFO fraud, spearphishing, fraudulent client impersonation</a:t>
            </a:r>
          </a:p>
          <a:p>
            <a:r>
              <a:rPr lang="en-US"/>
              <a:t>⚡</a:t>
            </a:r>
          </a:p>
          <a:p>
            <a:r>
              <a:rPr lang="en-US" b="1"/>
              <a:t>TYPE 3</a:t>
            </a:r>
          </a:p>
          <a:p>
            <a:r>
              <a:rPr lang="en-US" b="1"/>
              <a:t>Parallel Operations</a:t>
            </a:r>
          </a:p>
          <a:p>
            <a:r>
              <a:rPr lang="en-US"/>
              <a:t>Same actor runs cyber and influence tracks simultaneously but independently.</a:t>
            </a:r>
          </a:p>
          <a:p>
            <a:r>
              <a:rPr lang="en-US" b="1"/>
              <a:t>Examples:</a:t>
            </a:r>
            <a:r>
              <a:rPr lang="en-US"/>
              <a:t> PRC pressure on Taiwan; Russian election interference; Iran–Hamas operations</a:t>
            </a:r>
          </a:p>
          <a:p>
            <a:r>
              <a:rPr lang="en-US"/>
              <a:t>EEAS 4th Annual FIMI Report (2025): increased hybridisation is one of the top three global FIMI trends</a:t>
            </a:r>
          </a:p>
          <a:p>
            <a:r>
              <a:rPr lang="en-US" cap="all"/>
              <a:t>Attack Prevalence</a:t>
            </a:r>
          </a:p>
          <a:p>
            <a:r>
              <a:rPr lang="en-US" b="1"/>
              <a:t>Most Prevalent Attack Types</a:t>
            </a:r>
          </a:p>
          <a:p>
            <a:r>
              <a:rPr lang="en-US"/>
              <a:t>🔓</a:t>
            </a:r>
          </a:p>
          <a:p>
            <a:r>
              <a:rPr lang="en-US" b="1"/>
              <a:t>STRICT DEFINITION</a:t>
            </a:r>
          </a:p>
          <a:p>
            <a:r>
              <a:rPr lang="en-US" i="1"/>
              <a:t>Includes unauthorised intrusion</a:t>
            </a:r>
          </a:p>
          <a:p>
            <a:r>
              <a:rPr lang="en-US" b="1"/>
              <a:t>Double-Extortion Ransomware (2f)</a:t>
            </a:r>
          </a:p>
          <a:p>
            <a:r>
              <a:rPr lang="en-US"/>
              <a:t>Highest volume globally. Intrusion + leak-site psychological pressure. Every ransomware attack is a hybrid attack.</a:t>
            </a:r>
          </a:p>
          <a:p>
            <a:r>
              <a:rPr lang="en-US" b="1"/>
              <a:t>Hack-and-Leak (1b)</a:t>
            </a:r>
          </a:p>
          <a:p>
            <a:r>
              <a:rPr lang="en-US"/>
              <a:t>Lower frequency, highest strategic impact. Requires advanced actor. Election/geopolitical trigger.</a:t>
            </a:r>
          </a:p>
          <a:p>
            <a:r>
              <a:rPr lang="en-US" b="1"/>
              <a:t>Defacement &amp; Signage Hacks (1f)</a:t>
            </a:r>
          </a:p>
          <a:p>
            <a:r>
              <a:rPr lang="en-US"/>
              <a:t>Common in conflict and geopolitical crisis contexts. PRC vs Taiwan; Gaza war.</a:t>
            </a:r>
          </a:p>
          <a:p>
            <a:r>
              <a:rPr lang="en-US" b="1"/>
              <a:t>Spearphishing + Deceptive Lure (2b)</a:t>
            </a:r>
          </a:p>
          <a:p>
            <a:r>
              <a:rPr lang="en-US"/>
              <a:t>Precursor to &gt;80% of intrusion-based ops. War-themed, CEO-pretexting, fake login portals.</a:t>
            </a:r>
          </a:p>
          <a:p>
            <a:r>
              <a:rPr lang="en-US"/>
              <a:t>📡</a:t>
            </a:r>
          </a:p>
          <a:p>
            <a:r>
              <a:rPr lang="en-US" b="1"/>
              <a:t>BROAD DEFINITION</a:t>
            </a:r>
          </a:p>
          <a:p>
            <a:r>
              <a:rPr lang="en-US" i="1"/>
              <a:t>No intrusion component</a:t>
            </a:r>
          </a:p>
          <a:p>
            <a:r>
              <a:rPr lang="en-US" b="1"/>
              <a:t>CIB / Fake-Account Networks (1c)</a:t>
            </a:r>
          </a:p>
          <a:p>
            <a:r>
              <a:rPr lang="en-US"/>
              <a:t>Dominant state-actor type globally. Russia (IRA/Wagner), China (Spamouflage), Iran, commercial contractors (Team Jorge).</a:t>
            </a:r>
          </a:p>
          <a:p>
            <a:r>
              <a:rPr lang="en-US" b="1"/>
              <a:t>Deepfake / Impersonation Fraud (2c)</a:t>
            </a:r>
          </a:p>
          <a:p>
            <a:r>
              <a:rPr lang="en-US"/>
              <a:t>Fastest-growing. Arup: $25.6M via live deepfake video. No system intrusion needed.</a:t>
            </a:r>
          </a:p>
          <a:p>
            <a:r>
              <a:rPr lang="en-US" b="1"/>
              <a:t>DDoS-as-Political-Signal (1a/1g)</a:t>
            </a:r>
          </a:p>
          <a:p>
            <a:r>
              <a:rPr lang="en-US"/>
              <a:t>NoName057(16): 2,000+ attacks 2022–25 against NATO targets. Each attack is a Telegram press release.</a:t>
            </a:r>
          </a:p>
          <a:p>
            <a:r>
              <a:rPr lang="en-US" b="1"/>
              <a:t>Vishing / Social Engineering (2b/2c)</a:t>
            </a:r>
          </a:p>
          <a:p>
            <a:r>
              <a:rPr lang="en-US"/>
              <a:t>MGM: one help-desk call defeated MFA + Okta. $100M losses. AI voice cloning removes language barriers.</a:t>
            </a:r>
          </a:p>
          <a:p>
            <a:r>
              <a:rPr lang="en-US" cap="all"/>
              <a:t>When &amp; Why</a:t>
            </a:r>
          </a:p>
          <a:p>
            <a:r>
              <a:rPr lang="en-US" b="1"/>
              <a:t>Trigger Conditions: When Each Attack Type Emerges</a:t>
            </a:r>
          </a:p>
          <a:p>
            <a:r>
              <a:rPr lang="en-US" b="1"/>
              <a:t>🗳️ Hack-and-Leak (1b)</a:t>
            </a:r>
          </a:p>
          <a:p>
            <a:r>
              <a:rPr lang="en-US"/>
              <a:t>Electoral contests with high stakes (presidential, EU-level)</a:t>
            </a:r>
          </a:p>
          <a:p>
            <a:r>
              <a:rPr lang="en-US"/>
              <a:t>Opposition figure or campaign as target</a:t>
            </a:r>
          </a:p>
          <a:p>
            <a:r>
              <a:rPr lang="en-US"/>
              <a:t>State actor with months of pre-positioning</a:t>
            </a:r>
          </a:p>
          <a:p>
            <a:r>
              <a:rPr lang="en-US"/>
              <a:t>Media ecosystem ready to amplify</a:t>
            </a:r>
          </a:p>
          <a:p>
            <a:r>
              <a:rPr lang="en-US" b="1"/>
              <a:t>💰 Ransomware / Double-Extortion (2f)</a:t>
            </a:r>
          </a:p>
          <a:p>
            <a:r>
              <a:rPr lang="en-US"/>
              <a:t>Exposed remote access (RDP, VPN, Citrix) with weak credentials</a:t>
            </a:r>
          </a:p>
          <a:p>
            <a:r>
              <a:rPr lang="en-US"/>
              <a:t>Absence of MFA on internet-facing systems</a:t>
            </a:r>
          </a:p>
          <a:p>
            <a:r>
              <a:rPr lang="en-US"/>
              <a:t>High-value data (credit records, health data, passenger PII)</a:t>
            </a:r>
          </a:p>
          <a:p>
            <a:r>
              <a:rPr lang="en-US"/>
              <a:t>Organisation reliant on continuous operations (ports, hospitals, food production)</a:t>
            </a:r>
          </a:p>
          <a:p>
            <a:r>
              <a:rPr lang="en-US" b="1"/>
              <a:t>📣 CIB / Fake Networks (1c)</a:t>
            </a:r>
          </a:p>
          <a:p>
            <a:r>
              <a:rPr lang="en-US"/>
              <a:t>Election periods (6-month window) — but now ongoing</a:t>
            </a:r>
          </a:p>
          <a:p>
            <a:r>
              <a:rPr lang="en-US"/>
              <a:t>Geopolitical contest for legitimacy (Sahel; BRICS)</a:t>
            </a:r>
          </a:p>
          <a:p>
            <a:r>
              <a:rPr lang="en-US"/>
              <a:t>Weak local platform moderation in target language</a:t>
            </a:r>
          </a:p>
          <a:p>
            <a:r>
              <a:rPr lang="en-US"/>
              <a:t>WhatsApp / closed-chain ecosystems with no fact-checking</a:t>
            </a:r>
          </a:p>
          <a:p>
            <a:r>
              <a:rPr lang="en-US" b="1"/>
              <a:t>🤖 Deepfake / Vishing (2b/2c)</a:t>
            </a:r>
          </a:p>
          <a:p>
            <a:r>
              <a:rPr lang="en-US"/>
              <a:t>Large wire-transfer authorisation workflows</a:t>
            </a:r>
          </a:p>
          <a:p>
            <a:r>
              <a:rPr lang="en-US"/>
              <a:t>Remote-work environments (reduced in-person verification)</a:t>
            </a:r>
          </a:p>
          <a:p>
            <a:r>
              <a:rPr lang="en-US"/>
              <a:t>Publicly available executive footage (LinkedIn, earnings calls)</a:t>
            </a:r>
          </a:p>
          <a:p>
            <a:r>
              <a:rPr lang="en-US"/>
              <a:t>No out-of-band verification protocol in place</a:t>
            </a:r>
          </a:p>
          <a:p>
            <a:r>
              <a:rPr lang="en-US"/>
              <a:t>AI is decoupling CIB operations from election calendars — continuous multi-language influence is now possible year-round</a:t>
            </a:r>
          </a:p>
          <a:p>
            <a:r>
              <a:rPr lang="en-US" cap="all"/>
              <a:t>Who Does This?</a:t>
            </a:r>
          </a:p>
          <a:p>
            <a:r>
              <a:rPr lang="en-US" b="1"/>
              <a:t>Five Classes of Protagonist — Global</a:t>
            </a:r>
          </a:p>
          <a:p>
            <a:r>
              <a:rPr lang="en-US"/>
              <a:t>🏛️</a:t>
            </a:r>
          </a:p>
          <a:p>
            <a:r>
              <a:rPr lang="en-US" b="1" cap="all"/>
              <a:t>State Agencies</a:t>
            </a:r>
          </a:p>
          <a:p>
            <a:r>
              <a:rPr lang="en-US"/>
              <a:t>GRU · SVR · IRGC</a:t>
            </a:r>
            <a:br>
              <a:rPr lang="en-US"/>
            </a:br>
            <a:r>
              <a:rPr lang="en-US"/>
              <a:t>PLA-SSF · NSA</a:t>
            </a:r>
          </a:p>
          <a:p>
            <a:r>
              <a:rPr lang="en-US"/>
              <a:t>🕵️</a:t>
            </a:r>
          </a:p>
          <a:p>
            <a:r>
              <a:rPr lang="en-US" b="1" cap="all"/>
              <a:t>State-Linked APTs</a:t>
            </a:r>
          </a:p>
          <a:p>
            <a:r>
              <a:rPr lang="en-US"/>
              <a:t>APT28 · APT29</a:t>
            </a:r>
            <a:br>
              <a:rPr lang="en-US"/>
            </a:br>
            <a:r>
              <a:rPr lang="en-US"/>
              <a:t>Gamaredon · Lazarus</a:t>
            </a:r>
            <a:br>
              <a:rPr lang="en-US"/>
            </a:br>
            <a:r>
              <a:rPr lang="en-US"/>
              <a:t>APT41</a:t>
            </a:r>
          </a:p>
          <a:p>
            <a:r>
              <a:rPr lang="en-US"/>
              <a:t>🎪</a:t>
            </a:r>
          </a:p>
          <a:p>
            <a:r>
              <a:rPr lang="en-US" b="1" cap="all"/>
              <a:t>Proxies / Contractors</a:t>
            </a:r>
          </a:p>
          <a:p>
            <a:r>
              <a:rPr lang="en-US"/>
              <a:t>Wagner/IRA</a:t>
            </a:r>
            <a:br>
              <a:rPr lang="en-US"/>
            </a:br>
            <a:r>
              <a:rPr lang="en-US"/>
              <a:t>Team Jorge</a:t>
            </a:r>
            <a:br>
              <a:rPr lang="en-US"/>
            </a:br>
            <a:r>
              <a:rPr lang="en-US"/>
              <a:t>Archimedes Group</a:t>
            </a:r>
          </a:p>
          <a:p>
            <a:r>
              <a:rPr lang="en-US"/>
              <a:t>⚡</a:t>
            </a:r>
          </a:p>
          <a:p>
            <a:r>
              <a:rPr lang="en-US" b="1" cap="all"/>
              <a:t>Patriotic Hacktivists</a:t>
            </a:r>
          </a:p>
          <a:p>
            <a:r>
              <a:rPr lang="en-US"/>
              <a:t>NoName057(16)</a:t>
            </a:r>
            <a:br>
              <a:rPr lang="en-US"/>
            </a:br>
            <a:r>
              <a:rPr lang="en-US"/>
              <a:t>Ukrainian IT Army</a:t>
            </a:r>
            <a:br>
              <a:rPr lang="en-US"/>
            </a:br>
            <a:r>
              <a:rPr lang="en-US"/>
              <a:t>Killnet · Sudan</a:t>
            </a:r>
          </a:p>
          <a:p>
            <a:r>
              <a:rPr lang="en-US"/>
              <a:t>💰</a:t>
            </a:r>
          </a:p>
          <a:p>
            <a:r>
              <a:rPr lang="en-US" b="1" cap="all"/>
              <a:t>Criminal Groups</a:t>
            </a:r>
          </a:p>
          <a:p>
            <a:r>
              <a:rPr lang="en-US"/>
              <a:t>REvil · ALPHV</a:t>
            </a:r>
            <a:br>
              <a:rPr lang="en-US"/>
            </a:br>
            <a:r>
              <a:rPr lang="en-US"/>
              <a:t>RansomHub</a:t>
            </a:r>
            <a:br>
              <a:rPr lang="en-US"/>
            </a:br>
            <a:r>
              <a:rPr lang="en-US"/>
              <a:t>Scattered Spider</a:t>
            </a:r>
          </a:p>
          <a:p>
            <a:r>
              <a:rPr lang="en-US" b="1"/>
              <a:t>Key convergence trend (EEAS 2025):</a:t>
            </a:r>
            <a:r>
              <a:rPr lang="en-US"/>
              <a:t> State, proxy, hacktivist, and criminal lines are dissolving. RaaS affiliates provide plausible deniability; commercial contractors offer election-interference-as-a-service; patriotic hacktivists are co-opted by intelligence agencies.</a:t>
            </a:r>
          </a:p>
          <a:p>
            <a:r>
              <a:rPr lang="en-US" cap="all"/>
              <a:t>Global Landmarks</a:t>
            </a:r>
          </a:p>
          <a:p>
            <a:r>
              <a:rPr lang="en-US" b="1"/>
              <a:t>Four Cases That Changed the Playbook</a:t>
            </a:r>
          </a:p>
          <a:p>
            <a:r>
              <a:rPr lang="en-US"/>
              <a:t>🗳️</a:t>
            </a:r>
            <a:r>
              <a:rPr lang="en-US" b="1"/>
              <a:t>DNC Hack-and-Leak · 2016</a:t>
            </a:r>
            <a:endParaRPr lang="en-US"/>
          </a:p>
          <a:p>
            <a:r>
              <a:rPr lang="en-US"/>
              <a:t>APT28 (GRU) spearphished Podesta → 50,000 emails → WikiLeaks/DCLeaks → election disruption. </a:t>
            </a:r>
            <a:r>
              <a:rPr lang="en-US" b="1"/>
              <a:t>Type 1 textbook.</a:t>
            </a:r>
            <a:r>
              <a:rPr lang="en-US"/>
              <a:t> 12 GRU officers indicted by Mueller.</a:t>
            </a:r>
          </a:p>
          <a:p>
            <a:r>
              <a:rPr lang="en-US"/>
              <a:t>🎬</a:t>
            </a:r>
            <a:r>
              <a:rPr lang="en-US" b="1"/>
              <a:t>Sony Pictures · 2014</a:t>
            </a:r>
            <a:endParaRPr lang="en-US"/>
          </a:p>
          <a:p>
            <a:r>
              <a:rPr lang="en-US"/>
              <a:t>North Korea-linked GOP: months of access → wiper → 100TB leak → coercive threats → Sony pulled </a:t>
            </a:r>
            <a:r>
              <a:rPr lang="en-US" i="1"/>
              <a:t>The Interview</a:t>
            </a:r>
            <a:r>
              <a:rPr lang="en-US"/>
              <a:t>. </a:t>
            </a:r>
            <a:r>
              <a:rPr lang="en-US" b="1"/>
              <a:t>Hack + destroy + coerce.</a:t>
            </a:r>
            <a:endParaRPr lang="en-US"/>
          </a:p>
          <a:p>
            <a:r>
              <a:rPr lang="en-US"/>
              <a:t>🎰</a:t>
            </a:r>
            <a:r>
              <a:rPr lang="en-US" b="1"/>
              <a:t>MGM Resorts · 2023</a:t>
            </a:r>
            <a:endParaRPr lang="en-US"/>
          </a:p>
          <a:p>
            <a:r>
              <a:rPr lang="en-US"/>
              <a:t>Scattered Spider: 10-min LinkedIn recon → vishing help desk → Okta SSO → ALPHV ransomware → </a:t>
            </a:r>
            <a:r>
              <a:rPr lang="en-US" b="1"/>
              <a:t>~$100M losses.</a:t>
            </a:r>
            <a:r>
              <a:rPr lang="en-US"/>
              <a:t> One call defeated MFA.</a:t>
            </a:r>
          </a:p>
          <a:p>
            <a:r>
              <a:rPr lang="en-US"/>
              <a:t>🤖</a:t>
            </a:r>
            <a:r>
              <a:rPr lang="en-US" b="1"/>
              <a:t>Arup Deepfake · 2024</a:t>
            </a:r>
            <a:endParaRPr lang="en-US"/>
          </a:p>
          <a:p>
            <a:r>
              <a:rPr lang="en-US"/>
              <a:t>AI deepfake CFO video call → 15 wire transfers → </a:t>
            </a:r>
            <a:r>
              <a:rPr lang="en-US" b="1"/>
              <a:t>$25.6M stolen.</a:t>
            </a:r>
            <a:r>
              <a:rPr lang="en-US"/>
              <a:t> Zero system intrusion. The deception </a:t>
            </a:r>
            <a:r>
              <a:rPr lang="en-US" i="1"/>
              <a:t>was</a:t>
            </a:r>
            <a:r>
              <a:rPr lang="en-US"/>
              <a:t> the attack. "I saw them on camera."</a:t>
            </a:r>
          </a:p>
          <a:p>
            <a:r>
              <a:rPr lang="en-US" cap="all"/>
              <a:t>Why Now?</a:t>
            </a:r>
          </a:p>
          <a:p>
            <a:r>
              <a:rPr lang="en-US" b="1"/>
              <a:t>Drivers Behind Hybridisation — Global</a:t>
            </a:r>
          </a:p>
          <a:p>
            <a:r>
              <a:rPr lang="en-US"/>
              <a:t>🌍</a:t>
            </a:r>
          </a:p>
          <a:p>
            <a:r>
              <a:rPr lang="en-US" b="1" cap="all"/>
              <a:t>Geopolitical</a:t>
            </a:r>
          </a:p>
          <a:p>
            <a:r>
              <a:rPr lang="en-US"/>
              <a:t>Multipolar order / CRINK bloc</a:t>
            </a:r>
          </a:p>
          <a:p>
            <a:r>
              <a:rPr lang="en-US"/>
              <a:t>2024: 70+ elections globally</a:t>
            </a:r>
          </a:p>
          <a:p>
            <a:r>
              <a:rPr lang="en-US"/>
              <a:t>Gaza war &amp; proxy conflicts</a:t>
            </a:r>
          </a:p>
          <a:p>
            <a:r>
              <a:rPr lang="en-US"/>
              <a:t>Ukraine war as lab</a:t>
            </a:r>
          </a:p>
          <a:p>
            <a:r>
              <a:rPr lang="en-US"/>
              <a:t>Election cycles = forcing function</a:t>
            </a:r>
          </a:p>
          <a:p>
            <a:r>
              <a:rPr lang="en-US"/>
              <a:t>💸</a:t>
            </a:r>
          </a:p>
          <a:p>
            <a:r>
              <a:rPr lang="en-US" b="1" cap="all"/>
              <a:t>Economic</a:t>
            </a:r>
          </a:p>
          <a:p>
            <a:r>
              <a:rPr lang="en-US"/>
              <a:t>$10.5T annual cybercrime economy</a:t>
            </a:r>
          </a:p>
          <a:p>
            <a:r>
              <a:rPr lang="en-US"/>
              <a:t>RaaS industrialised the attack</a:t>
            </a:r>
          </a:p>
          <a:p>
            <a:r>
              <a:rPr lang="en-US"/>
              <a:t>Influence-as-a-service market</a:t>
            </a:r>
          </a:p>
          <a:p>
            <a:r>
              <a:rPr lang="en-US"/>
              <a:t>Low-cost AI content generation</a:t>
            </a:r>
          </a:p>
          <a:p>
            <a:r>
              <a:rPr lang="en-US"/>
              <a:t>Africa: high returns, low resilience</a:t>
            </a:r>
          </a:p>
          <a:p>
            <a:r>
              <a:rPr lang="en-US"/>
              <a:t>⚙️</a:t>
            </a:r>
          </a:p>
          <a:p>
            <a:r>
              <a:rPr lang="en-US" b="1" cap="all"/>
              <a:t>Technical</a:t>
            </a:r>
          </a:p>
          <a:p>
            <a:r>
              <a:rPr lang="en-US"/>
              <a:t>GenAI: deepfakes, voice cloning</a:t>
            </a:r>
          </a:p>
          <a:p>
            <a:r>
              <a:rPr lang="en-US"/>
              <a:t>Bulletproof hosting / Tor</a:t>
            </a:r>
          </a:p>
          <a:p>
            <a:r>
              <a:rPr lang="en-US"/>
              <a:t>As-a-service ecosystems</a:t>
            </a:r>
          </a:p>
          <a:p>
            <a:r>
              <a:rPr lang="en-US"/>
              <a:t>Closed platforms (WhatsApp)</a:t>
            </a:r>
          </a:p>
          <a:p>
            <a:r>
              <a:rPr lang="en-US"/>
              <a:t>AI-accelerated CIB campaigns</a:t>
            </a:r>
          </a:p>
          <a:p>
            <a:r>
              <a:rPr lang="en-US" b="1"/>
              <a:t>EEAS 4th FIMI Report (2025) Top 3 Trends:</a:t>
            </a:r>
            <a:r>
              <a:rPr lang="en-US"/>
              <a:t> (1) Increased hybridisation · (2) Increased AI use · (3) Increased covertness</a:t>
            </a:r>
          </a:p>
          <a:p>
            <a:r>
              <a:rPr lang="en-US" cap="all"/>
              <a:t>Emerging Threat</a:t>
            </a:r>
          </a:p>
          <a:p>
            <a:r>
              <a:rPr lang="en-US" b="1"/>
              <a:t>AI is Supercharging the Hybrid Toolkit</a:t>
            </a:r>
          </a:p>
          <a:p>
            <a:r>
              <a:rPr lang="en-US"/>
              <a:t>🎭</a:t>
            </a:r>
          </a:p>
          <a:p>
            <a:r>
              <a:rPr lang="en-US" b="1"/>
              <a:t>Deepfake Fraud</a:t>
            </a:r>
          </a:p>
          <a:p>
            <a:r>
              <a:rPr lang="en-US"/>
              <a:t>Arup: $25.6M stolen via live deepfake video call. Built from LinkedIn + YouTube. Zero intrusion. </a:t>
            </a:r>
            <a:r>
              <a:rPr lang="en-US" b="1"/>
              <a:t>"I saw them on camera."</a:t>
            </a:r>
            <a:endParaRPr lang="en-US"/>
          </a:p>
          <a:p>
            <a:r>
              <a:rPr lang="en-US"/>
              <a:t>🗣️</a:t>
            </a:r>
          </a:p>
          <a:p>
            <a:r>
              <a:rPr lang="en-US" b="1"/>
              <a:t>Voice Cloning / Vishing</a:t>
            </a:r>
          </a:p>
          <a:p>
            <a:r>
              <a:rPr lang="en-US"/>
              <a:t>3 seconds of audio = cloned voice. MGM Resorts: one vishing call defeated enterprise MFA and Okta SSO. </a:t>
            </a:r>
            <a:r>
              <a:rPr lang="en-US" b="1"/>
              <a:t>$100M in losses.</a:t>
            </a:r>
            <a:endParaRPr lang="en-US"/>
          </a:p>
          <a:p>
            <a:r>
              <a:rPr lang="en-US"/>
              <a:t>🤖</a:t>
            </a:r>
          </a:p>
          <a:p>
            <a:r>
              <a:rPr lang="en-US" b="1"/>
              <a:t>AI-Scaled CIB</a:t>
            </a:r>
          </a:p>
          <a:p>
            <a:r>
              <a:rPr lang="en-US"/>
              <a:t>LLMs generate authentic-sounding content in any language. EEAS: AI enables simultaneous multi-language campaigns previously requiring native speakers.</a:t>
            </a:r>
          </a:p>
          <a:p>
            <a:r>
              <a:rPr lang="en-US"/>
              <a:t>🎯</a:t>
            </a:r>
          </a:p>
          <a:p>
            <a:r>
              <a:rPr lang="en-US" b="1"/>
              <a:t>AI-Personalised Spearphishing</a:t>
            </a:r>
          </a:p>
          <a:p>
            <a:r>
              <a:rPr lang="en-US"/>
              <a:t>Previous detection heuristics (grammar errors, generic greetings) no longer reliable. LLMs write perfect contextual lures from scraped social data.</a:t>
            </a:r>
          </a:p>
          <a:p>
            <a:r>
              <a:rPr lang="en-US"/>
              <a:t>Out-of-band verification remains the most reliable countermeasure to AI impersonation attacks</a:t>
            </a:r>
          </a:p>
          <a:p>
            <a:r>
              <a:rPr lang="en-US" cap="all"/>
              <a:t>Continental Pivot</a:t>
            </a:r>
          </a:p>
          <a:p>
            <a:r>
              <a:rPr lang="en-US" b="1"/>
              <a:t>Africa: A Different Operational Environment</a:t>
            </a:r>
          </a:p>
          <a:p>
            <a:r>
              <a:rPr lang="en-US"/>
              <a:t>📱</a:t>
            </a:r>
            <a:r>
              <a:rPr lang="en-US" b="1"/>
              <a:t>Mobile-First Information Ecosystem</a:t>
            </a:r>
            <a:endParaRPr lang="en-US"/>
          </a:p>
          <a:p>
            <a:r>
              <a:rPr lang="en-US"/>
              <a:t>WhatsApp IS the public sphere for most Africans. Closed-chain forwarding defeats platform moderation. No fact-checking layer at scale.</a:t>
            </a:r>
          </a:p>
          <a:p>
            <a:r>
              <a:rPr lang="en-US"/>
              <a:t>🌐</a:t>
            </a:r>
            <a:r>
              <a:rPr lang="en-US" b="1"/>
              <a:t>2,000+ Languages, Minimal Moderation</a:t>
            </a:r>
            <a:endParaRPr lang="en-US"/>
          </a:p>
          <a:p>
            <a:r>
              <a:rPr lang="en-US"/>
              <a:t>Content flagged in English in hours circulates in Zulu, Hausa, or Amharic for weeks. AI is now generating disinformation in these languages at scale.</a:t>
            </a:r>
          </a:p>
          <a:p>
            <a:r>
              <a:rPr lang="en-US"/>
              <a:t>📈</a:t>
            </a:r>
            <a:r>
              <a:rPr lang="en-US" b="1"/>
              <a:t>Rapid Digital Adoption + Low Resilience</a:t>
            </a:r>
            <a:endParaRPr lang="en-US"/>
          </a:p>
          <a:p>
            <a:r>
              <a:rPr lang="en-US"/>
              <a:t>World's fastest-growing mobile internet market. Security infrastructure not keeping pace. Password 'Password' on a credit-bureau server is a structural feature, not an outlier.</a:t>
            </a:r>
          </a:p>
          <a:p>
            <a:r>
              <a:rPr lang="en-US"/>
              <a:t>🌍</a:t>
            </a:r>
            <a:r>
              <a:rPr lang="en-US" b="1"/>
              <a:t>Geopolitical Contest</a:t>
            </a:r>
            <a:endParaRPr lang="en-US"/>
          </a:p>
          <a:p>
            <a:r>
              <a:rPr lang="en-US"/>
              <a:t>Russia–France contest in the Sahel. China's Belt and Road influence. US Africa Command. Each external actor runs both cyber and influence tracks simultaneously.</a:t>
            </a:r>
          </a:p>
          <a:p>
            <a:r>
              <a:rPr lang="en-US"/>
              <a:t>💼</a:t>
            </a:r>
            <a:r>
              <a:rPr lang="en-US" b="1"/>
              <a:t>Commercial Influence-as-a-Service</a:t>
            </a:r>
            <a:endParaRPr lang="en-US"/>
          </a:p>
          <a:p>
            <a:r>
              <a:rPr lang="en-US"/>
              <a:t>Team Jorge targeted Nigeria, Senegal, Togo, Angola, Niger, Tunisia. Archimedes Group ran Facebook CIB across 6 African countries. This is a functioning market.</a:t>
            </a:r>
          </a:p>
          <a:p>
            <a:r>
              <a:rPr lang="en-US"/>
              <a:t>🏦</a:t>
            </a:r>
            <a:r>
              <a:rPr lang="en-US" b="1"/>
              <a:t>High-Value, Under-Protected Targets</a:t>
            </a:r>
            <a:endParaRPr lang="en-US"/>
          </a:p>
          <a:p>
            <a:r>
              <a:rPr lang="en-US"/>
              <a:t>Telecoms (290M subscriber MTN breach), credit bureaux, ports, mining, aviation — all attacked by ransomware groups who see Africa as high-ROI and low-risk.</a:t>
            </a:r>
          </a:p>
          <a:p>
            <a:r>
              <a:rPr lang="en-US" cap="all"/>
              <a:t>The Human Cost</a:t>
            </a:r>
          </a:p>
          <a:p>
            <a:r>
              <a:rPr lang="en-US" b="1"/>
              <a:t>Real-World Harm to Ordinary Africans</a:t>
            </a:r>
          </a:p>
          <a:p>
            <a:r>
              <a:rPr lang="en-US"/>
              <a:t>🗳️</a:t>
            </a:r>
          </a:p>
          <a:p>
            <a:r>
              <a:rPr lang="en-US" b="1"/>
              <a:t>Electoral Harm</a:t>
            </a:r>
          </a:p>
          <a:p>
            <a:r>
              <a:rPr lang="en-US"/>
              <a:t>CIB networks suppress opposition, fabricate crises, push false coup justifications. Citizens making electoral choices on manipulated information.</a:t>
            </a:r>
          </a:p>
          <a:p>
            <a:r>
              <a:rPr lang="en-US"/>
              <a:t>💉</a:t>
            </a:r>
          </a:p>
          <a:p>
            <a:r>
              <a:rPr lang="en-US" b="1"/>
              <a:t>Health Harm</a:t>
            </a:r>
          </a:p>
          <a:p>
            <a:r>
              <a:rPr lang="en-US"/>
              <a:t>Vaccine disinformation (COVID, polio, HPV) via WhatsApp drives hesitancy. DRC measles epidemic 2019–20: 6,000+ deaths. </a:t>
            </a:r>
            <a:r>
              <a:rPr lang="en-US" b="1"/>
              <a:t>Disinformation kills.</a:t>
            </a:r>
            <a:endParaRPr lang="en-US"/>
          </a:p>
          <a:p>
            <a:r>
              <a:rPr lang="en-US"/>
              <a:t>💳</a:t>
            </a:r>
          </a:p>
          <a:p>
            <a:r>
              <a:rPr lang="en-US" b="1"/>
              <a:t>Financial Harm to Individuals</a:t>
            </a:r>
          </a:p>
          <a:p>
            <a:r>
              <a:rPr lang="en-US"/>
              <a:t>TransUnion: 3–54M SA credit records stolen → SIM-swap fraud, identity theft, denied loans. Cell C: 7.7M subscribers. MTN: 290M.</a:t>
            </a:r>
          </a:p>
          <a:p>
            <a:r>
              <a:rPr lang="en-US"/>
              <a:t>🚢</a:t>
            </a:r>
          </a:p>
          <a:p>
            <a:r>
              <a:rPr lang="en-US" b="1"/>
              <a:t>Supply Chain Harm</a:t>
            </a:r>
          </a:p>
          <a:p>
            <a:r>
              <a:rPr lang="en-US"/>
              <a:t>Transnet: ports at 10% capacity → food + mining exports disrupted for landlocked neighbours. Astral Foods: chicken supply disrupted across SA.</a:t>
            </a:r>
          </a:p>
          <a:p>
            <a:r>
              <a:rPr lang="en-US"/>
              <a:t>✊</a:t>
            </a:r>
          </a:p>
          <a:p>
            <a:r>
              <a:rPr lang="en-US" b="1"/>
              <a:t>Civil Society Harm</a:t>
            </a:r>
          </a:p>
          <a:p>
            <a:r>
              <a:rPr lang="en-US"/>
              <a:t>Activists doxxed, SIM-disabled, account-hijacked. Iranian cyber-repression model studied by African authoritarian governments. Chilling effect on speech.</a:t>
            </a:r>
          </a:p>
          <a:p>
            <a:r>
              <a:rPr lang="en-US"/>
              <a:t>🏛️</a:t>
            </a:r>
          </a:p>
          <a:p>
            <a:r>
              <a:rPr lang="en-US" b="1"/>
              <a:t>Institutional Trust Harm</a:t>
            </a:r>
          </a:p>
          <a:p>
            <a:r>
              <a:rPr lang="en-US"/>
              <a:t>CIB fabricating government incompetence erodes the trust needed for democratic governance — often the attacker's primary goal.</a:t>
            </a:r>
          </a:p>
          <a:p>
            <a:r>
              <a:rPr lang="en-US" cap="all"/>
              <a:t>Continental Lens</a:t>
            </a:r>
          </a:p>
          <a:p>
            <a:r>
              <a:rPr lang="en-US" b="1"/>
              <a:t>Africa: Two Dominant Attack Patterns</a:t>
            </a:r>
          </a:p>
          <a:p>
            <a:r>
              <a:rPr lang="en-US"/>
              <a:t>📣</a:t>
            </a:r>
            <a:r>
              <a:rPr lang="en-US" b="1"/>
              <a:t>CIB / Fake Networks</a:t>
            </a:r>
            <a:endParaRPr lang="en-US"/>
          </a:p>
          <a:p>
            <a:r>
              <a:rPr lang="en-US"/>
              <a:t>Type 1c (broad). No intrusion. Wagner-linked IRA across Mali, Burkina Faso, Niger, CAR, Sudan, Madagascar. Sahel: geopolitical contest between Russia and France.</a:t>
            </a:r>
          </a:p>
          <a:p>
            <a:r>
              <a:rPr lang="en-US" b="1"/>
              <a:t>Actors:</a:t>
            </a:r>
            <a:r>
              <a:rPr lang="en-US"/>
              <a:t> Prigozhin/Wagner IRA, Team Jorge, Archimedes Group, domestic political-PR networks</a:t>
            </a:r>
          </a:p>
          <a:p>
            <a:r>
              <a:rPr lang="en-US"/>
              <a:t>🔒</a:t>
            </a:r>
            <a:r>
              <a:rPr lang="en-US" b="1"/>
              <a:t>Double-Extortion Ransomware</a:t>
            </a:r>
            <a:endParaRPr lang="en-US"/>
          </a:p>
          <a:p>
            <a:r>
              <a:rPr lang="en-US"/>
              <a:t>Type 2f. Telecoms (MTN, Cell C), aviation (Kenya Airways), credit bureaux, ports, mining, agriculture. Ransomware + leak-site psychological pressure = hybrid attack.</a:t>
            </a:r>
          </a:p>
          <a:p>
            <a:r>
              <a:rPr lang="en-US" b="1"/>
              <a:t>Groups:</a:t>
            </a:r>
            <a:r>
              <a:rPr lang="en-US"/>
              <a:t> RansomEXX, RansomHub, RansomHouse, BianLian, Death Kitty/HelloKitty, MeowLeaks</a:t>
            </a:r>
          </a:p>
          <a:p>
            <a:r>
              <a:rPr lang="en-US" b="1"/>
              <a:t>9/20</a:t>
            </a:r>
          </a:p>
          <a:p>
            <a:r>
              <a:rPr lang="en-US"/>
              <a:t>African incidents</a:t>
            </a:r>
            <a:br>
              <a:rPr lang="en-US"/>
            </a:br>
            <a:r>
              <a:rPr lang="en-US"/>
              <a:t>meeting ≥0.7 threshold</a:t>
            </a:r>
          </a:p>
          <a:p>
            <a:r>
              <a:rPr lang="en-US" b="1"/>
              <a:t>30+</a:t>
            </a:r>
          </a:p>
          <a:p>
            <a:r>
              <a:rPr lang="en-US"/>
              <a:t>elections targeted by</a:t>
            </a:r>
            <a:br>
              <a:rPr lang="en-US"/>
            </a:br>
            <a:r>
              <a:rPr lang="en-US"/>
              <a:t>Team Jorge globally</a:t>
            </a:r>
          </a:p>
          <a:p>
            <a:r>
              <a:rPr lang="en-US" b="1"/>
              <a:t>6</a:t>
            </a:r>
          </a:p>
          <a:p>
            <a:r>
              <a:rPr lang="en-US"/>
              <a:t>African countries targeted by</a:t>
            </a:r>
            <a:br>
              <a:rPr lang="en-US"/>
            </a:br>
            <a:r>
              <a:rPr lang="en-US"/>
              <a:t>Archimedes Group (Facebook 2019)</a:t>
            </a:r>
          </a:p>
          <a:p>
            <a:r>
              <a:rPr lang="en-US" cap="all"/>
              <a:t>Home Ground</a:t>
            </a:r>
          </a:p>
          <a:p>
            <a:r>
              <a:rPr lang="en-US" b="1"/>
              <a:t>South Africa: Three Simultaneous Attack Tracks</a:t>
            </a:r>
          </a:p>
          <a:p>
            <a:r>
              <a:rPr lang="en-US" b="1" cap="all"/>
              <a:t>💀 Criminal Ransomware</a:t>
            </a:r>
          </a:p>
          <a:p>
            <a:r>
              <a:rPr lang="en-US" b="1"/>
              <a:t>Transnet 2021</a:t>
            </a:r>
            <a:r>
              <a:rPr lang="en-US"/>
              <a:t> — ports at 10%, 60%+ container traffic disrupted</a:t>
            </a:r>
          </a:p>
          <a:p>
            <a:r>
              <a:rPr lang="en-US" b="1"/>
              <a:t>TransUnion 2022</a:t>
            </a:r>
            <a:r>
              <a:rPr lang="en-US"/>
              <a:t> — 54M records; password was "Password"</a:t>
            </a:r>
          </a:p>
          <a:p>
            <a:r>
              <a:rPr lang="en-US" b="1"/>
              <a:t>Cell C 2024</a:t>
            </a:r>
            <a:r>
              <a:rPr lang="en-US"/>
              <a:t> — 7.7M subscribers; 2TB published</a:t>
            </a:r>
          </a:p>
          <a:p>
            <a:r>
              <a:rPr lang="en-US" b="1"/>
              <a:t>MTN 2025</a:t>
            </a:r>
            <a:r>
              <a:rPr lang="en-US"/>
              <a:t> — 290M subscribers, 18 countries</a:t>
            </a:r>
          </a:p>
          <a:p>
            <a:r>
              <a:rPr lang="en-US" b="1"/>
              <a:t>Astral Foods 2025</a:t>
            </a:r>
            <a:r>
              <a:rPr lang="en-US"/>
              <a:t> — R20M profit hit</a:t>
            </a:r>
          </a:p>
          <a:p>
            <a:r>
              <a:rPr lang="en-US" b="1" cap="all"/>
              <a:t>🌐 Foreign State Influence</a:t>
            </a:r>
          </a:p>
          <a:p>
            <a:r>
              <a:rPr lang="en-US"/>
              <a:t>Russian CIB targeting SA elections (2019, 2024)</a:t>
            </a:r>
          </a:p>
          <a:p>
            <a:r>
              <a:rPr lang="en-US"/>
              <a:t>Israeli info ops post-ICJ genocide case</a:t>
            </a:r>
          </a:p>
          <a:p>
            <a:r>
              <a:rPr lang="en-US"/>
              <a:t>Trump/AfriForum coercive narratives</a:t>
            </a:r>
          </a:p>
          <a:p>
            <a:r>
              <a:rPr lang="en-US"/>
              <a:t>BRICS non-alignment = multiple competing foreign influence tracks</a:t>
            </a:r>
          </a:p>
          <a:p>
            <a:r>
              <a:rPr lang="en-US" b="1" cap="all"/>
              <a:t>🏠 Domestic Political</a:t>
            </a:r>
          </a:p>
          <a:p>
            <a:r>
              <a:rPr lang="en-US"/>
              <a:t>Bell Pottinger 'white monopoly capital' CIB for Guptas (2016–17)</a:t>
            </a:r>
          </a:p>
          <a:p>
            <a:r>
              <a:rPr lang="en-US"/>
              <a:t>Paid influencer networks across political parties</a:t>
            </a:r>
          </a:p>
          <a:p>
            <a:r>
              <a:rPr lang="en-US"/>
              <a:t>WhatsApp closed-chain amplification</a:t>
            </a:r>
          </a:p>
          <a:p>
            <a:r>
              <a:rPr lang="en-US"/>
              <a:t>No moderation at African-language scale</a:t>
            </a:r>
          </a:p>
          <a:p>
            <a:r>
              <a:rPr lang="en-US" b="1"/>
              <a:t>SA is unique:</a:t>
            </a:r>
            <a:r>
              <a:rPr lang="en-US"/>
              <a:t> Only country simultaneously targeted by criminal ransomware, foreign state influence ops, AND domestic commercial CIB — each requiring a different institutional response.</a:t>
            </a:r>
          </a:p>
          <a:p>
            <a:r>
              <a:rPr lang="en-US" cap="all"/>
              <a:t>Response Framework</a:t>
            </a:r>
          </a:p>
          <a:p>
            <a:r>
              <a:rPr lang="en-US" b="1"/>
              <a:t>No One-Size-Fits-All Response</a:t>
            </a:r>
          </a:p>
          <a:p>
            <a:r>
              <a:rPr lang="en-US"/>
              <a:t>Each hybrid attack track requires a different institutional response. Mismatching response to threat type wastes resources and leaves real vulnerabilities unaddressed.</a:t>
            </a:r>
          </a:p>
          <a:p>
            <a:r>
              <a:rPr lang="en-US" b="1" cap="all"/>
              <a:t>💀 Criminal Ransomware</a:t>
            </a:r>
          </a:p>
          <a:p>
            <a:r>
              <a:rPr lang="en-US" b="1"/>
              <a:t>Who responds:</a:t>
            </a:r>
            <a:r>
              <a:rPr lang="en-US"/>
              <a:t> CISO, IR team, law enforcement (Hawks), Information Regulator</a:t>
            </a:r>
          </a:p>
          <a:p>
            <a:r>
              <a:rPr lang="en-US" b="1"/>
              <a:t>Legal hook:</a:t>
            </a:r>
            <a:r>
              <a:rPr lang="en-US"/>
              <a:t> POPIA s.22 — notify regulator within 72 hours</a:t>
            </a:r>
          </a:p>
          <a:p>
            <a:r>
              <a:rPr lang="en-US" b="1"/>
              <a:t>Key tools:</a:t>
            </a:r>
            <a:r>
              <a:rPr lang="en-US"/>
              <a:t> Offline backups, network segmentation, SABRIC, AfricaCERT</a:t>
            </a:r>
          </a:p>
          <a:p>
            <a:r>
              <a:rPr lang="en-US" b="1" cap="all"/>
              <a:t>🌐 Foreign State Influence</a:t>
            </a:r>
          </a:p>
          <a:p>
            <a:r>
              <a:rPr lang="en-US" b="1"/>
              <a:t>Who responds:</a:t>
            </a:r>
            <a:r>
              <a:rPr lang="en-US"/>
              <a:t> DIRCO, SSA, Electoral Commission, media, civil society</a:t>
            </a:r>
          </a:p>
          <a:p>
            <a:r>
              <a:rPr lang="en-US" b="1"/>
              <a:t>Legal hook:</a:t>
            </a:r>
            <a:r>
              <a:rPr lang="en-US"/>
              <a:t> Electoral Act; RICA; proposed Online Safety Bill</a:t>
            </a:r>
          </a:p>
          <a:p>
            <a:r>
              <a:rPr lang="en-US" b="1"/>
              <a:t>Key tools:</a:t>
            </a:r>
            <a:r>
              <a:rPr lang="en-US"/>
              <a:t> Platform engagement, prebunking, diplomatic attribution</a:t>
            </a:r>
          </a:p>
          <a:p>
            <a:r>
              <a:rPr lang="en-US" b="1" cap="all"/>
              <a:t>🏠 Domestic CIB</a:t>
            </a:r>
          </a:p>
          <a:p>
            <a:r>
              <a:rPr lang="en-US" b="1"/>
              <a:t>Who responds:</a:t>
            </a:r>
            <a:r>
              <a:rPr lang="en-US"/>
              <a:t> IEC, Press Ombudsman, SANEF, fact-checkers (Africa Check)</a:t>
            </a:r>
          </a:p>
          <a:p>
            <a:r>
              <a:rPr lang="en-US" b="1"/>
              <a:t>Legal hook:</a:t>
            </a:r>
            <a:r>
              <a:rPr lang="en-US"/>
              <a:t> Electoral Code; ICASA; party funding disclosure</a:t>
            </a:r>
          </a:p>
          <a:p>
            <a:r>
              <a:rPr lang="en-US" b="1"/>
              <a:t>Key tools:</a:t>
            </a:r>
            <a:r>
              <a:rPr lang="en-US"/>
              <a:t> Monitoring, media literacy, influencer transparency</a:t>
            </a:r>
          </a:p>
          <a:p>
            <a:r>
              <a:rPr lang="en-US" b="1"/>
              <a:t>Key insight:</a:t>
            </a:r>
            <a:r>
              <a:rPr lang="en-US"/>
              <a:t> SA is unique in facing all three tracks simultaneously — which means it needs all three response frameworks operating in parallel. Most organisations are only resourced for one.</a:t>
            </a:r>
          </a:p>
          <a:p>
            <a:r>
              <a:rPr lang="en-US" cap="all"/>
              <a:t>Global Governance</a:t>
            </a:r>
          </a:p>
          <a:p>
            <a:r>
              <a:rPr lang="en-US" b="1"/>
              <a:t>Multilateral Frameworks &amp; Gaps</a:t>
            </a:r>
          </a:p>
          <a:p>
            <a:r>
              <a:rPr lang="en-US" b="1"/>
              <a:t>🇪🇺 EEAS / EDMO (EU)</a:t>
            </a:r>
          </a:p>
          <a:p>
            <a:r>
              <a:rPr lang="en-US"/>
              <a:t>Annual FIMI reports; Rapid Alert System for near-real-time disinformation threat sharing; EU AI Act (2025) first regulatory framework for AI-generated content labelling.</a:t>
            </a:r>
          </a:p>
          <a:p>
            <a:r>
              <a:rPr lang="en-US" b="1"/>
              <a:t>🌐 ITU / ITU-IMPACT</a:t>
            </a:r>
          </a:p>
          <a:p>
            <a:r>
              <a:rPr lang="en-US"/>
              <a:t>157 member countries. Provides threat intelligence, training, and incident response to developing nations. SA is a member. Global Cybersecurity Agenda framework.</a:t>
            </a:r>
          </a:p>
          <a:p>
            <a:r>
              <a:rPr lang="en-US" b="1"/>
              <a:t>🌍 African Union</a:t>
            </a:r>
          </a:p>
          <a:p>
            <a:r>
              <a:rPr lang="en-US"/>
              <a:t>Malabo Convention (2014): only </a:t>
            </a:r>
            <a:r>
              <a:rPr lang="en-US" b="1"/>
              <a:t>14 of 55 AU members ratified</a:t>
            </a:r>
            <a:r>
              <a:rPr lang="en-US"/>
              <a:t> as of 2025. AU-CIRT established 2020. Major governance gap — continental framework exists but enforcement doesn't.</a:t>
            </a:r>
          </a:p>
          <a:p>
            <a:r>
              <a:rPr lang="en-US" b="1"/>
              <a:t>🔬 OASIS / STIX + FIRST</a:t>
            </a:r>
          </a:p>
          <a:p>
            <a:r>
              <a:rPr lang="en-US"/>
              <a:t>OASIS developing STIX extensions to model FIMI alongside traditional cyber threats. FIRST: 700+ global CERTs including AfricaCERT for regional incident coordination.</a:t>
            </a:r>
          </a:p>
          <a:p>
            <a:r>
              <a:rPr lang="en-US" b="1"/>
              <a:t>The gap:</a:t>
            </a:r>
            <a:r>
              <a:rPr lang="en-US"/>
              <a:t> All major frameworks are primarily designed by Global North actors. African civil society (Paradigm Initiative, Research ICT Africa, CIPESA) is building continental capacity — but severely under-resourced relative to the threat scale.</a:t>
            </a:r>
          </a:p>
          <a:p>
            <a:r>
              <a:rPr lang="en-US" cap="all"/>
              <a:t>For Security Leaders</a:t>
            </a:r>
          </a:p>
          <a:p>
            <a:r>
              <a:rPr lang="en-US" b="1"/>
              <a:t>What Firms Can Do</a:t>
            </a:r>
          </a:p>
          <a:p>
            <a:r>
              <a:rPr lang="en-US" b="1"/>
              <a:t>🔭 Detect the Hybrid</a:t>
            </a:r>
          </a:p>
          <a:p>
            <a:r>
              <a:rPr lang="en-US"/>
              <a:t>Wire SOC for narrative threats, not just technical IoCs</a:t>
            </a:r>
          </a:p>
          <a:p>
            <a:r>
              <a:rPr lang="en-US"/>
              <a:t>Monitor leak sites &amp; dark web for brand/exec mentions</a:t>
            </a:r>
          </a:p>
          <a:p>
            <a:r>
              <a:rPr lang="en-US"/>
              <a:t>Track social media for executive impersonation</a:t>
            </a:r>
          </a:p>
          <a:p>
            <a:r>
              <a:rPr lang="en-US" b="1"/>
              <a:t>🛡️ Defend the Human Layer</a:t>
            </a:r>
          </a:p>
          <a:p>
            <a:r>
              <a:rPr lang="en-US"/>
              <a:t>Help desk: callback on known number + manager approval</a:t>
            </a:r>
          </a:p>
          <a:p>
            <a:r>
              <a:rPr lang="en-US"/>
              <a:t>Finance: multi-channel out-of-band for large transfers</a:t>
            </a:r>
          </a:p>
          <a:p>
            <a:r>
              <a:rPr lang="en-US"/>
              <a:t>Train staff: one call to a known number saves millions</a:t>
            </a:r>
          </a:p>
          <a:p>
            <a:r>
              <a:rPr lang="en-US" b="1"/>
              <a:t>💪 Build Resilience</a:t>
            </a:r>
          </a:p>
          <a:p>
            <a:r>
              <a:rPr lang="en-US"/>
              <a:t>Offline backups + tested DR plan (Transnet model)</a:t>
            </a:r>
          </a:p>
          <a:p>
            <a:r>
              <a:rPr lang="en-US"/>
              <a:t>Segment OT/IT networks</a:t>
            </a:r>
          </a:p>
          <a:p>
            <a:r>
              <a:rPr lang="en-US"/>
              <a:t>Annual ransomware tabletop exercises</a:t>
            </a:r>
          </a:p>
          <a:p>
            <a:r>
              <a:rPr lang="en-US" b="1"/>
              <a:t>🤝 Engage the Ecosystem</a:t>
            </a:r>
          </a:p>
          <a:p>
            <a:r>
              <a:rPr lang="en-US"/>
              <a:t>Notify Information Regulator within 72h (POPIA s.22)</a:t>
            </a:r>
          </a:p>
          <a:p>
            <a:r>
              <a:rPr lang="en-US"/>
              <a:t>Engage SABRIC, Hawks, AfricaCERT, SAFPS</a:t>
            </a:r>
          </a:p>
          <a:p>
            <a:r>
              <a:rPr lang="en-US"/>
              <a:t>Plan crisis comms for the leak-site narrative threat</a:t>
            </a:r>
          </a:p>
          <a:p>
            <a:r>
              <a:rPr lang="en-US"/>
              <a:t>Ransomware extortion is simultaneously a technical breach AND a psychological influence operation — your IR plan must address both tracks</a:t>
            </a:r>
          </a:p>
          <a:p>
            <a:r>
              <a:rPr lang="en-US" cap="all"/>
              <a:t>Civil Society &amp; Citizens</a:t>
            </a:r>
          </a:p>
          <a:p>
            <a:r>
              <a:rPr lang="en-US" b="1"/>
              <a:t>What Communities Can Do</a:t>
            </a:r>
          </a:p>
          <a:p>
            <a:r>
              <a:rPr lang="en-US"/>
              <a:t>🧠</a:t>
            </a:r>
          </a:p>
          <a:p>
            <a:r>
              <a:rPr lang="en-US" b="1"/>
              <a:t>Prebunking &gt; Fact-Checking</a:t>
            </a:r>
          </a:p>
          <a:p>
            <a:r>
              <a:rPr lang="en-US"/>
              <a:t>Inoculation reduces susceptibility by 20–30%. Must be in local languages: Zulu, Xhosa, Sotho, Hausa, Swahili — not English only.</a:t>
            </a:r>
          </a:p>
          <a:p>
            <a:r>
              <a:rPr lang="en-US"/>
              <a:t>👥</a:t>
            </a:r>
          </a:p>
          <a:p>
            <a:r>
              <a:rPr lang="en-US" b="1"/>
              <a:t>Trusted Community Messengers</a:t>
            </a:r>
          </a:p>
          <a:p>
            <a:r>
              <a:rPr lang="en-US"/>
              <a:t>Health disinformation (COVID, polio) countered most effectively by religious leaders and community health workers — not government spokespeople. Same for political disinformation.</a:t>
            </a:r>
          </a:p>
          <a:p>
            <a:r>
              <a:rPr lang="en-US"/>
              <a:t>📱</a:t>
            </a:r>
          </a:p>
          <a:p>
            <a:r>
              <a:rPr lang="en-US" b="1"/>
              <a:t>Platform Accountability</a:t>
            </a:r>
          </a:p>
          <a:p>
            <a:r>
              <a:rPr lang="en-US"/>
              <a:t>Media Monitoring Africa, Right2Know successfully pressured platforms. Meta ending 3rd-party fact-checking affects Africa Check (SA-headquartered). Advocate for African-language moderation investment.</a:t>
            </a:r>
          </a:p>
          <a:p>
            <a:r>
              <a:rPr lang="en-US"/>
              <a:t>🔐</a:t>
            </a:r>
          </a:p>
          <a:p>
            <a:r>
              <a:rPr lang="en-US" b="1"/>
              <a:t>Digital Rights &amp; Privacy</a:t>
            </a:r>
          </a:p>
          <a:p>
            <a:r>
              <a:rPr lang="en-US"/>
              <a:t>Register with SAFPS if data breached. Teach communities: what to do if your ID is in a breach. SIM-swap fraud is a direct consequence of ransomware group data sales.</a:t>
            </a:r>
          </a:p>
          <a:p>
            <a:r>
              <a:rPr lang="en-US"/>
              <a:t>🗳️</a:t>
            </a:r>
          </a:p>
          <a:p>
            <a:r>
              <a:rPr lang="en-US" b="1"/>
              <a:t>Election Integrity Monitoring</a:t>
            </a:r>
          </a:p>
          <a:p>
            <a:r>
              <a:rPr lang="en-US"/>
              <a:t>EISA, SADC Election Support Network, IEC need digital/cyber threat monitoring integrated with traditional election observation. Report CIB activity to platforms and IEC.</a:t>
            </a:r>
          </a:p>
          <a:p>
            <a:r>
              <a:rPr lang="en-US"/>
              <a:t>🔬</a:t>
            </a:r>
          </a:p>
          <a:p>
            <a:r>
              <a:rPr lang="en-US" b="1"/>
              <a:t>Build Local Research Capacity</a:t>
            </a:r>
          </a:p>
          <a:p>
            <a:r>
              <a:rPr lang="en-US"/>
              <a:t>Paradigm Initiative, CIPESA, Research ICT Africa building continental capacity. Under-resourced relative to the threat. Support and fund African researchers studying African hybrid threats.</a:t>
            </a:r>
          </a:p>
          <a:p>
            <a:r>
              <a:rPr lang="en-US" cap="all"/>
              <a:t>Closing</a:t>
            </a:r>
          </a:p>
          <a:p>
            <a:r>
              <a:rPr lang="en-US" b="1"/>
              <a:t>Let Freedom Reign</a:t>
            </a:r>
          </a:p>
          <a:p>
            <a:r>
              <a:rPr lang="en-US" i="1"/>
              <a:t>"Let freedom reign. The sun shall never set on so glorious a human achievement."</a:t>
            </a:r>
          </a:p>
          <a:p>
            <a:r>
              <a:rPr lang="en-US" i="1"/>
              <a:t>— Nelson Mandela, Inauguration, Pretoria, 10 May 1994</a:t>
            </a:r>
            <a:endParaRPr lang="en-US"/>
          </a:p>
          <a:p>
            <a:r>
              <a:rPr lang="en-US"/>
              <a:t>That freedom must extend to the digital age — not just freedom from </a:t>
            </a:r>
            <a:r>
              <a:rPr lang="en-US" b="1"/>
              <a:t>intrusion</a:t>
            </a:r>
            <a:r>
              <a:rPr lang="en-US"/>
              <a:t>, but freedom from </a:t>
            </a:r>
            <a:r>
              <a:rPr lang="en-US" b="1"/>
              <a:t>manipulation</a:t>
            </a:r>
            <a:r>
              <a:rPr lang="en-US"/>
              <a:t>, freedom from </a:t>
            </a:r>
            <a:r>
              <a:rPr lang="en-US" b="1"/>
              <a:t>abuse</a:t>
            </a:r>
            <a:r>
              <a:rPr lang="en-US"/>
              <a:t>, and freedom from </a:t>
            </a:r>
            <a:r>
              <a:rPr lang="en-US" b="1"/>
              <a:t>exploitation</a:t>
            </a:r>
            <a:r>
              <a:rPr lang="en-US"/>
              <a:t>.</a:t>
            </a:r>
          </a:p>
          <a:p>
            <a:r>
              <a:rPr lang="en-US" i="1"/>
              <a:t>"Freedom in the digital age requires us to defend all four quadrants — not just the one our job title assigns us to."</a:t>
            </a:r>
          </a:p>
          <a:p>
            <a:r>
              <a:rPr lang="en-US"/>
              <a:t>INTRUSIONTheft · SabotageMANIPULATIONDisinfo · PropagandaABUSEHate · DoxxingEXPLOITATIONFraud · RansomwareICTWeapon</a:t>
            </a:r>
          </a:p>
          <a:p>
            <a:r>
              <a:rPr lang="en-US"/>
              <a:t>‹</a:t>
            </a:r>
          </a:p>
          <a:p>
            <a:r>
              <a:rPr lang="en-US"/>
              <a:t>›11 / 19</a:t>
            </a:r>
          </a:p>
          <a:p>
            <a:endParaRPr lang="en-US"/>
          </a:p>
        </p:txBody>
      </p:sp>
      <p:sp>
        <p:nvSpPr>
          <p:cNvPr id="4" name="Slide Number Placeholder 3"/>
          <p:cNvSpPr>
            <a:spLocks noGrp="1"/>
          </p:cNvSpPr>
          <p:nvPr>
            <p:ph type="sldNum" sz="quarter" idx="5"/>
          </p:nvPr>
        </p:nvSpPr>
        <p:spPr/>
        <p:txBody>
          <a:bodyPr/>
          <a:lstStyle/>
          <a:p>
            <a:fld id="{E390A6D5-5873-48D6-B940-43DCCBB5F1C5}" type="slidenum">
              <a:rPr lang="en-US" smtClean="0"/>
              <a:t>11</a:t>
            </a:fld>
            <a:endParaRPr lang="en-US"/>
          </a:p>
        </p:txBody>
      </p:sp>
    </p:spTree>
    <p:extLst>
      <p:ext uri="{BB962C8B-B14F-4D97-AF65-F5344CB8AC3E}">
        <p14:creationId xmlns:p14="http://schemas.microsoft.com/office/powerpoint/2010/main" val="267959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This is the moral core of the talk — the pivot from abstraction to human consequence.</a:t>
            </a:r>
            <a:r>
              <a:rPr lang="en-US"/>
              <a:t> Hybrid operations are not geopolitical chess games. They cause cascading harm to ordinary people who never appear in a threat-intelligence report. | </a:t>
            </a:r>
            <a:r>
              <a:rPr lang="en-US" b="1"/>
              <a:t>DEADLIEST HARMS (ranked by evidence of mortality):</a:t>
            </a:r>
            <a:r>
              <a:rPr lang="en-US"/>
              <a:t> (1) Health disinformation — the single highest-mortality harm category. COVID vaccine disinformation circulated via WhatsApp in SA, Nigeria, Ethiopia, and DRC reduced uptake. But the starkest documented case is the DRC: the 2019–2020 measles epidemic killed 6,000+ people — the deadliest measles outbreak in the world that year — while documented anti-vaccine disinformation campaigns ran simultaneously on WhatsApp. WHO Afro has linked vaccine hesitancy disinformation to preventable child deaths across the continent. (2) Election manipulation → conflict. CIB-enabled false coup justifications and ethnic incitement (Mali, CAR, Ethiopia) have preceded violence. The link between disinformation and ethnic violence has a well-documented history in sub-Saharan Africa. (3) Supply chain disruption. Transnet port shutdown reduced SA container throughput by 60%+. For landlocked countries — Zimbabwe, Zambia, Botswana, Eswatini — whose food and pharmaceutical imports come through SA ports, a week-long shutdown has food-security consequences. | </a:t>
            </a:r>
            <a:r>
              <a:rPr lang="en-US" b="1"/>
              <a:t>STARK HEALTH EXAMPLE (speak to this directly):</a:t>
            </a:r>
            <a:r>
              <a:rPr lang="en-US"/>
              <a:t> The DRC measles case is the one example the audience should leave remembering. A child in Kinshasa or Goma doesn't know they were killed by a disinformation campaign. Their parents were told by a WhatsApp message that the vaccine contains a tracking chip, or causes infertility. That message was created, amplified, and targeted by a network — possibly foreign, possibly domestic, possibly a combination. The platform couldn't moderate it in Lingala or Swahili. The public health system couldn't reach the family in time. 6,000 children. This is what 'information operations' means on this continent. | </a:t>
            </a:r>
            <a:r>
              <a:rPr lang="en-US" b="1"/>
              <a:t>Financial harm to individuals:</a:t>
            </a:r>
            <a:r>
              <a:rPr lang="en-US"/>
              <a:t> TransUnion SA: 3–54M credit records. Enables SIM-swap fraud — a bank account drained overnight, a loan application rejected, a SIM card silenced. Cell C: 7.7M subscribers, 2TB published. MTN: 290M subscribers across 18 countries. | </a:t>
            </a:r>
            <a:r>
              <a:rPr lang="en-US" b="1"/>
              <a:t>Institutional trust harm:</a:t>
            </a:r>
            <a:r>
              <a:rPr lang="en-US"/>
              <a:t> Often the primary goal — not the data, not the ransom, but the erosion of trust in democratic institutions. When citizens believe the government is incompetent or corrupt based on fabricated evidence, the attacker has succeeded even if the intrusion is detected and the ransomware decrypted.</a:t>
            </a:r>
          </a:p>
        </p:txBody>
      </p:sp>
      <p:sp>
        <p:nvSpPr>
          <p:cNvPr id="4" name="Slide Number Placeholder 3"/>
          <p:cNvSpPr>
            <a:spLocks noGrp="1"/>
          </p:cNvSpPr>
          <p:nvPr>
            <p:ph type="sldNum" sz="quarter" idx="5"/>
          </p:nvPr>
        </p:nvSpPr>
        <p:spPr/>
        <p:txBody>
          <a:bodyPr/>
          <a:lstStyle/>
          <a:p>
            <a:fld id="{E390A6D5-5873-48D6-B940-43DCCBB5F1C5}" type="slidenum">
              <a:rPr lang="en-US" smtClean="0"/>
              <a:t>12</a:t>
            </a:fld>
            <a:endParaRPr lang="en-US"/>
          </a:p>
        </p:txBody>
      </p:sp>
    </p:spTree>
    <p:extLst>
      <p:ext uri="{BB962C8B-B14F-4D97-AF65-F5344CB8AC3E}">
        <p14:creationId xmlns:p14="http://schemas.microsoft.com/office/powerpoint/2010/main" val="1505536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Africa-specific context:</a:t>
            </a:r>
            <a:r>
              <a:rPr lang="en-US"/>
              <a:t> The research dataset contains 20 African incidents; 9 of 20 meet the ≥0.7 fit threshold. The dataset is subject to English-language and Global North reporting bias — incidents in Francophone Africa, Ethiopia, DRC are under-reported. | </a:t>
            </a:r>
            <a:r>
              <a:rPr lang="en-US" b="1"/>
              <a:t>Two dominant patterns:</a:t>
            </a:r>
            <a:r>
              <a:rPr lang="en-US"/>
              <a:t> (1) CIB/fake-account networks — predominantly Russian-linked (Wagner/IRA) running influence operations in Sahel countries (Mali, Burkina Faso, Niger, CAR, Sudan, Madagascar, Mozambique). Type 1c (broad) — no intrusion. Stanford Internet Observatory and EU DisinfoLab have documented these. (2) Double-extortion ransomware against private-sector corporate targets — Type 2f. | </a:t>
            </a:r>
            <a:r>
              <a:rPr lang="en-US" b="1"/>
              <a:t>Wagner / IRA in Africa:</a:t>
            </a:r>
            <a:r>
              <a:rPr lang="en-US"/>
              <a:t> Wagner Group (now 'Africa Corps' post-Prigozhin, August 2023) uses information operations to: legitimise military deployments, delegitimise French/Western presence, protect concession agreements. Stanford Internet Observatory exposed IRA African operations in 2019. | </a:t>
            </a:r>
            <a:r>
              <a:rPr lang="en-US" b="1"/>
              <a:t>Kenya Airways (AF-9):</a:t>
            </a:r>
            <a:r>
              <a:rPr lang="en-US"/>
              <a:t> RansomEXX extorted Kenya Airways Dec 2023–Jan 2024. Passport copies, police reports, accident records published. KQ declined to pay. | </a:t>
            </a:r>
            <a:r>
              <a:rPr lang="en-US" b="1"/>
              <a:t>South Africa accounts for 9 of 20 African cases</a:t>
            </a:r>
            <a:r>
              <a:rPr lang="en-US"/>
              <a:t> — the most of any African country. See next slide for the three SA attack tracks.</a:t>
            </a:r>
          </a:p>
        </p:txBody>
      </p:sp>
      <p:sp>
        <p:nvSpPr>
          <p:cNvPr id="4" name="Slide Number Placeholder 3"/>
          <p:cNvSpPr>
            <a:spLocks noGrp="1"/>
          </p:cNvSpPr>
          <p:nvPr>
            <p:ph type="sldNum" sz="quarter" idx="5"/>
          </p:nvPr>
        </p:nvSpPr>
        <p:spPr/>
        <p:txBody>
          <a:bodyPr/>
          <a:lstStyle/>
          <a:p>
            <a:fld id="{E390A6D5-5873-48D6-B940-43DCCBB5F1C5}" type="slidenum">
              <a:rPr lang="en-US" smtClean="0"/>
              <a:t>13</a:t>
            </a:fld>
            <a:endParaRPr lang="en-US"/>
          </a:p>
        </p:txBody>
      </p:sp>
    </p:spTree>
    <p:extLst>
      <p:ext uri="{BB962C8B-B14F-4D97-AF65-F5344CB8AC3E}">
        <p14:creationId xmlns:p14="http://schemas.microsoft.com/office/powerpoint/2010/main" val="296737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South Africa accounts for 9 of 20 African cases in the dataset</a:t>
            </a:r>
            <a:r>
              <a:rPr lang="en-US"/>
              <a:t> — the most of any African country. It is at the intersection of three distinct attack tracks. | </a:t>
            </a:r>
            <a:r>
              <a:rPr lang="en-US" b="1"/>
              <a:t>Track 1 — Criminal ransomware:</a:t>
            </a:r>
            <a:r>
              <a:rPr lang="en-US"/>
              <a:t> Transnet (July 2021): Death Kitty/HelloKitty. Ports at 10% capacity. 60%+ of SA container traffic disrupted. Force majeure declared. No ransom paid. Active Directory rebuilt. TransUnion (March 2022): brute-forced with 'Password'. 54M records claimed, 3M confirmed. Banks approached for 'insurance fees'. Cell C (2024): RansomHouse. 7.7M subscribers, 2TB published. MTN (April 2025): 290M subscribers across 18 countries. Astral Foods (March 2025): R20M profit hit. | </a:t>
            </a:r>
            <a:r>
              <a:rPr lang="en-US" b="1"/>
              <a:t>Track 2 — Foreign state influence:</a:t>
            </a:r>
            <a:r>
              <a:rPr lang="en-US"/>
              <a:t> Russian-linked CIB targeting SA elections (2019, 2024). SA's ICJ genocide case against Israel triggered Israeli information operations (DFRLab documented). Trump/AfriForum coercive narrative amplified on social media. BRICS non-alignment makes SA a target for multiple competing influence tracks. | </a:t>
            </a:r>
            <a:r>
              <a:rPr lang="en-US" b="1"/>
              <a:t>Track 3 — Domestic political:</a:t>
            </a:r>
            <a:r>
              <a:rPr lang="en-US"/>
              <a:t> Bell Pottinger's 'white monopoly capital' CIB campaign for the Guptas (2016–17) — textbook domestic influence-as-a-service. Exposed by PRCA 2017; Bell Pottinger expelled and dissolved. Paid influencer networks across political parties today. WhatsApp closed-chain amplification. | </a:t>
            </a:r>
            <a:r>
              <a:rPr lang="en-US" b="1"/>
              <a:t>SA is unique:</a:t>
            </a:r>
            <a:r>
              <a:rPr lang="en-US"/>
              <a:t> Only country in this analysis simultaneously targeted by all three tracks — requiring three different institutional responses.</a:t>
            </a:r>
          </a:p>
        </p:txBody>
      </p:sp>
      <p:sp>
        <p:nvSpPr>
          <p:cNvPr id="4" name="Slide Number Placeholder 3"/>
          <p:cNvSpPr>
            <a:spLocks noGrp="1"/>
          </p:cNvSpPr>
          <p:nvPr>
            <p:ph type="sldNum" sz="quarter" idx="5"/>
          </p:nvPr>
        </p:nvSpPr>
        <p:spPr/>
        <p:txBody>
          <a:bodyPr/>
          <a:lstStyle/>
          <a:p>
            <a:fld id="{E390A6D5-5873-48D6-B940-43DCCBB5F1C5}" type="slidenum">
              <a:rPr lang="en-US" smtClean="0"/>
              <a:t>14</a:t>
            </a:fld>
            <a:endParaRPr lang="en-US"/>
          </a:p>
        </p:txBody>
      </p:sp>
    </p:spTree>
    <p:extLst>
      <p:ext uri="{BB962C8B-B14F-4D97-AF65-F5344CB8AC3E}">
        <p14:creationId xmlns:p14="http://schemas.microsoft.com/office/powerpoint/2010/main" val="2361311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critical framing for the response section — and the hardest thing for audiences to internalise.</a:t>
            </a:r>
            <a:r>
              <a:rPr lang="en-US"/>
              <a:t> One of the most common mistakes in policy response to hybrid threats is treating them as a single problem requiring a single solution. They are not. | </a:t>
            </a:r>
            <a:r>
              <a:rPr lang="en-US" b="1"/>
              <a:t>The three-track, three-response model:</a:t>
            </a:r>
            <a:r>
              <a:rPr lang="en-US"/>
              <a:t> Criminal ransomware is primarily a cybersecurity, law-enforcement, and business-continuity problem — it needs SOC analysts, incident responders, the Hawks (DPCI cybercrime unit), and the Information Regulator. Foreign state influence is a geopolitical, diplomatic, and societal resilience problem — it needs DIRCO, SSA, the Electoral Commission (IEC), civil-society fact-checkers, and platform-policy engagement. Domestic commercial disinformation is a media-freedom, electoral-regulation, and platform-governance problem — it needs the IEC, Press Ombudsman, SANEF, Africa Check, and ICASA. | </a:t>
            </a:r>
            <a:r>
              <a:rPr lang="en-US" b="1"/>
              <a:t>The risk of mismatched responses:</a:t>
            </a:r>
            <a:r>
              <a:rPr lang="en-US"/>
              <a:t> A cybersecurity tool deployed against a CIB influence campaign achieves nothing — you cannot firewall a WhatsApp narrative. A fact-checking response against ransomware achieves nothing. A diplomatic demarche against a criminal RaaS affiliate achieves nothing. Matching response to threat type is the fundamental discipline. | </a:t>
            </a:r>
            <a:r>
              <a:rPr lang="en-US" b="1"/>
              <a:t>SA is unique — and this is both a burden and an opportunity:</a:t>
            </a:r>
            <a:r>
              <a:rPr lang="en-US"/>
              <a:t> South Africa is the only country in this analysis facing all three tracks simultaneously. That means it needs all three response frameworks running in parallel — and most organisations are only resourced for one. But it also means SA has the motivation, the expertise, and the scale to build the institutional frameworks that the rest of Africa can learn from. | </a:t>
            </a:r>
            <a:r>
              <a:rPr lang="en-US" b="1"/>
              <a:t>Practical action for this audience:</a:t>
            </a:r>
            <a:r>
              <a:rPr lang="en-US"/>
              <a:t> Step 1: map which of the three tracks your organisation faces. Step 2: ensure your IR plan spans technical (SOC/IR), legal (POPIA s.22, SABRIC, Hawks), and strategic (crisis comms, stakeholder management) dimensions. Step 3: engage the wider ecosystem — you cannot win alone. | </a:t>
            </a:r>
            <a:r>
              <a:rPr lang="en-US" b="1"/>
              <a:t>Key SA institutions:</a:t>
            </a:r>
            <a:r>
              <a:rPr lang="en-US"/>
              <a:t> POPIA s.22 = 72-hour notification obligation to Information Regulator. SABRIC = South African Banking Risk Centre. AfricaCERT = regional CERT coordination. SAFPS = Southern Africa Fraud Prevention Service — free consumer protective registration for identity-fraud victims.</a:t>
            </a:r>
          </a:p>
        </p:txBody>
      </p:sp>
      <p:sp>
        <p:nvSpPr>
          <p:cNvPr id="4" name="Slide Number Placeholder 3"/>
          <p:cNvSpPr>
            <a:spLocks noGrp="1"/>
          </p:cNvSpPr>
          <p:nvPr>
            <p:ph type="sldNum" sz="quarter" idx="5"/>
          </p:nvPr>
        </p:nvSpPr>
        <p:spPr/>
        <p:txBody>
          <a:bodyPr/>
          <a:lstStyle/>
          <a:p>
            <a:fld id="{E390A6D5-5873-48D6-B940-43DCCBB5F1C5}" type="slidenum">
              <a:rPr lang="en-US" smtClean="0"/>
              <a:t>15</a:t>
            </a:fld>
            <a:endParaRPr lang="en-US"/>
          </a:p>
        </p:txBody>
      </p:sp>
    </p:spTree>
    <p:extLst>
      <p:ext uri="{BB962C8B-B14F-4D97-AF65-F5344CB8AC3E}">
        <p14:creationId xmlns:p14="http://schemas.microsoft.com/office/powerpoint/2010/main" val="3936865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Multilateral frameworks — what exists and what it delivers:</a:t>
            </a:r>
            <a:r>
              <a:rPr lang="en-US"/>
              <a:t> | </a:t>
            </a:r>
            <a:r>
              <a:rPr lang="en-US" b="1"/>
              <a:t>EEAS / EDMO (EU):</a:t>
            </a:r>
            <a:r>
              <a:rPr lang="en-US"/>
              <a:t> European External Action Service publishes annual FIMI reports. European Digital Media Observatory coordinates fact-checkers across EU. Rapid Alert System (RAS) enables member states to share disinformation threat intelligence in near-real time. EU AI Act (2025) includes provisions on AI-generated content labelling — first major regulatory framework. | </a:t>
            </a:r>
            <a:r>
              <a:rPr lang="en-US" b="1"/>
              <a:t>ITU (UN):</a:t>
            </a:r>
            <a:r>
              <a:rPr lang="en-US"/>
              <a:t> International Telecommunication Union's Global Cybersecurity Agenda. ITU-IMPACT (International Multilateral Partnership Against Cyber Threats) — 157 member countries. Provides threat intelligence, training, and incident response support to developing nations. SA is a member. | </a:t>
            </a:r>
            <a:r>
              <a:rPr lang="en-US" b="1"/>
              <a:t>African Union:</a:t>
            </a:r>
            <a:r>
              <a:rPr lang="en-US"/>
              <a:t> Malabo Convention (AU Convention on Cybersecurity and Personal Data Protection, 2014) — only 14 of 55 AU members have ratified as of 2025. This is a significant governance gap. The AU's Computer Incident Response Team (AU-CIRT) was established in 2020. | </a:t>
            </a:r>
            <a:r>
              <a:rPr lang="en-US" b="1"/>
              <a:t>OASIS Open:</a:t>
            </a:r>
            <a:r>
              <a:rPr lang="en-US"/>
              <a:t> The STIX/TAXII standards used to share cyber threat intelligence globally. OASIS is now developing STIX extensions to model FIMI/influence operations alongside traditional cyber threats — directly relevant to this audience. | </a:t>
            </a:r>
            <a:r>
              <a:rPr lang="en-US" b="1"/>
              <a:t>FIRST (Forum of Incident Response and Security Teams):</a:t>
            </a:r>
            <a:r>
              <a:rPr lang="en-US"/>
              <a:t> Global network of 700+ CERTs and IRTs. Provides protocols for coordinated disclosure and incident sharing. AfricaCERT is affiliated. | </a:t>
            </a:r>
            <a:r>
              <a:rPr lang="en-US" b="1"/>
              <a:t>G7 Rapid Response Mechanism:</a:t>
            </a:r>
            <a:r>
              <a:rPr lang="en-US"/>
              <a:t> Shares election-integrity threat intelligence among G7 governments. SA is not G7 but benefits from shared frameworks via bilateral relationships. | </a:t>
            </a:r>
            <a:r>
              <a:rPr lang="en-US" b="1"/>
              <a:t>The gap:</a:t>
            </a:r>
            <a:r>
              <a:rPr lang="en-US"/>
              <a:t> All these frameworks are primarily designed for and by Global North actors. African civil society organisations like Paradigm Initiative, Research ICT Africa, and CIPESA (Collaboration on International ICT Policy for East and Southern Africa) are building continental capacity — but under-resourced relative to the threat.</a:t>
            </a:r>
          </a:p>
        </p:txBody>
      </p:sp>
      <p:sp>
        <p:nvSpPr>
          <p:cNvPr id="4" name="Slide Number Placeholder 3"/>
          <p:cNvSpPr>
            <a:spLocks noGrp="1"/>
          </p:cNvSpPr>
          <p:nvPr>
            <p:ph type="sldNum" sz="quarter" idx="5"/>
          </p:nvPr>
        </p:nvSpPr>
        <p:spPr/>
        <p:txBody>
          <a:bodyPr/>
          <a:lstStyle/>
          <a:p>
            <a:fld id="{E390A6D5-5873-48D6-B940-43DCCBB5F1C5}" type="slidenum">
              <a:rPr lang="en-US" smtClean="0"/>
              <a:t>16</a:t>
            </a:fld>
            <a:endParaRPr lang="en-US"/>
          </a:p>
        </p:txBody>
      </p:sp>
    </p:spTree>
    <p:extLst>
      <p:ext uri="{BB962C8B-B14F-4D97-AF65-F5344CB8AC3E}">
        <p14:creationId xmlns:p14="http://schemas.microsoft.com/office/powerpoint/2010/main" val="3272473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Practical steps for security leaders at the firm level.</a:t>
            </a:r>
            <a:r>
              <a:rPr lang="en-US"/>
              <a:t> This slide is designed for the CISO/CSO/security practitioner audience. | </a:t>
            </a:r>
            <a:r>
              <a:rPr lang="en-US" b="1"/>
              <a:t>Detect the hybrid:</a:t>
            </a:r>
            <a:r>
              <a:rPr lang="en-US"/>
              <a:t> Most SOCs are wired to detect technical indicators — malware signatures, network anomalies. They are NOT wired to detect influence operations or social engineering precursors. You need to instrument your threat intelligence for narrative threats, not just technical IoCs. Monitor leak sites, dark web forums, and social media for brand and executive mentions. | </a:t>
            </a:r>
            <a:r>
              <a:rPr lang="en-US" b="1"/>
              <a:t>Defend the human layer:</a:t>
            </a:r>
            <a:r>
              <a:rPr lang="en-US"/>
              <a:t> MGM and Arup both show that the human was the vulnerability, not the technology. Help-desk authentication: require a manager callback on a known number + a second factor for any credential reset. Financial authorisation: multi-channel out-of-band verification for large transfers (Arup's lesson). Train staff to verify video calls independently — one callback to a known mobile number would have saved $25.6M. | </a:t>
            </a:r>
            <a:r>
              <a:rPr lang="en-US" b="1"/>
              <a:t>Build resilience:</a:t>
            </a:r>
            <a:r>
              <a:rPr lang="en-US"/>
              <a:t> Transnet recovered without paying ransom because they had and executed a disaster-recovery plan. Active Directory rebuild in 2 weeks. Offline backups, OT/IT segmentation, annual tabletop exercises. | </a:t>
            </a:r>
            <a:r>
              <a:rPr lang="en-US" b="1"/>
              <a:t>Engage the ecosystem:</a:t>
            </a:r>
            <a:r>
              <a:rPr lang="en-US"/>
              <a:t> POPIA Section 22: notify the Information Regulator within 72 hours. Engage SABRIC (South African Banking Risk Centre), the Hawks (DPCI cybercrime unit), AfricaCERT. Register consumers with SAFPS for SIM-swap and identity-fraud protection. | </a:t>
            </a:r>
            <a:r>
              <a:rPr lang="en-US" b="1"/>
              <a:t>Reputation and communications planning:</a:t>
            </a:r>
            <a:r>
              <a:rPr lang="en-US"/>
              <a:t> The leak-site threat is a communications crisis as well as a technical incident. Have a crisis comms plan that addresses: what do we say to customers whose data was exposed? How do we counter false ransomware-group narratives about our security posture? Transnet's public communications were praised for transparency.</a:t>
            </a:r>
          </a:p>
        </p:txBody>
      </p:sp>
      <p:sp>
        <p:nvSpPr>
          <p:cNvPr id="4" name="Slide Number Placeholder 3"/>
          <p:cNvSpPr>
            <a:spLocks noGrp="1"/>
          </p:cNvSpPr>
          <p:nvPr>
            <p:ph type="sldNum" sz="quarter" idx="5"/>
          </p:nvPr>
        </p:nvSpPr>
        <p:spPr/>
        <p:txBody>
          <a:bodyPr/>
          <a:lstStyle/>
          <a:p>
            <a:fld id="{E390A6D5-5873-48D6-B940-43DCCBB5F1C5}" type="slidenum">
              <a:rPr lang="en-US" smtClean="0"/>
              <a:t>17</a:t>
            </a:fld>
            <a:endParaRPr lang="en-US"/>
          </a:p>
        </p:txBody>
      </p:sp>
    </p:spTree>
    <p:extLst>
      <p:ext uri="{BB962C8B-B14F-4D97-AF65-F5344CB8AC3E}">
        <p14:creationId xmlns:p14="http://schemas.microsoft.com/office/powerpoint/2010/main" val="367845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Community-level response — the most under-resourced but essential layer.</a:t>
            </a:r>
            <a:r>
              <a:rPr lang="en-US"/>
              <a:t> Cybersecurity practitioners tend to focus on the firm and the technical. But hybrid operations targeting public opinion, elections, and community trust require community-level defences that no CISO can deliver alone. | </a:t>
            </a:r>
            <a:r>
              <a:rPr lang="en-US" b="1"/>
              <a:t>Media literacy and prebunking:</a:t>
            </a:r>
            <a:r>
              <a:rPr lang="en-US"/>
              <a:t> Prebunking (inoculation theory) is evidenced to be more effective than fact-checking — exposing people to a weakened form of a manipulation technique before they encounter it. Studies show prebunking reduces susceptibility to disinformation by 20–30%. The problem: prebunking requires investment in local language content production. In SA, this means Zulu, Xhosa, Sotho, Afrikaans — not just English. | </a:t>
            </a:r>
            <a:r>
              <a:rPr lang="en-US" b="1"/>
              <a:t>Trusted community messengers:</a:t>
            </a:r>
            <a:r>
              <a:rPr lang="en-US"/>
              <a:t> Public health research (COVID, Ebola) shows that vaccine hesitancy disinformation is most effectively countered by trusted community leaders — religious figures, traditional healers, community health workers — not government spokespeople or fact-checking websites. The same principle applies to political disinformation. | </a:t>
            </a:r>
            <a:r>
              <a:rPr lang="en-US" b="1"/>
              <a:t>Platform accountability:</a:t>
            </a:r>
            <a:r>
              <a:rPr lang="en-US"/>
              <a:t> Civil society organisations in SA (Media Monitoring Africa, Right2Know Campaign) have successfully pressured platforms on content moderation failures. The Meta decision to end third-party fact-checking in the US (January 2025) is a concern — Africa Check (headquartered in SA) is one of the affected fact-checking partners. | </a:t>
            </a:r>
            <a:r>
              <a:rPr lang="en-US" b="1"/>
              <a:t>Digital rights and privacy:</a:t>
            </a:r>
            <a:r>
              <a:rPr lang="en-US"/>
              <a:t> SIM-swap fraud and identity theft (enabled by data breaches like TransUnion) harm ordinary citizens. Community-level SAFPS registration is a practical tool. Consumer education about what to do if your data has been breached. | </a:t>
            </a:r>
            <a:r>
              <a:rPr lang="en-US" b="1"/>
              <a:t>Election observation and monitoring:</a:t>
            </a:r>
            <a:r>
              <a:rPr lang="en-US"/>
              <a:t> EISA (Electoral Institute for Sustainable Democracy in Africa), SADC Election Support Network, and domestic bodies like the IEC provide election integrity frameworks. But they need to integrate digital/cyber threat monitoring alongside traditional election observation.</a:t>
            </a:r>
          </a:p>
        </p:txBody>
      </p:sp>
      <p:sp>
        <p:nvSpPr>
          <p:cNvPr id="4" name="Slide Number Placeholder 3"/>
          <p:cNvSpPr>
            <a:spLocks noGrp="1"/>
          </p:cNvSpPr>
          <p:nvPr>
            <p:ph type="sldNum" sz="quarter" idx="5"/>
          </p:nvPr>
        </p:nvSpPr>
        <p:spPr/>
        <p:txBody>
          <a:bodyPr/>
          <a:lstStyle/>
          <a:p>
            <a:fld id="{E390A6D5-5873-48D6-B940-43DCCBB5F1C5}" type="slidenum">
              <a:rPr lang="en-US" smtClean="0"/>
              <a:t>18</a:t>
            </a:fld>
            <a:endParaRPr lang="en-US"/>
          </a:p>
        </p:txBody>
      </p:sp>
    </p:spTree>
    <p:extLst>
      <p:ext uri="{BB962C8B-B14F-4D97-AF65-F5344CB8AC3E}">
        <p14:creationId xmlns:p14="http://schemas.microsoft.com/office/powerpoint/2010/main" val="3079459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Closing slide — speaker notes.</a:t>
            </a:r>
            <a:r>
              <a:rPr lang="en-US"/>
              <a:t> Return to the 4-quadrant model. The argument: we began our security work focused on intrusion (the classic CIA triad). Over time we added exploitation as a recognised threat category (ransomware, fraud). But abuse and manipulation have been treated as 'not our problem' by security teams — left to content moderators, journalists, and civil society. The hybridisation of operations means this separation is no longer tenable. | </a:t>
            </a:r>
            <a:r>
              <a:rPr lang="en-US" b="1"/>
              <a:t>Nelson Mandela quote:</a:t>
            </a:r>
            <a:r>
              <a:rPr lang="en-US"/>
              <a:t> 'Let freedom reign' — spoken at his inauguration on 10 May 1994 at the Union Buildings, Pretoria. Full context: 'Let freedom reign. The sun shall never set on so glorious a human achievement.' | </a:t>
            </a:r>
            <a:r>
              <a:rPr lang="en-US" b="1"/>
              <a:t>The OASIS argument:</a:t>
            </a:r>
            <a:r>
              <a:rPr lang="en-US"/>
              <a:t> If we are to extend Mandela's vision of freedom to the digital age, we must protect: freedom from intrusion (traditional cybersecurity); freedom from manipulation (fact-checking, prebunking, platform accountability — but NOT only veracity-based tools); freedom from abuse (platform governance, hate speech law, content moderation); freedom from exploitation (cybercrime law, ransomware response, consumer protection). | </a:t>
            </a:r>
            <a:r>
              <a:rPr lang="en-US" b="1"/>
              <a:t>Call to action for this audience:</a:t>
            </a:r>
            <a:r>
              <a:rPr lang="en-US"/>
              <a:t> The STIX/OASIS standards extension work is open to participation. The EEAS, ITU, AU Malabo Convention, and AU-CIRT all provide frameworks — but technical communities must drive the implementation. South Africa has a unique role: as a country simultaneously facing all four quadrant threats, it has both the motivation and the expertise to lead African responses. | </a:t>
            </a:r>
            <a:r>
              <a:rPr lang="en-US" b="1"/>
              <a:t>Final line for the talk:</a:t>
            </a:r>
            <a:r>
              <a:rPr lang="en-US"/>
              <a:t> 'Freedom in the digital age requires us to defend all four quadrants — not just the one our job title assigns us to.'</a:t>
            </a:r>
          </a:p>
        </p:txBody>
      </p:sp>
      <p:sp>
        <p:nvSpPr>
          <p:cNvPr id="4" name="Slide Number Placeholder 3"/>
          <p:cNvSpPr>
            <a:spLocks noGrp="1"/>
          </p:cNvSpPr>
          <p:nvPr>
            <p:ph type="sldNum" sz="quarter" idx="5"/>
          </p:nvPr>
        </p:nvSpPr>
        <p:spPr/>
        <p:txBody>
          <a:bodyPr/>
          <a:lstStyle/>
          <a:p>
            <a:fld id="{E390A6D5-5873-48D6-B940-43DCCBB5F1C5}" type="slidenum">
              <a:rPr lang="en-US" smtClean="0"/>
              <a:t>19</a:t>
            </a:fld>
            <a:endParaRPr lang="en-US"/>
          </a:p>
        </p:txBody>
      </p:sp>
    </p:spTree>
    <p:extLst>
      <p:ext uri="{BB962C8B-B14F-4D97-AF65-F5344CB8AC3E}">
        <p14:creationId xmlns:p14="http://schemas.microsoft.com/office/powerpoint/2010/main" val="34457402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46CC31-C596-2DE7-053B-5B4B7BF70F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500060"/>
            <a:ext cx="9144000" cy="643440"/>
          </a:xfrm>
          <a:prstGeom prst="rect">
            <a:avLst/>
          </a:prstGeom>
        </p:spPr>
      </p:pic>
      <p:pic>
        <p:nvPicPr>
          <p:cNvPr id="7" name="Picture 6">
            <a:extLst>
              <a:ext uri="{FF2B5EF4-FFF2-40B4-BE49-F238E27FC236}">
                <a16:creationId xmlns:a16="http://schemas.microsoft.com/office/drawing/2014/main" id="{D21B0C23-2911-9095-92AC-3CDA30D7C5B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1072400"/>
          </a:xfrm>
          <a:prstGeom prst="rect">
            <a:avLst/>
          </a:prstGeom>
        </p:spPr>
      </p:pic>
    </p:spTree>
    <p:extLst>
      <p:ext uri="{BB962C8B-B14F-4D97-AF65-F5344CB8AC3E}">
        <p14:creationId xmlns:p14="http://schemas.microsoft.com/office/powerpoint/2010/main" val="369308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1C125B-A93B-5FCD-1355-C676333245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500060"/>
            <a:ext cx="9144000" cy="643440"/>
          </a:xfrm>
          <a:prstGeom prst="rect">
            <a:avLst/>
          </a:prstGeom>
        </p:spPr>
      </p:pic>
    </p:spTree>
    <p:extLst>
      <p:ext uri="{BB962C8B-B14F-4D97-AF65-F5344CB8AC3E}">
        <p14:creationId xmlns:p14="http://schemas.microsoft.com/office/powerpoint/2010/main" val="175997749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99BD31-CA8C-435D-2D42-A5DBA44F965E}"/>
              </a:ext>
            </a:extLst>
          </p:cNvPr>
          <p:cNvSpPr>
            <a:spLocks noGrp="1"/>
          </p:cNvSpPr>
          <p:nvPr>
            <p:ph type="dt" sz="half" idx="10"/>
          </p:nvPr>
        </p:nvSpPr>
        <p:spPr/>
        <p:txBody>
          <a:bodyPr/>
          <a:lstStyle>
            <a:lvl1pPr>
              <a:defRPr/>
            </a:lvl1pPr>
          </a:lstStyle>
          <a:p>
            <a:pPr>
              <a:defRPr/>
            </a:pPr>
            <a:fld id="{829E3733-E8D4-F149-A162-0949DB623391}" type="datetimeFigureOut">
              <a:rPr lang="en-US"/>
              <a:pPr>
                <a:defRPr/>
              </a:pPr>
              <a:t>5/22/2026</a:t>
            </a:fld>
            <a:endParaRPr lang="en-US"/>
          </a:p>
        </p:txBody>
      </p:sp>
      <p:sp>
        <p:nvSpPr>
          <p:cNvPr id="5" name="Footer Placeholder 4">
            <a:extLst>
              <a:ext uri="{FF2B5EF4-FFF2-40B4-BE49-F238E27FC236}">
                <a16:creationId xmlns:a16="http://schemas.microsoft.com/office/drawing/2014/main" id="{60A3899C-67B3-FAE3-5533-4D0F4A305B5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3A0AE26-FF81-6D7F-5A92-3D465FBE70F8}"/>
              </a:ext>
            </a:extLst>
          </p:cNvPr>
          <p:cNvSpPr>
            <a:spLocks noGrp="1"/>
          </p:cNvSpPr>
          <p:nvPr>
            <p:ph type="sldNum" sz="quarter" idx="12"/>
          </p:nvPr>
        </p:nvSpPr>
        <p:spPr/>
        <p:txBody>
          <a:bodyPr/>
          <a:lstStyle>
            <a:lvl1pPr>
              <a:defRPr/>
            </a:lvl1pPr>
          </a:lstStyle>
          <a:p>
            <a:pPr>
              <a:defRPr/>
            </a:pPr>
            <a:fld id="{D0C7186F-D7F1-FD40-B265-55FCF13C4400}" type="slidenum">
              <a:rPr lang="en-US" altLang="en-US"/>
              <a:pPr>
                <a:defRPr/>
              </a:pPr>
              <a:t>‹#›</a:t>
            </a:fld>
            <a:endParaRPr lang="en-US" altLang="en-US"/>
          </a:p>
        </p:txBody>
      </p:sp>
    </p:spTree>
    <p:extLst>
      <p:ext uri="{BB962C8B-B14F-4D97-AF65-F5344CB8AC3E}">
        <p14:creationId xmlns:p14="http://schemas.microsoft.com/office/powerpoint/2010/main" val="562331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80AD40-8B15-EA74-FD29-D6AA6ED76B2D}"/>
              </a:ext>
            </a:extLst>
          </p:cNvPr>
          <p:cNvSpPr>
            <a:spLocks noGrp="1"/>
          </p:cNvSpPr>
          <p:nvPr>
            <p:ph type="dt" sz="half" idx="10"/>
          </p:nvPr>
        </p:nvSpPr>
        <p:spPr/>
        <p:txBody>
          <a:bodyPr/>
          <a:lstStyle>
            <a:lvl1pPr>
              <a:defRPr/>
            </a:lvl1pPr>
          </a:lstStyle>
          <a:p>
            <a:pPr>
              <a:defRPr/>
            </a:pPr>
            <a:fld id="{B1424E98-2961-BF45-81C0-8DCE89841AEE}" type="datetimeFigureOut">
              <a:rPr lang="en-US"/>
              <a:pPr>
                <a:defRPr/>
              </a:pPr>
              <a:t>5/22/2026</a:t>
            </a:fld>
            <a:endParaRPr lang="en-US"/>
          </a:p>
        </p:txBody>
      </p:sp>
      <p:sp>
        <p:nvSpPr>
          <p:cNvPr id="5" name="Footer Placeholder 4">
            <a:extLst>
              <a:ext uri="{FF2B5EF4-FFF2-40B4-BE49-F238E27FC236}">
                <a16:creationId xmlns:a16="http://schemas.microsoft.com/office/drawing/2014/main" id="{3EF1019C-B410-F130-8CEE-DCE71D77DE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C8D49D7-720A-F745-8B63-E2EED5B4E61B}"/>
              </a:ext>
            </a:extLst>
          </p:cNvPr>
          <p:cNvSpPr>
            <a:spLocks noGrp="1"/>
          </p:cNvSpPr>
          <p:nvPr>
            <p:ph type="sldNum" sz="quarter" idx="12"/>
          </p:nvPr>
        </p:nvSpPr>
        <p:spPr/>
        <p:txBody>
          <a:bodyPr/>
          <a:lstStyle>
            <a:lvl1pPr>
              <a:defRPr/>
            </a:lvl1pPr>
          </a:lstStyle>
          <a:p>
            <a:pPr>
              <a:defRPr/>
            </a:pPr>
            <a:fld id="{EF66F4B0-A341-DD44-A674-28D31C741E9D}" type="slidenum">
              <a:rPr lang="en-US" altLang="en-US"/>
              <a:pPr>
                <a:defRPr/>
              </a:pPr>
              <a:t>‹#›</a:t>
            </a:fld>
            <a:endParaRPr lang="en-US" altLang="en-US"/>
          </a:p>
        </p:txBody>
      </p:sp>
    </p:spTree>
    <p:extLst>
      <p:ext uri="{BB962C8B-B14F-4D97-AF65-F5344CB8AC3E}">
        <p14:creationId xmlns:p14="http://schemas.microsoft.com/office/powerpoint/2010/main" val="2801949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15F85637-CC8F-A475-5A1E-801073C2CA2C}"/>
              </a:ext>
            </a:extLst>
          </p:cNvPr>
          <p:cNvSpPr>
            <a:spLocks noGrp="1"/>
          </p:cNvSpPr>
          <p:nvPr>
            <p:ph type="dt" sz="half" idx="10"/>
          </p:nvPr>
        </p:nvSpPr>
        <p:spPr/>
        <p:txBody>
          <a:bodyPr/>
          <a:lstStyle>
            <a:lvl1pPr>
              <a:defRPr/>
            </a:lvl1pPr>
          </a:lstStyle>
          <a:p>
            <a:pPr>
              <a:defRPr/>
            </a:pPr>
            <a:fld id="{39AE07DF-2FBB-9142-9DC6-F284464F6EA0}" type="datetimeFigureOut">
              <a:rPr lang="en-US"/>
              <a:pPr>
                <a:defRPr/>
              </a:pPr>
              <a:t>5/22/2026</a:t>
            </a:fld>
            <a:endParaRPr lang="en-US"/>
          </a:p>
        </p:txBody>
      </p:sp>
      <p:sp>
        <p:nvSpPr>
          <p:cNvPr id="6" name="Footer Placeholder 4">
            <a:extLst>
              <a:ext uri="{FF2B5EF4-FFF2-40B4-BE49-F238E27FC236}">
                <a16:creationId xmlns:a16="http://schemas.microsoft.com/office/drawing/2014/main" id="{45023C2E-893B-0890-95D6-3661A2656E8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518F2F9-7EFD-D26A-FDAB-A154EA4499BF}"/>
              </a:ext>
            </a:extLst>
          </p:cNvPr>
          <p:cNvSpPr>
            <a:spLocks noGrp="1"/>
          </p:cNvSpPr>
          <p:nvPr>
            <p:ph type="sldNum" sz="quarter" idx="12"/>
          </p:nvPr>
        </p:nvSpPr>
        <p:spPr/>
        <p:txBody>
          <a:bodyPr/>
          <a:lstStyle>
            <a:lvl1pPr>
              <a:defRPr/>
            </a:lvl1pPr>
          </a:lstStyle>
          <a:p>
            <a:pPr>
              <a:defRPr/>
            </a:pPr>
            <a:fld id="{94E4C1D6-7498-E640-902F-3C99AFAB108B}" type="slidenum">
              <a:rPr lang="en-US" altLang="en-US"/>
              <a:pPr>
                <a:defRPr/>
              </a:pPr>
              <a:t>‹#›</a:t>
            </a:fld>
            <a:endParaRPr lang="en-US" altLang="en-US"/>
          </a:p>
        </p:txBody>
      </p:sp>
    </p:spTree>
    <p:extLst>
      <p:ext uri="{BB962C8B-B14F-4D97-AF65-F5344CB8AC3E}">
        <p14:creationId xmlns:p14="http://schemas.microsoft.com/office/powerpoint/2010/main" val="3326954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41C2761-9423-1112-3709-7D12FEE13784}"/>
              </a:ext>
            </a:extLst>
          </p:cNvPr>
          <p:cNvSpPr>
            <a:spLocks noGrp="1"/>
          </p:cNvSpPr>
          <p:nvPr>
            <p:ph type="dt" sz="half" idx="10"/>
          </p:nvPr>
        </p:nvSpPr>
        <p:spPr/>
        <p:txBody>
          <a:bodyPr/>
          <a:lstStyle>
            <a:lvl1pPr>
              <a:defRPr/>
            </a:lvl1pPr>
          </a:lstStyle>
          <a:p>
            <a:pPr>
              <a:defRPr/>
            </a:pPr>
            <a:fld id="{34D4AABD-2C6A-5B45-A3EA-B325CD5EA08B}" type="datetimeFigureOut">
              <a:rPr lang="en-US"/>
              <a:pPr>
                <a:defRPr/>
              </a:pPr>
              <a:t>5/22/2026</a:t>
            </a:fld>
            <a:endParaRPr lang="en-US"/>
          </a:p>
        </p:txBody>
      </p:sp>
      <p:sp>
        <p:nvSpPr>
          <p:cNvPr id="8" name="Footer Placeholder 4">
            <a:extLst>
              <a:ext uri="{FF2B5EF4-FFF2-40B4-BE49-F238E27FC236}">
                <a16:creationId xmlns:a16="http://schemas.microsoft.com/office/drawing/2014/main" id="{3A69F686-0FC7-49B4-1305-AF38EE11F3F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A52E30F-198F-9EFA-5A8F-1212E1C468F8}"/>
              </a:ext>
            </a:extLst>
          </p:cNvPr>
          <p:cNvSpPr>
            <a:spLocks noGrp="1"/>
          </p:cNvSpPr>
          <p:nvPr>
            <p:ph type="sldNum" sz="quarter" idx="12"/>
          </p:nvPr>
        </p:nvSpPr>
        <p:spPr/>
        <p:txBody>
          <a:bodyPr/>
          <a:lstStyle>
            <a:lvl1pPr>
              <a:defRPr/>
            </a:lvl1pPr>
          </a:lstStyle>
          <a:p>
            <a:pPr>
              <a:defRPr/>
            </a:pPr>
            <a:fld id="{3B677B63-6C3D-2649-A5F8-CBD86555525C}" type="slidenum">
              <a:rPr lang="en-US" altLang="en-US"/>
              <a:pPr>
                <a:defRPr/>
              </a:pPr>
              <a:t>‹#›</a:t>
            </a:fld>
            <a:endParaRPr lang="en-US" altLang="en-US"/>
          </a:p>
        </p:txBody>
      </p:sp>
    </p:spTree>
    <p:extLst>
      <p:ext uri="{BB962C8B-B14F-4D97-AF65-F5344CB8AC3E}">
        <p14:creationId xmlns:p14="http://schemas.microsoft.com/office/powerpoint/2010/main" val="14605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9D0BF16B-F33C-F3CA-8694-BC931D771699}"/>
              </a:ext>
            </a:extLst>
          </p:cNvPr>
          <p:cNvSpPr>
            <a:spLocks noGrp="1"/>
          </p:cNvSpPr>
          <p:nvPr>
            <p:ph type="dt" sz="half" idx="10"/>
          </p:nvPr>
        </p:nvSpPr>
        <p:spPr/>
        <p:txBody>
          <a:bodyPr/>
          <a:lstStyle>
            <a:lvl1pPr>
              <a:defRPr/>
            </a:lvl1pPr>
          </a:lstStyle>
          <a:p>
            <a:pPr>
              <a:defRPr/>
            </a:pPr>
            <a:fld id="{66A866CD-AB3B-384F-A2AD-2B32A3F37AFE}" type="datetimeFigureOut">
              <a:rPr lang="en-US"/>
              <a:pPr>
                <a:defRPr/>
              </a:pPr>
              <a:t>5/22/2026</a:t>
            </a:fld>
            <a:endParaRPr lang="en-US"/>
          </a:p>
        </p:txBody>
      </p:sp>
      <p:sp>
        <p:nvSpPr>
          <p:cNvPr id="4" name="Footer Placeholder 4">
            <a:extLst>
              <a:ext uri="{FF2B5EF4-FFF2-40B4-BE49-F238E27FC236}">
                <a16:creationId xmlns:a16="http://schemas.microsoft.com/office/drawing/2014/main" id="{DF8C9327-BA90-01C3-FBBA-D972618920E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1521B8A-DF0D-81B8-0F02-3A8B1C4C98E9}"/>
              </a:ext>
            </a:extLst>
          </p:cNvPr>
          <p:cNvSpPr>
            <a:spLocks noGrp="1"/>
          </p:cNvSpPr>
          <p:nvPr>
            <p:ph type="sldNum" sz="quarter" idx="12"/>
          </p:nvPr>
        </p:nvSpPr>
        <p:spPr/>
        <p:txBody>
          <a:bodyPr/>
          <a:lstStyle>
            <a:lvl1pPr>
              <a:defRPr/>
            </a:lvl1pPr>
          </a:lstStyle>
          <a:p>
            <a:pPr>
              <a:defRPr/>
            </a:pPr>
            <a:fld id="{80B7FCB9-FD4F-B947-A171-6E2F47B2AC61}" type="slidenum">
              <a:rPr lang="en-US" altLang="en-US"/>
              <a:pPr>
                <a:defRPr/>
              </a:pPr>
              <a:t>‹#›</a:t>
            </a:fld>
            <a:endParaRPr lang="en-US" altLang="en-US"/>
          </a:p>
        </p:txBody>
      </p:sp>
    </p:spTree>
    <p:extLst>
      <p:ext uri="{BB962C8B-B14F-4D97-AF65-F5344CB8AC3E}">
        <p14:creationId xmlns:p14="http://schemas.microsoft.com/office/powerpoint/2010/main" val="290929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10B72F3-119F-CC76-9F4A-178D4DD020E7}"/>
              </a:ext>
            </a:extLst>
          </p:cNvPr>
          <p:cNvSpPr>
            <a:spLocks noGrp="1"/>
          </p:cNvSpPr>
          <p:nvPr>
            <p:ph type="dt" sz="half" idx="10"/>
          </p:nvPr>
        </p:nvSpPr>
        <p:spPr/>
        <p:txBody>
          <a:bodyPr/>
          <a:lstStyle>
            <a:lvl1pPr>
              <a:defRPr/>
            </a:lvl1pPr>
          </a:lstStyle>
          <a:p>
            <a:pPr>
              <a:defRPr/>
            </a:pPr>
            <a:fld id="{BD8FF876-A424-7D40-A549-565EEA35425B}" type="datetimeFigureOut">
              <a:rPr lang="en-US"/>
              <a:pPr>
                <a:defRPr/>
              </a:pPr>
              <a:t>5/22/2026</a:t>
            </a:fld>
            <a:endParaRPr lang="en-US"/>
          </a:p>
        </p:txBody>
      </p:sp>
      <p:sp>
        <p:nvSpPr>
          <p:cNvPr id="3" name="Footer Placeholder 4">
            <a:extLst>
              <a:ext uri="{FF2B5EF4-FFF2-40B4-BE49-F238E27FC236}">
                <a16:creationId xmlns:a16="http://schemas.microsoft.com/office/drawing/2014/main" id="{689568F6-2718-9E56-7188-F4793498EB6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D8B4C37-4A30-2C9A-E10F-B6C30CABD6E7}"/>
              </a:ext>
            </a:extLst>
          </p:cNvPr>
          <p:cNvSpPr>
            <a:spLocks noGrp="1"/>
          </p:cNvSpPr>
          <p:nvPr>
            <p:ph type="sldNum" sz="quarter" idx="12"/>
          </p:nvPr>
        </p:nvSpPr>
        <p:spPr/>
        <p:txBody>
          <a:bodyPr/>
          <a:lstStyle>
            <a:lvl1pPr>
              <a:defRPr/>
            </a:lvl1pPr>
          </a:lstStyle>
          <a:p>
            <a:pPr>
              <a:defRPr/>
            </a:pPr>
            <a:fld id="{B2A3FDC3-1458-7244-BC6B-C89F05CEE6A0}" type="slidenum">
              <a:rPr lang="en-US" altLang="en-US"/>
              <a:pPr>
                <a:defRPr/>
              </a:pPr>
              <a:t>‹#›</a:t>
            </a:fld>
            <a:endParaRPr lang="en-US" altLang="en-US"/>
          </a:p>
        </p:txBody>
      </p:sp>
    </p:spTree>
    <p:extLst>
      <p:ext uri="{BB962C8B-B14F-4D97-AF65-F5344CB8AC3E}">
        <p14:creationId xmlns:p14="http://schemas.microsoft.com/office/powerpoint/2010/main" val="3383143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7CEF538-284F-BF4E-2BF0-D1B8BFFCBBB0}"/>
              </a:ext>
            </a:extLst>
          </p:cNvPr>
          <p:cNvSpPr>
            <a:spLocks noGrp="1"/>
          </p:cNvSpPr>
          <p:nvPr>
            <p:ph type="dt" sz="half" idx="10"/>
          </p:nvPr>
        </p:nvSpPr>
        <p:spPr/>
        <p:txBody>
          <a:bodyPr/>
          <a:lstStyle>
            <a:lvl1pPr>
              <a:defRPr/>
            </a:lvl1pPr>
          </a:lstStyle>
          <a:p>
            <a:pPr>
              <a:defRPr/>
            </a:pPr>
            <a:fld id="{5ED3729B-77CE-7343-926A-4BAE503920CE}" type="datetimeFigureOut">
              <a:rPr lang="en-US"/>
              <a:pPr>
                <a:defRPr/>
              </a:pPr>
              <a:t>5/22/2026</a:t>
            </a:fld>
            <a:endParaRPr lang="en-US"/>
          </a:p>
        </p:txBody>
      </p:sp>
      <p:sp>
        <p:nvSpPr>
          <p:cNvPr id="6" name="Footer Placeholder 4">
            <a:extLst>
              <a:ext uri="{FF2B5EF4-FFF2-40B4-BE49-F238E27FC236}">
                <a16:creationId xmlns:a16="http://schemas.microsoft.com/office/drawing/2014/main" id="{7E22C5B5-4ADF-6BBB-3EB9-6734470E47C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751274E-A1AB-9832-F051-3E845534BC0F}"/>
              </a:ext>
            </a:extLst>
          </p:cNvPr>
          <p:cNvSpPr>
            <a:spLocks noGrp="1"/>
          </p:cNvSpPr>
          <p:nvPr>
            <p:ph type="sldNum" sz="quarter" idx="12"/>
          </p:nvPr>
        </p:nvSpPr>
        <p:spPr/>
        <p:txBody>
          <a:bodyPr/>
          <a:lstStyle>
            <a:lvl1pPr>
              <a:defRPr/>
            </a:lvl1pPr>
          </a:lstStyle>
          <a:p>
            <a:pPr>
              <a:defRPr/>
            </a:pPr>
            <a:fld id="{8D35ABD1-C1D4-C942-9829-0BD8DD1B0D69}" type="slidenum">
              <a:rPr lang="en-US" altLang="en-US"/>
              <a:pPr>
                <a:defRPr/>
              </a:pPr>
              <a:t>‹#›</a:t>
            </a:fld>
            <a:endParaRPr lang="en-US" altLang="en-US"/>
          </a:p>
        </p:txBody>
      </p:sp>
    </p:spTree>
    <p:extLst>
      <p:ext uri="{BB962C8B-B14F-4D97-AF65-F5344CB8AC3E}">
        <p14:creationId xmlns:p14="http://schemas.microsoft.com/office/powerpoint/2010/main" val="346423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70FDE43-729C-B9EC-66A3-9AFC9970C998}"/>
              </a:ext>
            </a:extLst>
          </p:cNvPr>
          <p:cNvSpPr>
            <a:spLocks noGrp="1"/>
          </p:cNvSpPr>
          <p:nvPr>
            <p:ph type="dt" sz="half" idx="10"/>
          </p:nvPr>
        </p:nvSpPr>
        <p:spPr/>
        <p:txBody>
          <a:bodyPr/>
          <a:lstStyle>
            <a:lvl1pPr>
              <a:defRPr/>
            </a:lvl1pPr>
          </a:lstStyle>
          <a:p>
            <a:pPr>
              <a:defRPr/>
            </a:pPr>
            <a:fld id="{E5EEC7DD-7DB4-A945-829D-CE83EE3A5748}" type="datetimeFigureOut">
              <a:rPr lang="en-US"/>
              <a:pPr>
                <a:defRPr/>
              </a:pPr>
              <a:t>5/22/2026</a:t>
            </a:fld>
            <a:endParaRPr lang="en-US"/>
          </a:p>
        </p:txBody>
      </p:sp>
      <p:sp>
        <p:nvSpPr>
          <p:cNvPr id="6" name="Footer Placeholder 4">
            <a:extLst>
              <a:ext uri="{FF2B5EF4-FFF2-40B4-BE49-F238E27FC236}">
                <a16:creationId xmlns:a16="http://schemas.microsoft.com/office/drawing/2014/main" id="{D2F05D1D-3F87-A679-0EB8-E245B3864EC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37693A3-FD35-4F8B-4B60-5EB56945208E}"/>
              </a:ext>
            </a:extLst>
          </p:cNvPr>
          <p:cNvSpPr>
            <a:spLocks noGrp="1"/>
          </p:cNvSpPr>
          <p:nvPr>
            <p:ph type="sldNum" sz="quarter" idx="12"/>
          </p:nvPr>
        </p:nvSpPr>
        <p:spPr/>
        <p:txBody>
          <a:bodyPr/>
          <a:lstStyle>
            <a:lvl1pPr>
              <a:defRPr/>
            </a:lvl1pPr>
          </a:lstStyle>
          <a:p>
            <a:pPr>
              <a:defRPr/>
            </a:pPr>
            <a:fld id="{4786969E-D943-4042-AAC5-FCB9D27190B3}" type="slidenum">
              <a:rPr lang="en-US" altLang="en-US"/>
              <a:pPr>
                <a:defRPr/>
              </a:pPr>
              <a:t>‹#›</a:t>
            </a:fld>
            <a:endParaRPr lang="en-US" altLang="en-US"/>
          </a:p>
        </p:txBody>
      </p:sp>
    </p:spTree>
    <p:extLst>
      <p:ext uri="{BB962C8B-B14F-4D97-AF65-F5344CB8AC3E}">
        <p14:creationId xmlns:p14="http://schemas.microsoft.com/office/powerpoint/2010/main" val="1787309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937A98-3361-C923-E29E-12FDCD22A74C}"/>
              </a:ext>
            </a:extLst>
          </p:cNvPr>
          <p:cNvSpPr>
            <a:spLocks noGrp="1"/>
          </p:cNvSpPr>
          <p:nvPr>
            <p:ph type="dt" sz="half" idx="10"/>
          </p:nvPr>
        </p:nvSpPr>
        <p:spPr/>
        <p:txBody>
          <a:bodyPr/>
          <a:lstStyle>
            <a:lvl1pPr>
              <a:defRPr/>
            </a:lvl1pPr>
          </a:lstStyle>
          <a:p>
            <a:pPr>
              <a:defRPr/>
            </a:pPr>
            <a:fld id="{4F2BB736-B475-0342-8337-06037FA5AFBC}" type="datetimeFigureOut">
              <a:rPr lang="en-US"/>
              <a:pPr>
                <a:defRPr/>
              </a:pPr>
              <a:t>5/22/2026</a:t>
            </a:fld>
            <a:endParaRPr lang="en-US"/>
          </a:p>
        </p:txBody>
      </p:sp>
      <p:sp>
        <p:nvSpPr>
          <p:cNvPr id="5" name="Footer Placeholder 4">
            <a:extLst>
              <a:ext uri="{FF2B5EF4-FFF2-40B4-BE49-F238E27FC236}">
                <a16:creationId xmlns:a16="http://schemas.microsoft.com/office/drawing/2014/main" id="{911B3BED-B439-261E-2077-DE25250479A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7B2EB0-401F-ECC6-7F6D-CB4C5CE0F862}"/>
              </a:ext>
            </a:extLst>
          </p:cNvPr>
          <p:cNvSpPr>
            <a:spLocks noGrp="1"/>
          </p:cNvSpPr>
          <p:nvPr>
            <p:ph type="sldNum" sz="quarter" idx="12"/>
          </p:nvPr>
        </p:nvSpPr>
        <p:spPr/>
        <p:txBody>
          <a:bodyPr/>
          <a:lstStyle>
            <a:lvl1pPr>
              <a:defRPr/>
            </a:lvl1pPr>
          </a:lstStyle>
          <a:p>
            <a:pPr>
              <a:defRPr/>
            </a:pPr>
            <a:fld id="{ED5F1821-B462-5D4A-A50F-5558D93C100E}" type="slidenum">
              <a:rPr lang="en-US" altLang="en-US"/>
              <a:pPr>
                <a:defRPr/>
              </a:pPr>
              <a:t>‹#›</a:t>
            </a:fld>
            <a:endParaRPr lang="en-US" altLang="en-US"/>
          </a:p>
        </p:txBody>
      </p:sp>
    </p:spTree>
    <p:extLst>
      <p:ext uri="{BB962C8B-B14F-4D97-AF65-F5344CB8AC3E}">
        <p14:creationId xmlns:p14="http://schemas.microsoft.com/office/powerpoint/2010/main" val="1687265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C82BE4-5D0C-A74F-1692-17AB07A81041}"/>
              </a:ext>
            </a:extLst>
          </p:cNvPr>
          <p:cNvSpPr>
            <a:spLocks noGrp="1"/>
          </p:cNvSpPr>
          <p:nvPr>
            <p:ph type="dt" sz="half" idx="10"/>
          </p:nvPr>
        </p:nvSpPr>
        <p:spPr/>
        <p:txBody>
          <a:bodyPr/>
          <a:lstStyle>
            <a:lvl1pPr>
              <a:defRPr/>
            </a:lvl1pPr>
          </a:lstStyle>
          <a:p>
            <a:pPr>
              <a:defRPr/>
            </a:pPr>
            <a:fld id="{BDF87419-F5FA-5E48-8194-0A8567C6C82D}" type="datetimeFigureOut">
              <a:rPr lang="en-US"/>
              <a:pPr>
                <a:defRPr/>
              </a:pPr>
              <a:t>5/22/2026</a:t>
            </a:fld>
            <a:endParaRPr lang="en-US"/>
          </a:p>
        </p:txBody>
      </p:sp>
      <p:sp>
        <p:nvSpPr>
          <p:cNvPr id="5" name="Footer Placeholder 4">
            <a:extLst>
              <a:ext uri="{FF2B5EF4-FFF2-40B4-BE49-F238E27FC236}">
                <a16:creationId xmlns:a16="http://schemas.microsoft.com/office/drawing/2014/main" id="{50EB73F4-9A39-E973-A330-DFEEB8D6428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6078CF3-0DC8-CFE3-4678-2DBAFF5C9D24}"/>
              </a:ext>
            </a:extLst>
          </p:cNvPr>
          <p:cNvSpPr>
            <a:spLocks noGrp="1"/>
          </p:cNvSpPr>
          <p:nvPr>
            <p:ph type="sldNum" sz="quarter" idx="12"/>
          </p:nvPr>
        </p:nvSpPr>
        <p:spPr/>
        <p:txBody>
          <a:bodyPr/>
          <a:lstStyle>
            <a:lvl1pPr>
              <a:defRPr/>
            </a:lvl1pPr>
          </a:lstStyle>
          <a:p>
            <a:pPr>
              <a:defRPr/>
            </a:pPr>
            <a:fld id="{29DE1550-DB4A-6A45-8B8E-CF62B330646F}" type="slidenum">
              <a:rPr lang="en-US" altLang="en-US"/>
              <a:pPr>
                <a:defRPr/>
              </a:pPr>
              <a:t>‹#›</a:t>
            </a:fld>
            <a:endParaRPr lang="en-US" altLang="en-US"/>
          </a:p>
        </p:txBody>
      </p:sp>
    </p:spTree>
    <p:extLst>
      <p:ext uri="{BB962C8B-B14F-4D97-AF65-F5344CB8AC3E}">
        <p14:creationId xmlns:p14="http://schemas.microsoft.com/office/powerpoint/2010/main" val="4107324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2E4CE63-2D1A-AF61-04B7-62EF8C49AC54}"/>
              </a:ext>
            </a:extLst>
          </p:cNvPr>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3461DA91-1D97-DAC9-D197-063CCAD76685}"/>
              </a:ext>
            </a:extLst>
          </p:cNvPr>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118B871-CF62-CE5A-E720-D98B2520CEEF}"/>
              </a:ext>
            </a:extLst>
          </p:cNvPr>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264296C4-DBE3-7040-AEB0-6220C6C829A5}" type="datetimeFigureOut">
              <a:rPr lang="en-US"/>
              <a:pPr>
                <a:defRPr/>
              </a:pPr>
              <a:t>5/22/2026</a:t>
            </a:fld>
            <a:endParaRPr lang="en-US"/>
          </a:p>
        </p:txBody>
      </p:sp>
      <p:sp>
        <p:nvSpPr>
          <p:cNvPr id="5" name="Footer Placeholder 4">
            <a:extLst>
              <a:ext uri="{FF2B5EF4-FFF2-40B4-BE49-F238E27FC236}">
                <a16:creationId xmlns:a16="http://schemas.microsoft.com/office/drawing/2014/main" id="{64315F57-38CB-B03C-EA0C-05FAF64AE5A7}"/>
              </a:ext>
            </a:extLst>
          </p:cNvPr>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CB5772A6-0718-37BA-7655-DB16B7F9EA75}"/>
              </a:ext>
            </a:extLst>
          </p:cNvPr>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1A3C7280-C190-A443-A107-2A222B84445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0D5D7-FB6C-EB8A-4A14-0C377DF62E8B}"/>
              </a:ext>
            </a:extLst>
          </p:cNvPr>
          <p:cNvPicPr>
            <a:picLocks noChangeAspect="1"/>
          </p:cNvPicPr>
          <p:nvPr/>
        </p:nvPicPr>
        <p:blipFill>
          <a:blip r:embed="rId3">
            <a:extLst>
              <a:ext uri="{28A0092B-C50C-407E-A947-70E740481C1C}">
                <a14:useLocalDpi xmlns:a14="http://schemas.microsoft.com/office/drawing/2010/main" val="0"/>
              </a:ext>
            </a:extLst>
          </a:blip>
          <a:srcRect t="23913"/>
          <a:stretch>
            <a:fillRect/>
          </a:stretch>
        </p:blipFill>
        <p:spPr>
          <a:xfrm>
            <a:off x="1" y="1047750"/>
            <a:ext cx="9144000" cy="3429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8E981E-CCCC-7EE9-4081-0D4ECC093867}"/>
              </a:ext>
            </a:extLst>
          </p:cNvPr>
          <p:cNvPicPr>
            <a:picLocks noChangeAspect="1"/>
          </p:cNvPicPr>
          <p:nvPr/>
        </p:nvPicPr>
        <p:blipFill>
          <a:blip r:embed="rId3"/>
          <a:stretch>
            <a:fillRect/>
          </a:stretch>
        </p:blipFill>
        <p:spPr>
          <a:xfrm>
            <a:off x="0" y="0"/>
            <a:ext cx="9144000" cy="44929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C6D24-102B-90C9-92B6-C6A7FB03A2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6DB016-808C-DB50-9B67-FAE3A10FDB02}"/>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406895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D34C-1023-EA2A-580E-3AFF120F2B1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FE4C91-2EBE-5DF6-0E73-557016F23E00}"/>
              </a:ext>
            </a:extLst>
          </p:cNvPr>
          <p:cNvPicPr>
            <a:picLocks noChangeAspect="1"/>
          </p:cNvPicPr>
          <p:nvPr/>
        </p:nvPicPr>
        <p:blipFill>
          <a:blip r:embed="rId3"/>
          <a:stretch>
            <a:fillRect/>
          </a:stretch>
        </p:blipFill>
        <p:spPr>
          <a:xfrm>
            <a:off x="0" y="0"/>
            <a:ext cx="9144000" cy="4475436"/>
          </a:xfrm>
          <a:prstGeom prst="rect">
            <a:avLst/>
          </a:prstGeom>
        </p:spPr>
      </p:pic>
    </p:spTree>
    <p:extLst>
      <p:ext uri="{BB962C8B-B14F-4D97-AF65-F5344CB8AC3E}">
        <p14:creationId xmlns:p14="http://schemas.microsoft.com/office/powerpoint/2010/main" val="1605043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ACEB-D3FA-7013-0C28-C0B01B064C5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5820C27-D9B7-100A-4A47-52E324BE11E0}"/>
              </a:ext>
            </a:extLst>
          </p:cNvPr>
          <p:cNvPicPr>
            <a:picLocks noChangeAspect="1"/>
          </p:cNvPicPr>
          <p:nvPr/>
        </p:nvPicPr>
        <p:blipFill>
          <a:blip r:embed="rId3"/>
          <a:stretch>
            <a:fillRect/>
          </a:stretch>
        </p:blipFill>
        <p:spPr>
          <a:xfrm>
            <a:off x="0" y="0"/>
            <a:ext cx="9144000" cy="4476750"/>
          </a:xfrm>
          <a:prstGeom prst="rect">
            <a:avLst/>
          </a:prstGeom>
        </p:spPr>
      </p:pic>
    </p:spTree>
    <p:extLst>
      <p:ext uri="{BB962C8B-B14F-4D97-AF65-F5344CB8AC3E}">
        <p14:creationId xmlns:p14="http://schemas.microsoft.com/office/powerpoint/2010/main" val="2219578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2FEB2-FC67-2410-AE12-67FB27DFD7E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D9FBEB-2B81-5843-2217-D0FA6A0A70C7}"/>
              </a:ext>
            </a:extLst>
          </p:cNvPr>
          <p:cNvPicPr>
            <a:picLocks noChangeAspect="1"/>
          </p:cNvPicPr>
          <p:nvPr/>
        </p:nvPicPr>
        <p:blipFill>
          <a:blip r:embed="rId3"/>
          <a:stretch>
            <a:fillRect/>
          </a:stretch>
        </p:blipFill>
        <p:spPr>
          <a:xfrm>
            <a:off x="0" y="0"/>
            <a:ext cx="9144000" cy="4476750"/>
          </a:xfrm>
          <a:prstGeom prst="rect">
            <a:avLst/>
          </a:prstGeom>
        </p:spPr>
      </p:pic>
    </p:spTree>
    <p:extLst>
      <p:ext uri="{BB962C8B-B14F-4D97-AF65-F5344CB8AC3E}">
        <p14:creationId xmlns:p14="http://schemas.microsoft.com/office/powerpoint/2010/main" val="1917772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8B36A-8CA7-5B75-6660-1371FF07B57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D6C80A-2BD7-5669-81BD-8450D47BF4D8}"/>
              </a:ext>
            </a:extLst>
          </p:cNvPr>
          <p:cNvPicPr>
            <a:picLocks noChangeAspect="1"/>
          </p:cNvPicPr>
          <p:nvPr/>
        </p:nvPicPr>
        <p:blipFill>
          <a:blip r:embed="rId3"/>
          <a:stretch>
            <a:fillRect/>
          </a:stretch>
        </p:blipFill>
        <p:spPr>
          <a:xfrm>
            <a:off x="0" y="0"/>
            <a:ext cx="9144000" cy="4468358"/>
          </a:xfrm>
          <a:prstGeom prst="rect">
            <a:avLst/>
          </a:prstGeom>
        </p:spPr>
      </p:pic>
    </p:spTree>
    <p:extLst>
      <p:ext uri="{BB962C8B-B14F-4D97-AF65-F5344CB8AC3E}">
        <p14:creationId xmlns:p14="http://schemas.microsoft.com/office/powerpoint/2010/main" val="1122328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A267-B860-BC53-1961-98B82D60C6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ECE9E4-8380-EF41-6769-A33D8C53C98D}"/>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2076069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72551-D9EA-1CC5-2CBC-3A2D9A158C7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0C92A63-8717-FE54-274B-721AEB6D4C3D}"/>
              </a:ext>
            </a:extLst>
          </p:cNvPr>
          <p:cNvPicPr>
            <a:picLocks noChangeAspect="1"/>
          </p:cNvPicPr>
          <p:nvPr/>
        </p:nvPicPr>
        <p:blipFill>
          <a:blip r:embed="rId3"/>
          <a:stretch>
            <a:fillRect/>
          </a:stretch>
        </p:blipFill>
        <p:spPr>
          <a:xfrm>
            <a:off x="0" y="0"/>
            <a:ext cx="9144000" cy="4481015"/>
          </a:xfrm>
          <a:prstGeom prst="rect">
            <a:avLst/>
          </a:prstGeom>
        </p:spPr>
      </p:pic>
    </p:spTree>
    <p:extLst>
      <p:ext uri="{BB962C8B-B14F-4D97-AF65-F5344CB8AC3E}">
        <p14:creationId xmlns:p14="http://schemas.microsoft.com/office/powerpoint/2010/main" val="2642571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5D152-886E-4AE1-083F-8EA24EF0FE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1C60C2D-FDFF-4CFA-32B1-BE82ECFB857C}"/>
              </a:ext>
            </a:extLst>
          </p:cNvPr>
          <p:cNvPicPr>
            <a:picLocks noChangeAspect="1"/>
          </p:cNvPicPr>
          <p:nvPr/>
        </p:nvPicPr>
        <p:blipFill>
          <a:blip r:embed="rId3"/>
          <a:stretch>
            <a:fillRect/>
          </a:stretch>
        </p:blipFill>
        <p:spPr>
          <a:xfrm>
            <a:off x="0" y="0"/>
            <a:ext cx="9144000" cy="4471892"/>
          </a:xfrm>
          <a:prstGeom prst="rect">
            <a:avLst/>
          </a:prstGeom>
        </p:spPr>
      </p:pic>
    </p:spTree>
    <p:extLst>
      <p:ext uri="{BB962C8B-B14F-4D97-AF65-F5344CB8AC3E}">
        <p14:creationId xmlns:p14="http://schemas.microsoft.com/office/powerpoint/2010/main" val="2522997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68031-DA89-51F1-EFFA-EC4FB5BBBA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E647F14-8220-64BD-83F1-7B4A5E35C305}"/>
              </a:ext>
            </a:extLst>
          </p:cNvPr>
          <p:cNvPicPr>
            <a:picLocks noChangeAspect="1"/>
          </p:cNvPicPr>
          <p:nvPr/>
        </p:nvPicPr>
        <p:blipFill>
          <a:blip r:embed="rId3"/>
          <a:stretch>
            <a:fillRect/>
          </a:stretch>
        </p:blipFill>
        <p:spPr>
          <a:xfrm>
            <a:off x="0" y="0"/>
            <a:ext cx="9144000" cy="4477938"/>
          </a:xfrm>
          <a:prstGeom prst="rect">
            <a:avLst/>
          </a:prstGeom>
        </p:spPr>
      </p:pic>
    </p:spTree>
    <p:extLst>
      <p:ext uri="{BB962C8B-B14F-4D97-AF65-F5344CB8AC3E}">
        <p14:creationId xmlns:p14="http://schemas.microsoft.com/office/powerpoint/2010/main" val="3623311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5761D-7AF7-0362-0C7F-6AA5667ABD4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E72B03-E2E2-3DE8-9607-27AC6BF93F51}"/>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2174710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B060D-700E-DBD3-C2D1-A90E4185988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9D23D1A-5DA2-C7C2-DA07-29658B4A3627}"/>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237894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2E8B7-4C2D-550E-9875-24C11F9A6B5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BA2E27-552D-555B-8786-66A792D814E6}"/>
              </a:ext>
            </a:extLst>
          </p:cNvPr>
          <p:cNvPicPr>
            <a:picLocks noChangeAspect="1"/>
          </p:cNvPicPr>
          <p:nvPr/>
        </p:nvPicPr>
        <p:blipFill>
          <a:blip r:embed="rId3"/>
          <a:stretch>
            <a:fillRect/>
          </a:stretch>
        </p:blipFill>
        <p:spPr>
          <a:xfrm>
            <a:off x="0" y="-95250"/>
            <a:ext cx="9144000" cy="4573953"/>
          </a:xfrm>
          <a:prstGeom prst="rect">
            <a:avLst/>
          </a:prstGeom>
        </p:spPr>
      </p:pic>
    </p:spTree>
    <p:extLst>
      <p:ext uri="{BB962C8B-B14F-4D97-AF65-F5344CB8AC3E}">
        <p14:creationId xmlns:p14="http://schemas.microsoft.com/office/powerpoint/2010/main" val="503711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93552-1A46-F641-D24B-59044B469DE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5CEB24C-84D0-B011-6EAD-2AD4DC25CCFE}"/>
              </a:ext>
            </a:extLst>
          </p:cNvPr>
          <p:cNvPicPr>
            <a:picLocks noChangeAspect="1"/>
          </p:cNvPicPr>
          <p:nvPr/>
        </p:nvPicPr>
        <p:blipFill>
          <a:blip r:embed="rId3"/>
          <a:stretch>
            <a:fillRect/>
          </a:stretch>
        </p:blipFill>
        <p:spPr>
          <a:xfrm>
            <a:off x="0" y="1"/>
            <a:ext cx="9144000" cy="4476750"/>
          </a:xfrm>
          <a:prstGeom prst="rect">
            <a:avLst/>
          </a:prstGeom>
        </p:spPr>
      </p:pic>
    </p:spTree>
    <p:extLst>
      <p:ext uri="{BB962C8B-B14F-4D97-AF65-F5344CB8AC3E}">
        <p14:creationId xmlns:p14="http://schemas.microsoft.com/office/powerpoint/2010/main" val="1413320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02B67-01A7-51E4-6F64-5F5B5B523EF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7FE0C7C-622B-EF02-CFA6-8C024DBAF8D1}"/>
              </a:ext>
            </a:extLst>
          </p:cNvPr>
          <p:cNvPicPr>
            <a:picLocks noChangeAspect="1"/>
          </p:cNvPicPr>
          <p:nvPr/>
        </p:nvPicPr>
        <p:blipFill>
          <a:blip r:embed="rId3"/>
          <a:stretch>
            <a:fillRect/>
          </a:stretch>
        </p:blipFill>
        <p:spPr>
          <a:xfrm>
            <a:off x="0" y="0"/>
            <a:ext cx="9144000" cy="4471355"/>
          </a:xfrm>
          <a:prstGeom prst="rect">
            <a:avLst/>
          </a:prstGeom>
        </p:spPr>
      </p:pic>
    </p:spTree>
    <p:extLst>
      <p:ext uri="{BB962C8B-B14F-4D97-AF65-F5344CB8AC3E}">
        <p14:creationId xmlns:p14="http://schemas.microsoft.com/office/powerpoint/2010/main" val="3579345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8A07-108D-F419-40D0-EC057CF0F98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3E39B9E-9F47-4712-1719-D0D503C3A463}"/>
              </a:ext>
            </a:extLst>
          </p:cNvPr>
          <p:cNvPicPr>
            <a:picLocks noChangeAspect="1"/>
          </p:cNvPicPr>
          <p:nvPr/>
        </p:nvPicPr>
        <p:blipFill>
          <a:blip r:embed="rId3"/>
          <a:stretch>
            <a:fillRect/>
          </a:stretch>
        </p:blipFill>
        <p:spPr>
          <a:xfrm>
            <a:off x="0" y="0"/>
            <a:ext cx="9144000" cy="4465079"/>
          </a:xfrm>
          <a:prstGeom prst="rect">
            <a:avLst/>
          </a:prstGeom>
        </p:spPr>
      </p:pic>
    </p:spTree>
    <p:extLst>
      <p:ext uri="{BB962C8B-B14F-4D97-AF65-F5344CB8AC3E}">
        <p14:creationId xmlns:p14="http://schemas.microsoft.com/office/powerpoint/2010/main" val="2005168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CE1A5-B4E2-0CEB-8076-0ECA808F242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065463-A667-A588-D8A1-653A099D1506}"/>
              </a:ext>
            </a:extLst>
          </p:cNvPr>
          <p:cNvPicPr>
            <a:picLocks noChangeAspect="1"/>
          </p:cNvPicPr>
          <p:nvPr/>
        </p:nvPicPr>
        <p:blipFill>
          <a:blip r:embed="rId3"/>
          <a:stretch>
            <a:fillRect/>
          </a:stretch>
        </p:blipFill>
        <p:spPr>
          <a:xfrm>
            <a:off x="0" y="-95249"/>
            <a:ext cx="9144000" cy="4572000"/>
          </a:xfrm>
          <a:prstGeom prst="rect">
            <a:avLst/>
          </a:prstGeom>
        </p:spPr>
      </p:pic>
    </p:spTree>
    <p:extLst>
      <p:ext uri="{BB962C8B-B14F-4D97-AF65-F5344CB8AC3E}">
        <p14:creationId xmlns:p14="http://schemas.microsoft.com/office/powerpoint/2010/main" val="3450276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121AB-90B7-D6E2-996E-D25675DFC0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36DA49-80C4-553C-6F47-F98822900F65}"/>
              </a:ext>
            </a:extLst>
          </p:cNvPr>
          <p:cNvPicPr>
            <a:picLocks noChangeAspect="1"/>
          </p:cNvPicPr>
          <p:nvPr/>
        </p:nvPicPr>
        <p:blipFill>
          <a:blip r:embed="rId3"/>
          <a:stretch>
            <a:fillRect/>
          </a:stretch>
        </p:blipFill>
        <p:spPr>
          <a:xfrm>
            <a:off x="0" y="0"/>
            <a:ext cx="9144000" cy="4476750"/>
          </a:xfrm>
          <a:prstGeom prst="rect">
            <a:avLst/>
          </a:prstGeom>
        </p:spPr>
      </p:pic>
      <p:pic>
        <p:nvPicPr>
          <p:cNvPr id="4" name="Picture 3">
            <a:extLst>
              <a:ext uri="{FF2B5EF4-FFF2-40B4-BE49-F238E27FC236}">
                <a16:creationId xmlns:a16="http://schemas.microsoft.com/office/drawing/2014/main" id="{CAC7F0DE-78ED-2030-69B8-A3524BDB02D5}"/>
              </a:ext>
            </a:extLst>
          </p:cNvPr>
          <p:cNvPicPr>
            <a:picLocks noChangeAspect="1"/>
          </p:cNvPicPr>
          <p:nvPr/>
        </p:nvPicPr>
        <p:blipFill>
          <a:blip r:embed="rId4"/>
          <a:stretch>
            <a:fillRect/>
          </a:stretch>
        </p:blipFill>
        <p:spPr>
          <a:xfrm>
            <a:off x="6477000" y="1742959"/>
            <a:ext cx="828791" cy="828791"/>
          </a:xfrm>
          <a:prstGeom prst="rect">
            <a:avLst/>
          </a:prstGeom>
        </p:spPr>
      </p:pic>
    </p:spTree>
    <p:extLst>
      <p:ext uri="{BB962C8B-B14F-4D97-AF65-F5344CB8AC3E}">
        <p14:creationId xmlns:p14="http://schemas.microsoft.com/office/powerpoint/2010/main" val="446877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9CA3357-FF5E-40F9-8B70-6B31F6D765FA}">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98</TotalTime>
  <Words>8023</Words>
  <Application>Microsoft Office PowerPoint</Application>
  <PresentationFormat>On-screen Show (16:9)</PresentationFormat>
  <Paragraphs>346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Angie</dc:creator>
  <cp:lastModifiedBy>Stephen Campbell</cp:lastModifiedBy>
  <cp:revision>13</cp:revision>
  <dcterms:created xsi:type="dcterms:W3CDTF">2024-02-21T13:30:06Z</dcterms:created>
  <dcterms:modified xsi:type="dcterms:W3CDTF">2026-05-22T11:42:35Z</dcterms:modified>
</cp:coreProperties>
</file>