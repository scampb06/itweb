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483394"/>
            <a:ext cx="82387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54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🔐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2628" y="1664494"/>
            <a:ext cx="82387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ITWeb Security Summit · Johannesburg 2026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533400" y="1961555"/>
            <a:ext cx="8077200" cy="1997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44"/>
              </a:lnSpc>
              <a:buNone/>
            </a:pPr>
            <a:r>
              <a:rPr lang="en-US" sz="456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Hybrid Cyber &amp; Information Operations</a:t>
            </a:r>
            <a:endParaRPr lang="en-US" sz="4560" dirty="0"/>
          </a:p>
          <a:p>
            <a:pPr algn="ctr" indent="0" marL="0">
              <a:lnSpc>
                <a:spcPts val="5244"/>
              </a:lnSpc>
              <a:buNone/>
            </a:pPr>
            <a:r>
              <a:rPr lang="en-US" sz="456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 2026</a:t>
            </a:r>
            <a:endParaRPr lang="en-US" sz="4560" dirty="0"/>
          </a:p>
        </p:txBody>
      </p:sp>
      <p:sp>
        <p:nvSpPr>
          <p:cNvPr id="5" name="Text 3"/>
          <p:cNvSpPr/>
          <p:nvPr/>
        </p:nvSpPr>
        <p:spPr>
          <a:xfrm>
            <a:off x="1524000" y="4111526"/>
            <a:ext cx="609600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attackers blend disruption and influence — and why </a:t>
            </a:r>
            <a:pPr algn="ctr" indent="0" marL="0">
              <a:lnSpc>
                <a:spcPts val="2160"/>
              </a:lnSpc>
              <a:buNone/>
            </a:pPr>
            <a:r>
              <a:rPr lang="en-US" sz="1440" i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fact-checking alone will never be enough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75" y="1148804"/>
            <a:ext cx="1257300" cy="495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868984"/>
            <a:ext cx="2603450" cy="2385268"/>
          </a:xfrm>
          <a:prstGeom prst="roundRect">
            <a:avLst>
              <a:gd name="adj" fmla="val 46002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70200" y="1868984"/>
            <a:ext cx="2603450" cy="2385268"/>
          </a:xfrm>
          <a:prstGeom prst="roundRect">
            <a:avLst>
              <a:gd name="adj" fmla="val 46002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07001" y="1868984"/>
            <a:ext cx="2603599" cy="2385268"/>
          </a:xfrm>
          <a:prstGeom prst="roundRect">
            <a:avLst>
              <a:gd name="adj" fmla="val 46002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889099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Roadmap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33400" y="1129754"/>
            <a:ext cx="8238744" cy="54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Today's </a:t>
            </a:r>
            <a:pPr indent="0" marL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Agenda</a:t>
            </a:r>
            <a:endParaRPr lang="en-US" sz="2880" dirty="0"/>
          </a:p>
        </p:txBody>
      </p:sp>
      <p:sp>
        <p:nvSpPr>
          <p:cNvPr id="8" name="Text 5"/>
          <p:cNvSpPr/>
          <p:nvPr/>
        </p:nvSpPr>
        <p:spPr>
          <a:xfrm>
            <a:off x="725686" y="2061270"/>
            <a:ext cx="226325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🌍</a:t>
            </a:r>
            <a:endParaRPr lang="en-US" sz="1920" dirty="0"/>
          </a:p>
        </p:txBody>
      </p:sp>
      <p:sp>
        <p:nvSpPr>
          <p:cNvPr id="9" name="Text 6"/>
          <p:cNvSpPr/>
          <p:nvPr/>
        </p:nvSpPr>
        <p:spPr>
          <a:xfrm>
            <a:off x="725686" y="2503140"/>
            <a:ext cx="226325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 1 · Global Landscape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725686" y="2757636"/>
            <a:ext cx="2218879" cy="130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ways to weaponise ICT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modes of hybrid attack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prevalent types + triggers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protagonist classes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Landmark cases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Drivers of hybridisation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acceleration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3462486" y="2061270"/>
            <a:ext cx="2263256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🌍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3462486" y="2503140"/>
            <a:ext cx="226325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 2 · Africa &amp; South Africa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3462486" y="2757636"/>
            <a:ext cx="2218879" cy="130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Africa: a different operational environment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harm to ordinary Africans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Deadliest harms &amp; stark health example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Africa: two dominant attack patterns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South Africa: three simultaneous tracks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6199287" y="2061270"/>
            <a:ext cx="226340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🛡️</a:t>
            </a:r>
            <a:endParaRPr lang="en-US" sz="1920" dirty="0"/>
          </a:p>
        </p:txBody>
      </p:sp>
      <p:sp>
        <p:nvSpPr>
          <p:cNvPr id="15" name="Text 12"/>
          <p:cNvSpPr/>
          <p:nvPr/>
        </p:nvSpPr>
        <p:spPr>
          <a:xfrm>
            <a:off x="6199287" y="2503140"/>
            <a:ext cx="226340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 3 · Response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6199287" y="2757636"/>
            <a:ext cx="2219027" cy="93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one-size-fits-all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Multilateral frameworks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firms can do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communities can do</a:t>
            </a:r>
            <a:endParaRPr lang="en-US" sz="864" dirty="0"/>
          </a:p>
          <a:p>
            <a:pPr marL="342900" indent="-342900">
              <a:lnSpc>
                <a:spcPts val="1469"/>
              </a:lnSpc>
              <a:buSzPct val="100000"/>
              <a:buChar char="•"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Closing: Mandela + OASIS</a:t>
            </a:r>
            <a:endParaRPr lang="en-US" sz="8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-321171"/>
            <a:ext cx="6648450" cy="1044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-580876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Framing the Problem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533400" y="-340221"/>
            <a:ext cx="8077200" cy="109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Ways to Weaponise </a:t>
            </a:r>
            <a:pPr indent="0" marL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Information &amp; Communication</a:t>
            </a:r>
            <a:endParaRPr lang="en-US" sz="2880" dirty="0"/>
          </a:p>
        </p:txBody>
      </p:sp>
      <p:sp>
        <p:nvSpPr>
          <p:cNvPr id="5" name="Text 2"/>
          <p:cNvSpPr/>
          <p:nvPr/>
        </p:nvSpPr>
        <p:spPr>
          <a:xfrm>
            <a:off x="533400" y="795338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Focusing only on disinformation limits us to veracity-based countermeasures. The full attack surface is wider.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2628" y="5569148"/>
            <a:ext cx="82387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4"/>
              </a:lnSpc>
              <a:buNone/>
            </a:pPr>
            <a:r>
              <a:rPr lang="en-US" sz="816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OASIS / STIX extension framing · All four quadrants require distinct countermeasures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0" y="1009204"/>
            <a:ext cx="2124075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645444"/>
            <a:ext cx="2603450" cy="2466677"/>
          </a:xfrm>
          <a:prstGeom prst="roundRect">
            <a:avLst>
              <a:gd name="adj" fmla="val 44484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5686" y="3345656"/>
            <a:ext cx="2218879" cy="416421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270200" y="1645444"/>
            <a:ext cx="2603450" cy="2466677"/>
          </a:xfrm>
          <a:prstGeom prst="roundRect">
            <a:avLst>
              <a:gd name="adj" fmla="val 44484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462486" y="3345656"/>
            <a:ext cx="2218879" cy="574179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07001" y="1645444"/>
            <a:ext cx="2603599" cy="2466677"/>
          </a:xfrm>
          <a:prstGeom prst="roundRect">
            <a:avLst>
              <a:gd name="adj" fmla="val 44484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99287" y="3345656"/>
            <a:ext cx="2219027" cy="416421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749498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Taxonomy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533400" y="990154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Modes of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Hybrid Attack</a:t>
            </a:r>
            <a:endParaRPr lang="en-US" sz="2640" dirty="0"/>
          </a:p>
        </p:txBody>
      </p:sp>
      <p:sp>
        <p:nvSpPr>
          <p:cNvPr id="11" name="Text 8"/>
          <p:cNvSpPr/>
          <p:nvPr/>
        </p:nvSpPr>
        <p:spPr>
          <a:xfrm>
            <a:off x="725686" y="1837730"/>
            <a:ext cx="226325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</a:t>
            </a:r>
            <a:endParaRPr lang="en-US" sz="2160" dirty="0"/>
          </a:p>
        </p:txBody>
      </p:sp>
      <p:sp>
        <p:nvSpPr>
          <p:cNvPr id="12" name="Text 9"/>
          <p:cNvSpPr/>
          <p:nvPr/>
        </p:nvSpPr>
        <p:spPr>
          <a:xfrm>
            <a:off x="725686" y="2325291"/>
            <a:ext cx="2263256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1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25686" y="2591991"/>
            <a:ext cx="2263256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Cyber-Enabled Influence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725686" y="2885331"/>
            <a:ext cx="2218879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Cyber operation </a:t>
            </a:r>
            <a:pPr indent="0" marL="0">
              <a:lnSpc>
                <a:spcPts val="1332"/>
              </a:lnSpc>
              <a:buNone/>
            </a:pPr>
            <a:r>
              <a:rPr lang="en-US" sz="888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serves</a:t>
            </a:r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 influence goal. With or without intrusion (strict vs. broad).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25686" y="3345656"/>
            <a:ext cx="2218879" cy="4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Hack-and-leak, defacement, ransomware-as-coercion, CIB/fake accounts</a:t>
            </a:r>
            <a:endParaRPr lang="en-US" sz="828" dirty="0"/>
          </a:p>
        </p:txBody>
      </p:sp>
      <p:sp>
        <p:nvSpPr>
          <p:cNvPr id="16" name="Text 13"/>
          <p:cNvSpPr/>
          <p:nvPr/>
        </p:nvSpPr>
        <p:spPr>
          <a:xfrm>
            <a:off x="3462486" y="1837730"/>
            <a:ext cx="226325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🎭</a:t>
            </a:r>
            <a:endParaRPr lang="en-US" sz="2160" dirty="0"/>
          </a:p>
        </p:txBody>
      </p:sp>
      <p:sp>
        <p:nvSpPr>
          <p:cNvPr id="17" name="Text 14"/>
          <p:cNvSpPr/>
          <p:nvPr/>
        </p:nvSpPr>
        <p:spPr>
          <a:xfrm>
            <a:off x="3462486" y="2325291"/>
            <a:ext cx="2263256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2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3462486" y="2591991"/>
            <a:ext cx="2263256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Influence-Enabled Cyber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3462486" y="2885331"/>
            <a:ext cx="2218879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Disinformation or deception </a:t>
            </a:r>
            <a:pPr indent="0" marL="0">
              <a:lnSpc>
                <a:spcPts val="1332"/>
              </a:lnSpc>
              <a:buNone/>
            </a:pPr>
            <a:r>
              <a:rPr lang="en-US" sz="888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enables</a:t>
            </a:r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intrusion. The lie is the key.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3462486" y="3345656"/>
            <a:ext cx="2218879" cy="574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Vishing help desks, deepfake CFO fraud, spearphishing, fraudulent client impersonation</a:t>
            </a:r>
            <a:endParaRPr lang="en-US" sz="828" dirty="0"/>
          </a:p>
        </p:txBody>
      </p:sp>
      <p:sp>
        <p:nvSpPr>
          <p:cNvPr id="21" name="Text 18"/>
          <p:cNvSpPr/>
          <p:nvPr/>
        </p:nvSpPr>
        <p:spPr>
          <a:xfrm>
            <a:off x="6199287" y="1837730"/>
            <a:ext cx="22634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endParaRPr lang="en-US" sz="2160" dirty="0"/>
          </a:p>
        </p:txBody>
      </p:sp>
      <p:sp>
        <p:nvSpPr>
          <p:cNvPr id="22" name="Text 19"/>
          <p:cNvSpPr/>
          <p:nvPr/>
        </p:nvSpPr>
        <p:spPr>
          <a:xfrm>
            <a:off x="6199287" y="2325291"/>
            <a:ext cx="2263408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3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6199287" y="2591991"/>
            <a:ext cx="2263408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Parallel Operations</a:t>
            </a:r>
            <a:endParaRPr lang="en-US" sz="1140" dirty="0"/>
          </a:p>
        </p:txBody>
      </p:sp>
      <p:sp>
        <p:nvSpPr>
          <p:cNvPr id="24" name="Text 21"/>
          <p:cNvSpPr/>
          <p:nvPr/>
        </p:nvSpPr>
        <p:spPr>
          <a:xfrm>
            <a:off x="6199287" y="2885331"/>
            <a:ext cx="2219027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actor runs cyber and influence tracks simultaneously but independently.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6199287" y="3345656"/>
            <a:ext cx="2219027" cy="4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PRC pressure on Taiwan; Russian election interference; Iran–Hamas operations</a:t>
            </a:r>
            <a:endParaRPr lang="en-US" sz="828" dirty="0"/>
          </a:p>
        </p:txBody>
      </p:sp>
      <p:sp>
        <p:nvSpPr>
          <p:cNvPr id="26" name="Text 23"/>
          <p:cNvSpPr/>
          <p:nvPr/>
        </p:nvSpPr>
        <p:spPr>
          <a:xfrm>
            <a:off x="452628" y="4234011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EEAS 4th Annual FIMI Report (2025): increased hybridisation is one of the top three global FIMI trends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547688"/>
            <a:ext cx="1790700" cy="409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100138"/>
            <a:ext cx="3971925" cy="3755380"/>
          </a:xfrm>
          <a:prstGeom prst="roundRect">
            <a:avLst>
              <a:gd name="adj" fmla="val 29219"/>
            </a:avLst>
          </a:prstGeom>
          <a:solidFill>
            <a:srgbClr val="E63946">
              <a:alpha val="7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10505" y="1732806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0505" y="2485876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10505" y="3238946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0505" y="3992017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38675" y="1100138"/>
            <a:ext cx="3971925" cy="3755380"/>
          </a:xfrm>
          <a:prstGeom prst="roundRect">
            <a:avLst>
              <a:gd name="adj" fmla="val 29219"/>
            </a:avLst>
          </a:prstGeom>
          <a:solidFill>
            <a:srgbClr val="F4A261">
              <a:alpha val="7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15780" y="1732806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15780" y="2485876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15780" y="3238946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15780" y="3992017"/>
            <a:ext cx="3617714" cy="686395"/>
          </a:xfrm>
          <a:prstGeom prst="roundRect">
            <a:avLst>
              <a:gd name="adj" fmla="val 10657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3400" y="287982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 Prevalence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533400" y="528638"/>
            <a:ext cx="8238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Most Prevalent 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Attack Types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0505" y="1295549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🔓</a:t>
            </a:r>
            <a:endParaRPr lang="en-US" sz="1560" dirty="0"/>
          </a:p>
        </p:txBody>
      </p:sp>
      <p:sp>
        <p:nvSpPr>
          <p:cNvPr id="16" name="Text 13"/>
          <p:cNvSpPr/>
          <p:nvPr/>
        </p:nvSpPr>
        <p:spPr>
          <a:xfrm>
            <a:off x="986730" y="1277243"/>
            <a:ext cx="149618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DEFINITION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986730" y="1460004"/>
            <a:ext cx="1496187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792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unauthorised intrusion</a:t>
            </a:r>
            <a:endParaRPr lang="en-US" sz="792" dirty="0"/>
          </a:p>
        </p:txBody>
      </p:sp>
      <p:sp>
        <p:nvSpPr>
          <p:cNvPr id="18" name="Text 15"/>
          <p:cNvSpPr/>
          <p:nvPr/>
        </p:nvSpPr>
        <p:spPr>
          <a:xfrm>
            <a:off x="860971" y="1824186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Double-Extortion Ransomware (2f)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860971" y="2021532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volume globally. Intrusion + leak-site psychological pressure. Every ransomware attack is a hybrid attack.</a:t>
            </a:r>
            <a:endParaRPr lang="en-US" sz="804" dirty="0"/>
          </a:p>
        </p:txBody>
      </p:sp>
      <p:sp>
        <p:nvSpPr>
          <p:cNvPr id="20" name="Text 17"/>
          <p:cNvSpPr/>
          <p:nvPr/>
        </p:nvSpPr>
        <p:spPr>
          <a:xfrm>
            <a:off x="860971" y="2577257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Hack-and-Leak (1b)</a:t>
            </a:r>
            <a:endParaRPr lang="en-US" sz="936" dirty="0"/>
          </a:p>
        </p:txBody>
      </p:sp>
      <p:sp>
        <p:nvSpPr>
          <p:cNvPr id="21" name="Text 18"/>
          <p:cNvSpPr/>
          <p:nvPr/>
        </p:nvSpPr>
        <p:spPr>
          <a:xfrm>
            <a:off x="860971" y="2774603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frequency, highest strategic impact. Requires advanced actor. Election/geopolitical trigger.</a:t>
            </a:r>
            <a:endParaRPr lang="en-US" sz="804" dirty="0"/>
          </a:p>
        </p:txBody>
      </p:sp>
      <p:sp>
        <p:nvSpPr>
          <p:cNvPr id="22" name="Text 19"/>
          <p:cNvSpPr/>
          <p:nvPr/>
        </p:nvSpPr>
        <p:spPr>
          <a:xfrm>
            <a:off x="860971" y="3330327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Defacement &amp; Signage Hacks (1f)</a:t>
            </a:r>
            <a:endParaRPr lang="en-US" sz="936" dirty="0"/>
          </a:p>
        </p:txBody>
      </p:sp>
      <p:sp>
        <p:nvSpPr>
          <p:cNvPr id="23" name="Text 20"/>
          <p:cNvSpPr/>
          <p:nvPr/>
        </p:nvSpPr>
        <p:spPr>
          <a:xfrm>
            <a:off x="860971" y="3527673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in conflict and geopolitical crisis contexts. PRC vs Taiwan; Gaza war.</a:t>
            </a:r>
            <a:endParaRPr lang="en-US" sz="804" dirty="0"/>
          </a:p>
        </p:txBody>
      </p:sp>
      <p:sp>
        <p:nvSpPr>
          <p:cNvPr id="24" name="Text 21"/>
          <p:cNvSpPr/>
          <p:nvPr/>
        </p:nvSpPr>
        <p:spPr>
          <a:xfrm>
            <a:off x="860971" y="4083397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Spearphishing + Deceptive Lure (2b)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860971" y="4280743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Precursor to &gt;80% of intrusion-based ops. War-themed, CEO-pretexting, fake login portals.</a:t>
            </a:r>
            <a:endParaRPr lang="en-US" sz="804" dirty="0"/>
          </a:p>
        </p:txBody>
      </p:sp>
      <p:sp>
        <p:nvSpPr>
          <p:cNvPr id="26" name="Text 23"/>
          <p:cNvSpPr/>
          <p:nvPr/>
        </p:nvSpPr>
        <p:spPr>
          <a:xfrm>
            <a:off x="4815780" y="1295549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📡</a:t>
            </a:r>
            <a:endParaRPr lang="en-US" sz="1560" dirty="0"/>
          </a:p>
        </p:txBody>
      </p:sp>
      <p:sp>
        <p:nvSpPr>
          <p:cNvPr id="27" name="Text 24"/>
          <p:cNvSpPr/>
          <p:nvPr/>
        </p:nvSpPr>
        <p:spPr>
          <a:xfrm>
            <a:off x="5092005" y="1277243"/>
            <a:ext cx="114642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 DEFINITION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5092005" y="1460004"/>
            <a:ext cx="1146429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792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intrusion component</a:t>
            </a:r>
            <a:endParaRPr lang="en-US" sz="792" dirty="0"/>
          </a:p>
        </p:txBody>
      </p:sp>
      <p:sp>
        <p:nvSpPr>
          <p:cNvPr id="29" name="Text 26"/>
          <p:cNvSpPr/>
          <p:nvPr/>
        </p:nvSpPr>
        <p:spPr>
          <a:xfrm>
            <a:off x="4966246" y="1824186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CIB / Fake-Account Networks (1c)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4966246" y="2021532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Dominant state-actor type globally. Russia (IRA/Wagner), China (Spamouflage), Iran, commercial contractors (Team Jorge).</a:t>
            </a:r>
            <a:endParaRPr lang="en-US" sz="804" dirty="0"/>
          </a:p>
        </p:txBody>
      </p:sp>
      <p:sp>
        <p:nvSpPr>
          <p:cNvPr id="31" name="Text 28"/>
          <p:cNvSpPr/>
          <p:nvPr/>
        </p:nvSpPr>
        <p:spPr>
          <a:xfrm>
            <a:off x="4966246" y="2577257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Deepfake / Impersonation Fraud (2c)</a:t>
            </a:r>
            <a:endParaRPr lang="en-US" sz="936" dirty="0"/>
          </a:p>
        </p:txBody>
      </p:sp>
      <p:sp>
        <p:nvSpPr>
          <p:cNvPr id="32" name="Text 29"/>
          <p:cNvSpPr/>
          <p:nvPr/>
        </p:nvSpPr>
        <p:spPr>
          <a:xfrm>
            <a:off x="4966246" y="2774603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Fastest-growing. Arup: $25.6M via live deepfake video. No system intrusion needed.</a:t>
            </a:r>
            <a:endParaRPr lang="en-US" sz="804" dirty="0"/>
          </a:p>
        </p:txBody>
      </p:sp>
      <p:sp>
        <p:nvSpPr>
          <p:cNvPr id="33" name="Text 30"/>
          <p:cNvSpPr/>
          <p:nvPr/>
        </p:nvSpPr>
        <p:spPr>
          <a:xfrm>
            <a:off x="4966246" y="3330327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DDoS-as-Political-Signal (1a/1g)</a:t>
            </a:r>
            <a:endParaRPr lang="en-US" sz="936" dirty="0"/>
          </a:p>
        </p:txBody>
      </p:sp>
      <p:sp>
        <p:nvSpPr>
          <p:cNvPr id="34" name="Text 31"/>
          <p:cNvSpPr/>
          <p:nvPr/>
        </p:nvSpPr>
        <p:spPr>
          <a:xfrm>
            <a:off x="4966246" y="3527673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NoName057(16): 2,000+ attacks 2022–25 against NATO targets. Each attack is a Telegram press release.</a:t>
            </a:r>
            <a:endParaRPr lang="en-US" sz="804" dirty="0"/>
          </a:p>
        </p:txBody>
      </p:sp>
      <p:sp>
        <p:nvSpPr>
          <p:cNvPr id="35" name="Text 32"/>
          <p:cNvSpPr/>
          <p:nvPr/>
        </p:nvSpPr>
        <p:spPr>
          <a:xfrm>
            <a:off x="4966246" y="4083397"/>
            <a:ext cx="341226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Vishing / Social Engineering (2b/2c)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4966246" y="4280743"/>
            <a:ext cx="3345359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MGM: one help-desk call defeated MFA + Okta. $100M losses. AI voice cloning removes language barriers.</a:t>
            </a:r>
            <a:endParaRPr lang="en-US" sz="80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2325" y="883890"/>
            <a:ext cx="4552950" cy="409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436340"/>
            <a:ext cx="3981450" cy="1436340"/>
          </a:xfrm>
          <a:prstGeom prst="roundRect">
            <a:avLst>
              <a:gd name="adj" fmla="val 6366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29150" y="1436340"/>
            <a:ext cx="3981450" cy="1436340"/>
          </a:xfrm>
          <a:prstGeom prst="roundRect">
            <a:avLst>
              <a:gd name="adj" fmla="val 6366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2986980"/>
            <a:ext cx="3981450" cy="1265634"/>
          </a:xfrm>
          <a:prstGeom prst="roundRect">
            <a:avLst>
              <a:gd name="adj" fmla="val 7224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29150" y="2986980"/>
            <a:ext cx="3981450" cy="1265634"/>
          </a:xfrm>
          <a:prstGeom prst="roundRect">
            <a:avLst>
              <a:gd name="adj" fmla="val 7224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624185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&amp; Why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864840"/>
            <a:ext cx="8238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Trigger Conditions: 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When Each Attack Type Emerges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4375" y="1598265"/>
            <a:ext cx="37113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🗳️ Hack-and-Leak (1b)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714375" y="1857226"/>
            <a:ext cx="363855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Electoral contests with high stakes (presidential, EU-level)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Opposition figure or campaign as target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actor with months of pre-positioning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 ecosystem ready to amplify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810125" y="1598265"/>
            <a:ext cx="37113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💰 Ransomware / Double-Extortion (2f)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4810125" y="1857226"/>
            <a:ext cx="3638550" cy="853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Exposed remote access (RDP, VPN, Citrix) with weak credentials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Absence of MFA on internet-facing systems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data (credit records, health data, passenger PII)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 reliant on continuous operations (ports, hospitals, food production)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714375" y="3148905"/>
            <a:ext cx="37113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📣 CIB / Fake Networks (1c)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714375" y="3407866"/>
            <a:ext cx="363855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Election periods (6-month window) — but now ongoing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Geopolitical contest for legitimacy (Sahel; BRICS)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 local platform moderation in target language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/ closed-chain ecosystems with no fact-checking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810125" y="3148905"/>
            <a:ext cx="37113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C084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🤖 Deepfake / Vishing (2b/2c)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4810125" y="3407866"/>
            <a:ext cx="363855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wire-transfer authorisation workflows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Remote-work environments (reduced in-person verification)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Publicly available executive footage (LinkedIn, earnings calls)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out-of-band verification protocol in place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52628" y="4359176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is decoupling CIB operations from election calendars — continuous multi-language influence is now possible year-round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1313706"/>
            <a:ext cx="179070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949946"/>
            <a:ext cx="1539180" cy="1515368"/>
          </a:xfrm>
          <a:prstGeom prst="roundRect">
            <a:avLst>
              <a:gd name="adj" fmla="val 60342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167830" y="1949946"/>
            <a:ext cx="1539180" cy="1515368"/>
          </a:xfrm>
          <a:prstGeom prst="roundRect">
            <a:avLst>
              <a:gd name="adj" fmla="val 60342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02261" y="1949946"/>
            <a:ext cx="1539329" cy="1515368"/>
          </a:xfrm>
          <a:prstGeom prst="roundRect">
            <a:avLst>
              <a:gd name="adj" fmla="val 60342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36840" y="1949946"/>
            <a:ext cx="1539180" cy="1515368"/>
          </a:xfrm>
          <a:prstGeom prst="roundRect">
            <a:avLst>
              <a:gd name="adj" fmla="val 60342"/>
            </a:avLst>
          </a:prstGeom>
          <a:solidFill>
            <a:srgbClr val="2A9D8F">
              <a:alpha val="8000"/>
            </a:srgbClr>
          </a:solidFill>
          <a:ln w="9525">
            <a:solidFill>
              <a:srgbClr val="2A9D8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071271" y="1949946"/>
            <a:ext cx="1539329" cy="1515368"/>
          </a:xfrm>
          <a:prstGeom prst="roundRect">
            <a:avLst>
              <a:gd name="adj" fmla="val 60342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3579614"/>
            <a:ext cx="8077200" cy="509885"/>
          </a:xfrm>
          <a:prstGeom prst="rect">
            <a:avLst/>
          </a:prstGeom>
          <a:solidFill>
            <a:srgbClr val="F4A261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1054001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Does This?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533400" y="1294656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Five Classes of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Protagonist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— Global</a:t>
            </a:r>
            <a:endParaRPr lang="en-US" sz="2640" dirty="0"/>
          </a:p>
        </p:txBody>
      </p:sp>
      <p:sp>
        <p:nvSpPr>
          <p:cNvPr id="11" name="Text 8"/>
          <p:cNvSpPr/>
          <p:nvPr/>
        </p:nvSpPr>
        <p:spPr>
          <a:xfrm>
            <a:off x="636416" y="2096542"/>
            <a:ext cx="13331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🏛️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6416" y="2500313"/>
            <a:ext cx="133314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Agencies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649486" y="2710458"/>
            <a:ext cx="1307009" cy="29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 · SVR · IRGC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PLA-SSF · NSA</a:t>
            </a:r>
            <a:endParaRPr lang="en-US" sz="804" dirty="0"/>
          </a:p>
        </p:txBody>
      </p:sp>
      <p:sp>
        <p:nvSpPr>
          <p:cNvPr id="14" name="Text 11"/>
          <p:cNvSpPr/>
          <p:nvPr/>
        </p:nvSpPr>
        <p:spPr>
          <a:xfrm>
            <a:off x="2270846" y="2096542"/>
            <a:ext cx="13331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🕵️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270846" y="2500313"/>
            <a:ext cx="133314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State-Linked APTs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2283916" y="2710458"/>
            <a:ext cx="1307009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APT28 · APT29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Gamaredon · Lazarus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APT41</a:t>
            </a:r>
            <a:endParaRPr lang="en-US" sz="804" dirty="0"/>
          </a:p>
        </p:txBody>
      </p:sp>
      <p:sp>
        <p:nvSpPr>
          <p:cNvPr id="17" name="Text 14"/>
          <p:cNvSpPr/>
          <p:nvPr/>
        </p:nvSpPr>
        <p:spPr>
          <a:xfrm>
            <a:off x="3905275" y="2096542"/>
            <a:ext cx="13333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🎪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918347" y="2500313"/>
            <a:ext cx="1307157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Proxies / Contractors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3918347" y="2874913"/>
            <a:ext cx="1307157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Wagner/IRA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Jorge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Archimedes Group</a:t>
            </a:r>
            <a:endParaRPr lang="en-US" sz="804" dirty="0"/>
          </a:p>
        </p:txBody>
      </p:sp>
      <p:sp>
        <p:nvSpPr>
          <p:cNvPr id="20" name="Text 17"/>
          <p:cNvSpPr/>
          <p:nvPr/>
        </p:nvSpPr>
        <p:spPr>
          <a:xfrm>
            <a:off x="5539856" y="2096542"/>
            <a:ext cx="13331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52926" y="2500313"/>
            <a:ext cx="1307009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Patriotic Hacktivists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5552926" y="2874913"/>
            <a:ext cx="1307009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NoName057(16)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Ukrainian IT Army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Killnet · Sudan</a:t>
            </a:r>
            <a:endParaRPr lang="en-US" sz="804" dirty="0"/>
          </a:p>
        </p:txBody>
      </p:sp>
      <p:sp>
        <p:nvSpPr>
          <p:cNvPr id="23" name="Text 20"/>
          <p:cNvSpPr/>
          <p:nvPr/>
        </p:nvSpPr>
        <p:spPr>
          <a:xfrm>
            <a:off x="7174285" y="2096542"/>
            <a:ext cx="13333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💰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74285" y="2500313"/>
            <a:ext cx="1333301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C084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Criminal Groups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187357" y="2710458"/>
            <a:ext cx="1307157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REvil · ALPHV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RansomHub</a:t>
            </a:r>
            <a:endParaRPr lang="en-US" sz="804" dirty="0"/>
          </a:p>
          <a:p>
            <a:pPr algn="ctr" indent="0" marL="0">
              <a:lnSpc>
                <a:spcPts val="116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 Spider</a:t>
            </a:r>
            <a:endParaRPr lang="en-US" sz="804" dirty="0"/>
          </a:p>
        </p:txBody>
      </p:sp>
      <p:sp>
        <p:nvSpPr>
          <p:cNvPr id="26" name="Text 23"/>
          <p:cNvSpPr/>
          <p:nvPr/>
        </p:nvSpPr>
        <p:spPr>
          <a:xfrm>
            <a:off x="695325" y="3665339"/>
            <a:ext cx="7781925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2"/>
              </a:lnSpc>
              <a:buNone/>
            </a:pPr>
            <a:r>
              <a:rPr lang="en-US" sz="888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convergence trend (EEAS 2025):</a:t>
            </a:r>
            <a:pPr indent="0" marL="0">
              <a:lnSpc>
                <a:spcPts val="1332"/>
              </a:lnSpc>
              <a:buNone/>
            </a:pPr>
            <a:r>
              <a:rPr lang="en-US" sz="888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State, proxy, hacktivist, and criminal lines are dissolving. RaaS affiliates provide plausible deniability; commercial contractors offer election-interference-as-a-service; patriotic hacktivists are co-opted by intelligence agencies.</a:t>
            </a:r>
            <a:endParaRPr lang="en-US" sz="8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75" y="1246436"/>
            <a:ext cx="3143250" cy="409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836986"/>
            <a:ext cx="3981450" cy="1183779"/>
          </a:xfrm>
          <a:prstGeom prst="roundRect">
            <a:avLst>
              <a:gd name="adj" fmla="val 7724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29150" y="1836986"/>
            <a:ext cx="3981450" cy="1183779"/>
          </a:xfrm>
          <a:prstGeom prst="roundRect">
            <a:avLst>
              <a:gd name="adj" fmla="val 7724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3135064"/>
            <a:ext cx="3981450" cy="1021556"/>
          </a:xfrm>
          <a:prstGeom prst="roundRect">
            <a:avLst>
              <a:gd name="adj" fmla="val 895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29150" y="3135064"/>
            <a:ext cx="3981450" cy="1021556"/>
          </a:xfrm>
          <a:prstGeom prst="roundRect">
            <a:avLst>
              <a:gd name="adj" fmla="val 895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986730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Landmarks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1227386"/>
            <a:ext cx="8238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Cases That 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Changed the Playbook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4375" y="1998911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🗳️</a:t>
            </a:r>
            <a:endParaRPr lang="en-US" sz="1560" dirty="0"/>
          </a:p>
        </p:txBody>
      </p:sp>
      <p:sp>
        <p:nvSpPr>
          <p:cNvPr id="10" name="Text 7"/>
          <p:cNvSpPr/>
          <p:nvPr/>
        </p:nvSpPr>
        <p:spPr>
          <a:xfrm>
            <a:off x="714375" y="2372171"/>
            <a:ext cx="3638550" cy="48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APT28 (GRU) spearphished Podesta → 50,000 emails → WikiLeaks/DCLeaks → election disruption. </a:t>
            </a:r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1 textbook.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12 GRU officers indicted by Mueller.</a:t>
            </a:r>
            <a:endParaRPr lang="en-US" sz="852" dirty="0"/>
          </a:p>
        </p:txBody>
      </p:sp>
      <p:sp>
        <p:nvSpPr>
          <p:cNvPr id="11" name="Text 8"/>
          <p:cNvSpPr/>
          <p:nvPr/>
        </p:nvSpPr>
        <p:spPr>
          <a:xfrm>
            <a:off x="4810125" y="1998911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🎬</a:t>
            </a:r>
            <a:endParaRPr lang="en-US" sz="1560" dirty="0"/>
          </a:p>
        </p:txBody>
      </p:sp>
      <p:sp>
        <p:nvSpPr>
          <p:cNvPr id="12" name="Text 9"/>
          <p:cNvSpPr/>
          <p:nvPr/>
        </p:nvSpPr>
        <p:spPr>
          <a:xfrm>
            <a:off x="4810125" y="2372171"/>
            <a:ext cx="3638550" cy="48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North Korea-linked GOP: months of access → wiper → 100TB leak → coercive threats → Sony pulled </a:t>
            </a:r>
            <a:pPr indent="0" marL="0">
              <a:lnSpc>
                <a:spcPts val="1278"/>
              </a:lnSpc>
              <a:buNone/>
            </a:pPr>
            <a:r>
              <a:rPr lang="en-US" sz="852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Interview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Hack + destroy + coerce.</a:t>
            </a:r>
            <a:endParaRPr lang="en-US" sz="852" dirty="0"/>
          </a:p>
        </p:txBody>
      </p:sp>
      <p:sp>
        <p:nvSpPr>
          <p:cNvPr id="13" name="Text 10"/>
          <p:cNvSpPr/>
          <p:nvPr/>
        </p:nvSpPr>
        <p:spPr>
          <a:xfrm>
            <a:off x="714375" y="3296989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🎰</a:t>
            </a:r>
            <a:endParaRPr lang="en-US" sz="1560" dirty="0"/>
          </a:p>
        </p:txBody>
      </p:sp>
      <p:sp>
        <p:nvSpPr>
          <p:cNvPr id="14" name="Text 11"/>
          <p:cNvSpPr/>
          <p:nvPr/>
        </p:nvSpPr>
        <p:spPr>
          <a:xfrm>
            <a:off x="714375" y="3670250"/>
            <a:ext cx="3638550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 Spider: 10-min LinkedIn recon → vishing help desk → Okta SSO → ALPHV ransomware → </a:t>
            </a:r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~$100M losses.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One call defeated MFA.</a:t>
            </a:r>
            <a:endParaRPr lang="en-US" sz="852" dirty="0"/>
          </a:p>
        </p:txBody>
      </p:sp>
      <p:sp>
        <p:nvSpPr>
          <p:cNvPr id="15" name="Text 12"/>
          <p:cNvSpPr/>
          <p:nvPr/>
        </p:nvSpPr>
        <p:spPr>
          <a:xfrm>
            <a:off x="4810125" y="3296989"/>
            <a:ext cx="204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🤖</a:t>
            </a:r>
            <a:endParaRPr lang="en-US" sz="1560" dirty="0"/>
          </a:p>
        </p:txBody>
      </p:sp>
      <p:sp>
        <p:nvSpPr>
          <p:cNvPr id="16" name="Text 13"/>
          <p:cNvSpPr/>
          <p:nvPr/>
        </p:nvSpPr>
        <p:spPr>
          <a:xfrm>
            <a:off x="4810125" y="3670250"/>
            <a:ext cx="3638550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deepfake CFO video call → 15 wire transfers → </a:t>
            </a:r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$25.6M stolen.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Zero system intrusion. The deception </a:t>
            </a:r>
            <a:pPr indent="0" marL="0">
              <a:lnSpc>
                <a:spcPts val="1278"/>
              </a:lnSpc>
              <a:buNone/>
            </a:pPr>
            <a:r>
              <a:rPr lang="en-US" sz="852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was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attack. "I saw them on camera."</a:t>
            </a:r>
            <a:endParaRPr lang="en-US" sz="8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0" y="1181398"/>
            <a:ext cx="213360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817638"/>
            <a:ext cx="2603450" cy="1956048"/>
          </a:xfrm>
          <a:prstGeom prst="roundRect">
            <a:avLst>
              <a:gd name="adj" fmla="val 46747"/>
            </a:avLst>
          </a:prstGeom>
          <a:solidFill>
            <a:srgbClr val="E63946">
              <a:alpha val="7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70200" y="1817638"/>
            <a:ext cx="2603450" cy="1956048"/>
          </a:xfrm>
          <a:prstGeom prst="roundRect">
            <a:avLst>
              <a:gd name="adj" fmla="val 46747"/>
            </a:avLst>
          </a:prstGeom>
          <a:solidFill>
            <a:srgbClr val="F4A261">
              <a:alpha val="7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07001" y="1817638"/>
            <a:ext cx="2603599" cy="1956048"/>
          </a:xfrm>
          <a:prstGeom prst="roundRect">
            <a:avLst>
              <a:gd name="adj" fmla="val 46747"/>
            </a:avLst>
          </a:prstGeom>
          <a:solidFill>
            <a:srgbClr val="457B9D">
              <a:alpha val="7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887986"/>
            <a:ext cx="8077200" cy="333673"/>
          </a:xfrm>
          <a:prstGeom prst="rect">
            <a:avLst/>
          </a:prstGeom>
          <a:solidFill>
            <a:srgbClr val="F4A261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921693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Now?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1162348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Drivers Behind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Hybridisation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— Global</a:t>
            </a:r>
            <a:endParaRPr lang="en-US" sz="2640" dirty="0"/>
          </a:p>
        </p:txBody>
      </p:sp>
      <p:sp>
        <p:nvSpPr>
          <p:cNvPr id="9" name="Text 6"/>
          <p:cNvSpPr/>
          <p:nvPr/>
        </p:nvSpPr>
        <p:spPr>
          <a:xfrm>
            <a:off x="710505" y="1994743"/>
            <a:ext cx="22942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0505" y="2413843"/>
            <a:ext cx="229422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Geopolitical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710505" y="2677567"/>
            <a:ext cx="2249239" cy="91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Multipolar order / CRINK bloc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2024: 70+ elections globally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Gaza war &amp; proxy conflicts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Ukraine war as lab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Election cycles = forcing function</a:t>
            </a:r>
            <a:endParaRPr lang="en-US" sz="852" dirty="0"/>
          </a:p>
        </p:txBody>
      </p:sp>
      <p:sp>
        <p:nvSpPr>
          <p:cNvPr id="12" name="Text 9"/>
          <p:cNvSpPr/>
          <p:nvPr/>
        </p:nvSpPr>
        <p:spPr>
          <a:xfrm>
            <a:off x="3447306" y="1994743"/>
            <a:ext cx="22942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47306" y="2413843"/>
            <a:ext cx="229422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</a:t>
            </a:r>
            <a:endParaRPr lang="en-US" sz="984" dirty="0"/>
          </a:p>
        </p:txBody>
      </p:sp>
      <p:sp>
        <p:nvSpPr>
          <p:cNvPr id="14" name="Text 11"/>
          <p:cNvSpPr/>
          <p:nvPr/>
        </p:nvSpPr>
        <p:spPr>
          <a:xfrm>
            <a:off x="3447306" y="2677567"/>
            <a:ext cx="2249239" cy="91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$10.5T annual cybercrime economy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RaaS industrialised the attack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Influence-as-a-service market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Low-cost AI content generation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Africa: high returns, low resilience</a:t>
            </a:r>
            <a:endParaRPr lang="en-US" sz="852" dirty="0"/>
          </a:p>
        </p:txBody>
      </p:sp>
      <p:sp>
        <p:nvSpPr>
          <p:cNvPr id="15" name="Text 12"/>
          <p:cNvSpPr/>
          <p:nvPr/>
        </p:nvSpPr>
        <p:spPr>
          <a:xfrm>
            <a:off x="6184106" y="1994743"/>
            <a:ext cx="22943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⚙️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84106" y="2413843"/>
            <a:ext cx="229437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</a:t>
            </a:r>
            <a:endParaRPr lang="en-US" sz="984" dirty="0"/>
          </a:p>
        </p:txBody>
      </p:sp>
      <p:sp>
        <p:nvSpPr>
          <p:cNvPr id="17" name="Text 14"/>
          <p:cNvSpPr/>
          <p:nvPr/>
        </p:nvSpPr>
        <p:spPr>
          <a:xfrm>
            <a:off x="6184106" y="2677567"/>
            <a:ext cx="2249388" cy="919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GenAI: deepfakes, voice cloning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Bulletproof hosting / Tor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As-a-service ecosystems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Closed platforms (WhatsApp)</a:t>
            </a:r>
            <a:endParaRPr lang="en-US" sz="852" dirty="0"/>
          </a:p>
          <a:p>
            <a:pPr marL="342900" indent="-342900">
              <a:lnSpc>
                <a:spcPts val="1448"/>
              </a:lnSpc>
              <a:buSzPct val="100000"/>
              <a:buChar char="•"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AI-accelerated CIB campaigns</a:t>
            </a:r>
            <a:endParaRPr lang="en-US" sz="852" dirty="0"/>
          </a:p>
        </p:txBody>
      </p:sp>
      <p:sp>
        <p:nvSpPr>
          <p:cNvPr id="18" name="Text 15"/>
          <p:cNvSpPr/>
          <p:nvPr/>
        </p:nvSpPr>
        <p:spPr>
          <a:xfrm>
            <a:off x="695325" y="3973711"/>
            <a:ext cx="7937564" cy="16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EEAS 4th FIMI Report (2025) Top 3 Trends: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(1) Increased hybridisation · (2) Increased AI use · (3) Increased covertness</a:t>
            </a:r>
            <a:endParaRPr lang="en-US" sz="8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0" y="820787"/>
            <a:ext cx="228600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457027"/>
            <a:ext cx="3971925" cy="1277689"/>
          </a:xfrm>
          <a:prstGeom prst="roundRect">
            <a:avLst>
              <a:gd name="adj" fmla="val 71567"/>
            </a:avLst>
          </a:prstGeom>
          <a:solidFill>
            <a:srgbClr val="4FCAB9">
              <a:alpha val="7000"/>
            </a:srgbClr>
          </a:solidFill>
          <a:ln w="9525">
            <a:solidFill>
              <a:srgbClr val="4FCAB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38675" y="1457027"/>
            <a:ext cx="3971925" cy="1277689"/>
          </a:xfrm>
          <a:prstGeom prst="roundRect">
            <a:avLst>
              <a:gd name="adj" fmla="val 71567"/>
            </a:avLst>
          </a:prstGeom>
          <a:solidFill>
            <a:srgbClr val="F4A261">
              <a:alpha val="7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2868067"/>
            <a:ext cx="3971925" cy="1439912"/>
          </a:xfrm>
          <a:prstGeom prst="roundRect">
            <a:avLst>
              <a:gd name="adj" fmla="val 63504"/>
            </a:avLst>
          </a:prstGeom>
          <a:solidFill>
            <a:srgbClr val="E63946">
              <a:alpha val="7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38675" y="2868067"/>
            <a:ext cx="3971925" cy="1439912"/>
          </a:xfrm>
          <a:prstGeom prst="roundRect">
            <a:avLst>
              <a:gd name="adj" fmla="val 63504"/>
            </a:avLst>
          </a:prstGeom>
          <a:solidFill>
            <a:srgbClr val="A855F7">
              <a:alpha val="7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561082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Emerging Threat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801737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is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Supercharging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the Hybrid Toolkit</a:t>
            </a:r>
            <a:endParaRPr lang="en-US" sz="2640" dirty="0"/>
          </a:p>
        </p:txBody>
      </p:sp>
      <p:sp>
        <p:nvSpPr>
          <p:cNvPr id="9" name="Text 6"/>
          <p:cNvSpPr/>
          <p:nvPr/>
        </p:nvSpPr>
        <p:spPr>
          <a:xfrm>
            <a:off x="695325" y="1618952"/>
            <a:ext cx="372103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🎭</a:t>
            </a:r>
            <a:endParaRPr lang="en-US" sz="1680" dirty="0"/>
          </a:p>
        </p:txBody>
      </p:sp>
      <p:sp>
        <p:nvSpPr>
          <p:cNvPr id="10" name="Text 7"/>
          <p:cNvSpPr/>
          <p:nvPr/>
        </p:nvSpPr>
        <p:spPr>
          <a:xfrm>
            <a:off x="695325" y="1999952"/>
            <a:ext cx="372103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Deepfake Fraud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695325" y="2248346"/>
            <a:ext cx="3648075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Arup: $25.6M stolen via live deepfake video call. Built from LinkedIn + YouTube. Zero intrusion. </a:t>
            </a:r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saw them on camera."</a:t>
            </a:r>
            <a:endParaRPr lang="en-US" sz="852" dirty="0"/>
          </a:p>
        </p:txBody>
      </p:sp>
      <p:sp>
        <p:nvSpPr>
          <p:cNvPr id="12" name="Text 9"/>
          <p:cNvSpPr/>
          <p:nvPr/>
        </p:nvSpPr>
        <p:spPr>
          <a:xfrm>
            <a:off x="4800600" y="1618952"/>
            <a:ext cx="372103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🗣️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4800600" y="1999952"/>
            <a:ext cx="372103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 Cloning / Vishing</a:t>
            </a:r>
            <a:endParaRPr lang="en-US" sz="984" dirty="0"/>
          </a:p>
        </p:txBody>
      </p:sp>
      <p:sp>
        <p:nvSpPr>
          <p:cNvPr id="14" name="Text 11"/>
          <p:cNvSpPr/>
          <p:nvPr/>
        </p:nvSpPr>
        <p:spPr>
          <a:xfrm>
            <a:off x="4800600" y="2248346"/>
            <a:ext cx="3648075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seconds of audio = cloned voice. MGM Resorts: one vishing call defeated enterprise MFA and Okta SSO. </a:t>
            </a:r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$100M in losses.</a:t>
            </a:r>
            <a:endParaRPr lang="en-US" sz="852" dirty="0"/>
          </a:p>
        </p:txBody>
      </p:sp>
      <p:sp>
        <p:nvSpPr>
          <p:cNvPr id="15" name="Text 12"/>
          <p:cNvSpPr/>
          <p:nvPr/>
        </p:nvSpPr>
        <p:spPr>
          <a:xfrm>
            <a:off x="695325" y="3029992"/>
            <a:ext cx="372103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🤖</a:t>
            </a:r>
            <a:endParaRPr lang="en-US" sz="1680" dirty="0"/>
          </a:p>
        </p:txBody>
      </p:sp>
      <p:sp>
        <p:nvSpPr>
          <p:cNvPr id="16" name="Text 13"/>
          <p:cNvSpPr/>
          <p:nvPr/>
        </p:nvSpPr>
        <p:spPr>
          <a:xfrm>
            <a:off x="695325" y="3410992"/>
            <a:ext cx="372103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AI-Scaled CIB</a:t>
            </a:r>
            <a:endParaRPr lang="en-US" sz="984" dirty="0"/>
          </a:p>
        </p:txBody>
      </p:sp>
      <p:sp>
        <p:nvSpPr>
          <p:cNvPr id="17" name="Text 14"/>
          <p:cNvSpPr/>
          <p:nvPr/>
        </p:nvSpPr>
        <p:spPr>
          <a:xfrm>
            <a:off x="695325" y="3659386"/>
            <a:ext cx="3648075" cy="48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LLMs generate authentic-sounding content in any language. EEAS: AI enables simultaneous multi-language campaigns previously requiring native speakers.</a:t>
            </a:r>
            <a:endParaRPr lang="en-US" sz="852" dirty="0"/>
          </a:p>
        </p:txBody>
      </p:sp>
      <p:sp>
        <p:nvSpPr>
          <p:cNvPr id="18" name="Text 15"/>
          <p:cNvSpPr/>
          <p:nvPr/>
        </p:nvSpPr>
        <p:spPr>
          <a:xfrm>
            <a:off x="4800600" y="3029992"/>
            <a:ext cx="372103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</a:t>
            </a:r>
            <a:endParaRPr lang="en-US" sz="1680" dirty="0"/>
          </a:p>
        </p:txBody>
      </p:sp>
      <p:sp>
        <p:nvSpPr>
          <p:cNvPr id="19" name="Text 16"/>
          <p:cNvSpPr/>
          <p:nvPr/>
        </p:nvSpPr>
        <p:spPr>
          <a:xfrm>
            <a:off x="4800600" y="3410992"/>
            <a:ext cx="372103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C084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AI-Personalised Spearphishing</a:t>
            </a:r>
            <a:endParaRPr lang="en-US" sz="984" dirty="0"/>
          </a:p>
        </p:txBody>
      </p:sp>
      <p:sp>
        <p:nvSpPr>
          <p:cNvPr id="20" name="Text 17"/>
          <p:cNvSpPr/>
          <p:nvPr/>
        </p:nvSpPr>
        <p:spPr>
          <a:xfrm>
            <a:off x="4800600" y="3659386"/>
            <a:ext cx="3648075" cy="48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Previous detection heuristics (grammar errors, generic greetings) no longer reliable. LLMs write perfect contextual lures from scraped social data.</a:t>
            </a:r>
            <a:endParaRPr lang="en-US" sz="852" dirty="0"/>
          </a:p>
        </p:txBody>
      </p:sp>
      <p:sp>
        <p:nvSpPr>
          <p:cNvPr id="21" name="Text 18"/>
          <p:cNvSpPr/>
          <p:nvPr/>
        </p:nvSpPr>
        <p:spPr>
          <a:xfrm>
            <a:off x="452628" y="4422279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Out-of-band verification remains the most reliable countermeasure to AI impersonation attacks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4525" y="660202"/>
            <a:ext cx="5457825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296442"/>
            <a:ext cx="3971925" cy="925413"/>
          </a:xfrm>
          <a:prstGeom prst="roundRect">
            <a:avLst>
              <a:gd name="adj" fmla="val 98810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33400" y="2317105"/>
            <a:ext cx="3971925" cy="925413"/>
          </a:xfrm>
          <a:prstGeom prst="roundRect">
            <a:avLst>
              <a:gd name="adj" fmla="val 98810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3337768"/>
            <a:ext cx="3971925" cy="1085404"/>
          </a:xfrm>
          <a:prstGeom prst="roundRect">
            <a:avLst>
              <a:gd name="adj" fmla="val 84245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38675" y="1296442"/>
            <a:ext cx="3971925" cy="1085404"/>
          </a:xfrm>
          <a:prstGeom prst="roundRect">
            <a:avLst>
              <a:gd name="adj" fmla="val 84245"/>
            </a:avLst>
          </a:prstGeom>
          <a:solidFill>
            <a:srgbClr val="2A9D8F">
              <a:alpha val="8000"/>
            </a:srgbClr>
          </a:solidFill>
          <a:ln w="9525">
            <a:solidFill>
              <a:srgbClr val="2A9D8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38675" y="2477095"/>
            <a:ext cx="3971925" cy="1085404"/>
          </a:xfrm>
          <a:prstGeom prst="roundRect">
            <a:avLst>
              <a:gd name="adj" fmla="val 84245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38675" y="3657749"/>
            <a:ext cx="3971925" cy="1085404"/>
          </a:xfrm>
          <a:prstGeom prst="roundRect">
            <a:avLst>
              <a:gd name="adj" fmla="val 8424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400496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Continental Pivot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533400" y="641152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Africa: A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Different Operational Environment</a:t>
            </a:r>
            <a:endParaRPr lang="en-US" sz="2640" dirty="0"/>
          </a:p>
        </p:txBody>
      </p:sp>
      <p:sp>
        <p:nvSpPr>
          <p:cNvPr id="11" name="Text 8"/>
          <p:cNvSpPr/>
          <p:nvPr/>
        </p:nvSpPr>
        <p:spPr>
          <a:xfrm>
            <a:off x="679996" y="1443038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📱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679996" y="1755279"/>
            <a:ext cx="36787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IS the public sphere for most Africans. Closed-chain forwarding defeats platform moderation. No fact-checking layer at scale.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679996" y="2463701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🌐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679996" y="2775942"/>
            <a:ext cx="36787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flagged in English in hours circulates in Zulu, Hausa, or Amharic for weeks. AI is now generating disinformation in these languages at scale.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679996" y="3484364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📈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79996" y="3796605"/>
            <a:ext cx="367873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World's fastest-growing mobile internet market. Security infrastructure not keeping pace. Password 'Password' on a credit-bureau server is a structural feature, not an outlier.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785271" y="1443038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🌍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4785271" y="1755279"/>
            <a:ext cx="367873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Russia–France contest in the Sahel. China's Belt and Road influence. US Africa Command. Each external actor runs both cyber and influence tracks simultaneously.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785271" y="2623691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💼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4785271" y="2935932"/>
            <a:ext cx="367873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Jorge targeted Nigeria, Senegal, Togo, Angola, Niger, Tunisia. Archimedes Group ran Facebook CIB across 6 African countries. This is a functioning market.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4785271" y="3804345"/>
            <a:ext cx="174879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🏦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4785271" y="4116586"/>
            <a:ext cx="367873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Telecoms (290M subscriber MTN breach), credit bureaux, ports, mining, aviation — all attacked by ransomware groups who see Africa as high-ROI and low-risk.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0" y="888950"/>
            <a:ext cx="2552700" cy="409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441400"/>
            <a:ext cx="2628900" cy="1488728"/>
          </a:xfrm>
          <a:prstGeom prst="roundRect">
            <a:avLst>
              <a:gd name="adj" fmla="val 61422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57550" y="1441400"/>
            <a:ext cx="2628900" cy="1488728"/>
          </a:xfrm>
          <a:prstGeom prst="roundRect">
            <a:avLst>
              <a:gd name="adj" fmla="val 61422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81700" y="1441400"/>
            <a:ext cx="2628900" cy="1488728"/>
          </a:xfrm>
          <a:prstGeom prst="roundRect">
            <a:avLst>
              <a:gd name="adj" fmla="val 61422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025378"/>
            <a:ext cx="2628900" cy="1488728"/>
          </a:xfrm>
          <a:prstGeom prst="roundRect">
            <a:avLst>
              <a:gd name="adj" fmla="val 61422"/>
            </a:avLst>
          </a:prstGeom>
          <a:solidFill>
            <a:srgbClr val="2A9D8F">
              <a:alpha val="8000"/>
            </a:srgbClr>
          </a:solidFill>
          <a:ln w="9525">
            <a:solidFill>
              <a:srgbClr val="2A9D8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57550" y="3025378"/>
            <a:ext cx="2628900" cy="1488728"/>
          </a:xfrm>
          <a:prstGeom prst="roundRect">
            <a:avLst>
              <a:gd name="adj" fmla="val 61422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81700" y="3025378"/>
            <a:ext cx="2628900" cy="1488728"/>
          </a:xfrm>
          <a:prstGeom prst="roundRect">
            <a:avLst>
              <a:gd name="adj" fmla="val 6142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629245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Human Cost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533400" y="869900"/>
            <a:ext cx="8238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Real-World Harm to </a:t>
            </a:r>
            <a:pPr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Ordinary Africans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8897" y="1580406"/>
            <a:ext cx="239790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🗳️</a:t>
            </a:r>
            <a:endParaRPr lang="en-US" sz="1680" dirty="0"/>
          </a:p>
        </p:txBody>
      </p:sp>
      <p:sp>
        <p:nvSpPr>
          <p:cNvPr id="12" name="Text 9"/>
          <p:cNvSpPr/>
          <p:nvPr/>
        </p:nvSpPr>
        <p:spPr>
          <a:xfrm>
            <a:off x="648897" y="1961406"/>
            <a:ext cx="239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Electoral Harm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2405" y="2178546"/>
            <a:ext cx="2350889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CIB networks suppress opposition, fabricate crises, push false coup justifications. Citizens making electoral choices on manipulated information.</a:t>
            </a:r>
            <a:endParaRPr lang="en-US" sz="804" dirty="0"/>
          </a:p>
        </p:txBody>
      </p:sp>
      <p:sp>
        <p:nvSpPr>
          <p:cNvPr id="14" name="Text 11"/>
          <p:cNvSpPr/>
          <p:nvPr/>
        </p:nvSpPr>
        <p:spPr>
          <a:xfrm>
            <a:off x="3373047" y="1580406"/>
            <a:ext cx="239790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💉</a:t>
            </a:r>
            <a:endParaRPr lang="en-US" sz="1680" dirty="0"/>
          </a:p>
        </p:txBody>
      </p:sp>
      <p:sp>
        <p:nvSpPr>
          <p:cNvPr id="15" name="Text 12"/>
          <p:cNvSpPr/>
          <p:nvPr/>
        </p:nvSpPr>
        <p:spPr>
          <a:xfrm>
            <a:off x="3373047" y="1961406"/>
            <a:ext cx="239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Harm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96555" y="2178546"/>
            <a:ext cx="2350889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Vaccine disinformation (COVID, polio, HPV) via WhatsApp drives hesitancy. DRC measles epidemic 2019–20: 6,000+ deaths. </a:t>
            </a:r>
            <a:pPr algn="ctr" indent="0" marL="0">
              <a:lnSpc>
                <a:spcPts val="1206"/>
              </a:lnSpc>
              <a:buNone/>
            </a:pPr>
            <a:r>
              <a:rPr lang="en-US" sz="804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Disinformation kills.</a:t>
            </a:r>
            <a:endParaRPr lang="en-US" sz="804" dirty="0"/>
          </a:p>
        </p:txBody>
      </p:sp>
      <p:sp>
        <p:nvSpPr>
          <p:cNvPr id="17" name="Text 14"/>
          <p:cNvSpPr/>
          <p:nvPr/>
        </p:nvSpPr>
        <p:spPr>
          <a:xfrm>
            <a:off x="6097197" y="1580406"/>
            <a:ext cx="239790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💳</a:t>
            </a:r>
            <a:endParaRPr lang="en-US" sz="1680" dirty="0"/>
          </a:p>
        </p:txBody>
      </p:sp>
      <p:sp>
        <p:nvSpPr>
          <p:cNvPr id="18" name="Text 15"/>
          <p:cNvSpPr/>
          <p:nvPr/>
        </p:nvSpPr>
        <p:spPr>
          <a:xfrm>
            <a:off x="6097197" y="1961406"/>
            <a:ext cx="239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Harm to Individuals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0705" y="2178546"/>
            <a:ext cx="2350889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TransUnion: 3–54M SA credit records stolen → SIM-swap fraud, identity theft, denied loans. Cell C: 7.7M subscribers. MTN: 290M.</a:t>
            </a:r>
            <a:endParaRPr lang="en-US" sz="804" dirty="0"/>
          </a:p>
        </p:txBody>
      </p:sp>
      <p:sp>
        <p:nvSpPr>
          <p:cNvPr id="20" name="Text 17"/>
          <p:cNvSpPr/>
          <p:nvPr/>
        </p:nvSpPr>
        <p:spPr>
          <a:xfrm>
            <a:off x="648897" y="3164384"/>
            <a:ext cx="239790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🚢</a:t>
            </a:r>
            <a:endParaRPr lang="en-US" sz="1680" dirty="0"/>
          </a:p>
        </p:txBody>
      </p:sp>
      <p:sp>
        <p:nvSpPr>
          <p:cNvPr id="21" name="Text 18"/>
          <p:cNvSpPr/>
          <p:nvPr/>
        </p:nvSpPr>
        <p:spPr>
          <a:xfrm>
            <a:off x="648897" y="3545384"/>
            <a:ext cx="239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Supply Chain Harm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2405" y="3762524"/>
            <a:ext cx="2350889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Transnet: ports at 10% capacity → food + mining exports disrupted for landlocked neighbours. Astral Foods: chicken supply disrupted across SA.</a:t>
            </a:r>
            <a:endParaRPr lang="en-US" sz="804" dirty="0"/>
          </a:p>
        </p:txBody>
      </p:sp>
      <p:sp>
        <p:nvSpPr>
          <p:cNvPr id="23" name="Text 20"/>
          <p:cNvSpPr/>
          <p:nvPr/>
        </p:nvSpPr>
        <p:spPr>
          <a:xfrm>
            <a:off x="3373047" y="3164384"/>
            <a:ext cx="239790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✊</a:t>
            </a:r>
            <a:endParaRPr lang="en-US" sz="1680" dirty="0"/>
          </a:p>
        </p:txBody>
      </p:sp>
      <p:sp>
        <p:nvSpPr>
          <p:cNvPr id="24" name="Text 21"/>
          <p:cNvSpPr/>
          <p:nvPr/>
        </p:nvSpPr>
        <p:spPr>
          <a:xfrm>
            <a:off x="3373047" y="3545384"/>
            <a:ext cx="239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Civil Society Harm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96555" y="3762524"/>
            <a:ext cx="2350889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Activists doxxed, SIM-disabled, account-hijacked. Iranian cyber-repression model studied by African authoritarian governments. Chilling effect on speech.</a:t>
            </a:r>
            <a:endParaRPr lang="en-US" sz="804" dirty="0"/>
          </a:p>
        </p:txBody>
      </p:sp>
      <p:sp>
        <p:nvSpPr>
          <p:cNvPr id="26" name="Text 23"/>
          <p:cNvSpPr/>
          <p:nvPr/>
        </p:nvSpPr>
        <p:spPr>
          <a:xfrm>
            <a:off x="6097197" y="3164384"/>
            <a:ext cx="239790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🏛️</a:t>
            </a:r>
            <a:endParaRPr lang="en-US" sz="1680" dirty="0"/>
          </a:p>
        </p:txBody>
      </p:sp>
      <p:sp>
        <p:nvSpPr>
          <p:cNvPr id="27" name="Text 24"/>
          <p:cNvSpPr/>
          <p:nvPr/>
        </p:nvSpPr>
        <p:spPr>
          <a:xfrm>
            <a:off x="6097197" y="3545384"/>
            <a:ext cx="239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Institutional Trust Harm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20705" y="3762524"/>
            <a:ext cx="2350889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80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CIB fabricating government incompetence erodes the trust needed for democratic governance — often the attacker's primary goal.</a:t>
            </a:r>
            <a:endParaRPr lang="en-US" sz="80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973634"/>
            <a:ext cx="234315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609874"/>
            <a:ext cx="3962400" cy="1844129"/>
          </a:xfrm>
          <a:prstGeom prst="roundRect">
            <a:avLst>
              <a:gd name="adj" fmla="val 59501"/>
            </a:avLst>
          </a:prstGeom>
          <a:solidFill>
            <a:srgbClr val="E63946">
              <a:alpha val="7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25686" y="2845296"/>
            <a:ext cx="3577828" cy="416421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1609874"/>
            <a:ext cx="3962400" cy="1844129"/>
          </a:xfrm>
          <a:prstGeom prst="roundRect">
            <a:avLst>
              <a:gd name="adj" fmla="val 59501"/>
            </a:avLst>
          </a:prstGeom>
          <a:solidFill>
            <a:srgbClr val="F4A261">
              <a:alpha val="7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40486" y="2845296"/>
            <a:ext cx="3577828" cy="416421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3568303"/>
            <a:ext cx="2628900" cy="861268"/>
          </a:xfrm>
          <a:prstGeom prst="roundRect">
            <a:avLst>
              <a:gd name="adj" fmla="val 8493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57550" y="3568303"/>
            <a:ext cx="2628900" cy="861268"/>
          </a:xfrm>
          <a:prstGeom prst="roundRect">
            <a:avLst>
              <a:gd name="adj" fmla="val 8493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81700" y="3568303"/>
            <a:ext cx="2628900" cy="861268"/>
          </a:xfrm>
          <a:prstGeom prst="roundRect">
            <a:avLst>
              <a:gd name="adj" fmla="val 84935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3400" y="713929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Continental Lens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533400" y="954584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Africa: Two Dominant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Attack Patterns</a:t>
            </a:r>
            <a:endParaRPr lang="en-US" sz="2640" dirty="0"/>
          </a:p>
        </p:txBody>
      </p:sp>
      <p:sp>
        <p:nvSpPr>
          <p:cNvPr id="12" name="Text 9"/>
          <p:cNvSpPr/>
          <p:nvPr/>
        </p:nvSpPr>
        <p:spPr>
          <a:xfrm>
            <a:off x="725686" y="1802160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📣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25686" y="2228850"/>
            <a:ext cx="3577828" cy="50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9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1c (broad). No intrusion. Wagner-linked IRA across Mali, Burkina Faso, Niger, CAR, Sudan, Madagascar. Sahel: geopolitical contest between Russia and France.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725686" y="2845296"/>
            <a:ext cx="3577828" cy="4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Actors:</a:t>
            </a:r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Prigozhin/Wagner IRA, Team Jorge, Archimedes Group, domestic political-PR networks</a:t>
            </a:r>
            <a:endParaRPr lang="en-US" sz="828" dirty="0"/>
          </a:p>
        </p:txBody>
      </p:sp>
      <p:sp>
        <p:nvSpPr>
          <p:cNvPr id="15" name="Text 12"/>
          <p:cNvSpPr/>
          <p:nvPr/>
        </p:nvSpPr>
        <p:spPr>
          <a:xfrm>
            <a:off x="4840486" y="1802160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🔒</a:t>
            </a:r>
            <a:endParaRPr lang="en-US" sz="1680" dirty="0"/>
          </a:p>
        </p:txBody>
      </p:sp>
      <p:sp>
        <p:nvSpPr>
          <p:cNvPr id="16" name="Text 13"/>
          <p:cNvSpPr/>
          <p:nvPr/>
        </p:nvSpPr>
        <p:spPr>
          <a:xfrm>
            <a:off x="4840486" y="2228850"/>
            <a:ext cx="3577828" cy="50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9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2f. Telecoms (MTN, Cell C), aviation (Kenya Airways), credit bureaux, ports, mining, agriculture. Ransomware + leak-site psychological pressure = hybrid attack.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4840486" y="2845296"/>
            <a:ext cx="3577828" cy="41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Groups:</a:t>
            </a:r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RansomEXX, RansomHub, RansomHouse, BianLian, Death Kitty/HelloKitty, MeowLeaks</a:t>
            </a:r>
            <a:endParaRPr lang="en-US" sz="828" dirty="0"/>
          </a:p>
        </p:txBody>
      </p:sp>
      <p:sp>
        <p:nvSpPr>
          <p:cNvPr id="18" name="Text 15"/>
          <p:cNvSpPr/>
          <p:nvPr/>
        </p:nvSpPr>
        <p:spPr>
          <a:xfrm>
            <a:off x="631439" y="3690193"/>
            <a:ext cx="243282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9/20</a:t>
            </a:r>
            <a:endParaRPr lang="en-US" sz="1680" dirty="0"/>
          </a:p>
        </p:txBody>
      </p:sp>
      <p:sp>
        <p:nvSpPr>
          <p:cNvPr id="19" name="Text 16"/>
          <p:cNvSpPr/>
          <p:nvPr/>
        </p:nvSpPr>
        <p:spPr>
          <a:xfrm>
            <a:off x="655290" y="4010323"/>
            <a:ext cx="2385120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African incidents</a:t>
            </a:r>
            <a:endParaRPr lang="en-US" sz="78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meeting ≥0.7 threshold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355589" y="3690193"/>
            <a:ext cx="243282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30+</a:t>
            </a:r>
            <a:endParaRPr lang="en-US" sz="1680" dirty="0"/>
          </a:p>
        </p:txBody>
      </p:sp>
      <p:sp>
        <p:nvSpPr>
          <p:cNvPr id="21" name="Text 18"/>
          <p:cNvSpPr/>
          <p:nvPr/>
        </p:nvSpPr>
        <p:spPr>
          <a:xfrm>
            <a:off x="3379440" y="4010323"/>
            <a:ext cx="2385120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elections targeted by</a:t>
            </a:r>
            <a:endParaRPr lang="en-US" sz="78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Jorge globally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6079739" y="3690193"/>
            <a:ext cx="243282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680" dirty="0"/>
          </a:p>
        </p:txBody>
      </p:sp>
      <p:sp>
        <p:nvSpPr>
          <p:cNvPr id="23" name="Text 20"/>
          <p:cNvSpPr/>
          <p:nvPr/>
        </p:nvSpPr>
        <p:spPr>
          <a:xfrm>
            <a:off x="6103590" y="4010323"/>
            <a:ext cx="2385120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African countries targeted by</a:t>
            </a:r>
            <a:endParaRPr lang="en-US" sz="78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Archimedes Group (Facebook 2019)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1675" y="1029444"/>
            <a:ext cx="2105025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665684"/>
            <a:ext cx="2616101" cy="2097732"/>
          </a:xfrm>
          <a:prstGeom prst="roundRect">
            <a:avLst>
              <a:gd name="adj" fmla="val 43590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3801" y="1665684"/>
            <a:ext cx="2616250" cy="2097732"/>
          </a:xfrm>
          <a:prstGeom prst="roundRect">
            <a:avLst>
              <a:gd name="adj" fmla="val 43590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94350" y="1665684"/>
            <a:ext cx="2616101" cy="2097732"/>
          </a:xfrm>
          <a:prstGeom prst="roundRect">
            <a:avLst>
              <a:gd name="adj" fmla="val 43590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877717"/>
            <a:ext cx="8077200" cy="495895"/>
          </a:xfrm>
          <a:prstGeom prst="rect">
            <a:avLst/>
          </a:prstGeom>
          <a:solidFill>
            <a:srgbClr val="E63946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769739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 Ground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1010394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South Africa: Three Simultaneous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Attack Tracks</a:t>
            </a:r>
            <a:endParaRPr lang="en-US" sz="2640" dirty="0"/>
          </a:p>
        </p:txBody>
      </p:sp>
      <p:sp>
        <p:nvSpPr>
          <p:cNvPr id="9" name="Text 6"/>
          <p:cNvSpPr/>
          <p:nvPr/>
        </p:nvSpPr>
        <p:spPr>
          <a:xfrm>
            <a:off x="695325" y="1827609"/>
            <a:ext cx="23380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💀 Criminal Ransomware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95325" y="2086570"/>
            <a:ext cx="2292251" cy="1514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Transnet 2021</a:t>
            </a:r>
            <a:pPr indent="0" marL="0">
              <a:lnSpc>
                <a:spcPts val="1325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ports at 10%, 60%+ container traffic disrupted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TransUnion 2022</a:t>
            </a:r>
            <a:pPr indent="0" marL="0">
              <a:lnSpc>
                <a:spcPts val="1325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54M records; password was "Password"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Cell C 2024</a:t>
            </a:r>
            <a:pPr indent="0" marL="0">
              <a:lnSpc>
                <a:spcPts val="1325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7.7M subscribers; 2TB published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MTN 2025</a:t>
            </a:r>
            <a:pPr indent="0" marL="0">
              <a:lnSpc>
                <a:spcPts val="1325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290M subscribers, 18 countries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Astral Foods 2025</a:t>
            </a:r>
            <a:pPr indent="0" marL="0">
              <a:lnSpc>
                <a:spcPts val="1325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R20M profit hit</a:t>
            </a:r>
            <a:endParaRPr lang="en-US" sz="828" dirty="0"/>
          </a:p>
        </p:txBody>
      </p:sp>
      <p:sp>
        <p:nvSpPr>
          <p:cNvPr id="11" name="Text 8"/>
          <p:cNvSpPr/>
          <p:nvPr/>
        </p:nvSpPr>
        <p:spPr>
          <a:xfrm>
            <a:off x="3425726" y="1827609"/>
            <a:ext cx="23382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🌐 Foreign State Influence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3425726" y="2086570"/>
            <a:ext cx="2292400" cy="100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Russian CIB targeting SA elections (2019, 2024)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Israeli info ops post-ICJ genocide case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Trump/AfriForum coercive narratives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BRICS non-alignment = multiple competing foreign influence tracks</a:t>
            </a:r>
            <a:endParaRPr lang="en-US" sz="828" dirty="0"/>
          </a:p>
        </p:txBody>
      </p:sp>
      <p:sp>
        <p:nvSpPr>
          <p:cNvPr id="13" name="Text 10"/>
          <p:cNvSpPr/>
          <p:nvPr/>
        </p:nvSpPr>
        <p:spPr>
          <a:xfrm>
            <a:off x="6156275" y="1827609"/>
            <a:ext cx="23380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🏠 Domestic Political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6156275" y="2086570"/>
            <a:ext cx="2292251" cy="100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Bell Pottinger 'white monopoly capital' CIB for Guptas (2016–17)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 influencer networks across political parties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closed-chain amplification</a:t>
            </a:r>
            <a:endParaRPr lang="en-US" sz="828" dirty="0"/>
          </a:p>
          <a:p>
            <a:pPr marL="342900" indent="-342900">
              <a:lnSpc>
                <a:spcPts val="1325"/>
              </a:lnSpc>
              <a:buSzPct val="100000"/>
              <a:buChar char="•"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moderation at African-language scale</a:t>
            </a:r>
            <a:endParaRPr lang="en-US" sz="828" dirty="0"/>
          </a:p>
        </p:txBody>
      </p:sp>
      <p:sp>
        <p:nvSpPr>
          <p:cNvPr id="15" name="Text 12"/>
          <p:cNvSpPr/>
          <p:nvPr/>
        </p:nvSpPr>
        <p:spPr>
          <a:xfrm>
            <a:off x="695325" y="3963442"/>
            <a:ext cx="7781925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 is unique: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Only country simultaneously targeted by criminal ransomware, foreign state influence ops, AND domestic commercial CIB — each requiring a different institutional response.</a:t>
            </a:r>
            <a:endParaRPr lang="en-US" sz="8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23776"/>
            <a:ext cx="276225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2099370"/>
            <a:ext cx="2603450" cy="1769864"/>
          </a:xfrm>
          <a:prstGeom prst="roundRect">
            <a:avLst>
              <a:gd name="adj" fmla="val 61998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70200" y="2099370"/>
            <a:ext cx="2603450" cy="1769864"/>
          </a:xfrm>
          <a:prstGeom prst="roundRect">
            <a:avLst>
              <a:gd name="adj" fmla="val 61998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07001" y="2099370"/>
            <a:ext cx="2603599" cy="1769864"/>
          </a:xfrm>
          <a:prstGeom prst="roundRect">
            <a:avLst>
              <a:gd name="adj" fmla="val 61998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983534"/>
            <a:ext cx="8077200" cy="495895"/>
          </a:xfrm>
          <a:prstGeom prst="rect">
            <a:avLst/>
          </a:prstGeom>
          <a:solidFill>
            <a:srgbClr val="F4A261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664071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Framework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904726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One-Size-Fits-All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Response</a:t>
            </a:r>
            <a:endParaRPr lang="en-US" sz="2640" dirty="0"/>
          </a:p>
        </p:txBody>
      </p:sp>
      <p:sp>
        <p:nvSpPr>
          <p:cNvPr id="9" name="Text 6"/>
          <p:cNvSpPr/>
          <p:nvPr/>
        </p:nvSpPr>
        <p:spPr>
          <a:xfrm>
            <a:off x="533400" y="1560016"/>
            <a:ext cx="76200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hybrid attack track requires a different institutional response. Mismatching response to threat type wastes resources and leaves real vulnerabilities unaddressed.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710505" y="2276475"/>
            <a:ext cx="229422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💀 Criminal Ransomware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710505" y="2546152"/>
            <a:ext cx="2249239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responds: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CISO, IR team, law enforcement (Hawks), Information Regulator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10505" y="2948434"/>
            <a:ext cx="2249239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hook: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POPIA s.22 — notify regulator within 72 hours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710505" y="3350716"/>
            <a:ext cx="2249239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tools: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Offline backups, network segmentation, SABRIC, AfricaCERT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3447306" y="2276475"/>
            <a:ext cx="229422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🌐 Foreign State Influence</a:t>
            </a:r>
            <a:endParaRPr lang="en-US" sz="936" dirty="0"/>
          </a:p>
        </p:txBody>
      </p:sp>
      <p:sp>
        <p:nvSpPr>
          <p:cNvPr id="15" name="Text 12"/>
          <p:cNvSpPr/>
          <p:nvPr/>
        </p:nvSpPr>
        <p:spPr>
          <a:xfrm>
            <a:off x="3447306" y="2546152"/>
            <a:ext cx="2249239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responds: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DIRCO, SSA, Electoral Commission, media, civil society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3447306" y="2948434"/>
            <a:ext cx="2249239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hook: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Electoral Act; RICA; proposed Online Safety Bill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3447306" y="3350716"/>
            <a:ext cx="2249239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tools: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Platform engagement, prebunking, diplomatic attribution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184106" y="2276475"/>
            <a:ext cx="229437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🏠 Domestic CIB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6184106" y="2546152"/>
            <a:ext cx="2249388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responds: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IEC, Press Ombudsman, SANEF, fact-checkers (Africa Check)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6184106" y="2948434"/>
            <a:ext cx="2249388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hook: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Electoral Code; ICASA; party funding disclosure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184106" y="3350716"/>
            <a:ext cx="2249388" cy="34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840" b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tools:</a:t>
            </a:r>
            <a:pPr indent="0" marL="0">
              <a:lnSpc>
                <a:spcPts val="1344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Monitoring, media literacy, influencer transparency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95325" y="4069259"/>
            <a:ext cx="7781925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SA is unique in facing all three tracks simultaneously — which means it needs all three response frameworks operating in parallel. Most organisations are only resourced for one.</a:t>
            </a:r>
            <a:endParaRPr lang="en-US" sz="8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973931"/>
            <a:ext cx="3171825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610171"/>
            <a:ext cx="3981450" cy="1047304"/>
          </a:xfrm>
          <a:prstGeom prst="roundRect">
            <a:avLst>
              <a:gd name="adj" fmla="val 873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29150" y="1610171"/>
            <a:ext cx="3981450" cy="1047304"/>
          </a:xfrm>
          <a:prstGeom prst="roundRect">
            <a:avLst>
              <a:gd name="adj" fmla="val 873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2771775"/>
            <a:ext cx="3981450" cy="1047304"/>
          </a:xfrm>
          <a:prstGeom prst="roundRect">
            <a:avLst>
              <a:gd name="adj" fmla="val 873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29150" y="2771775"/>
            <a:ext cx="3981450" cy="1047304"/>
          </a:xfrm>
          <a:prstGeom prst="roundRect">
            <a:avLst>
              <a:gd name="adj" fmla="val 873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3933379"/>
            <a:ext cx="8077200" cy="495895"/>
          </a:xfrm>
          <a:prstGeom prst="rect">
            <a:avLst/>
          </a:prstGeom>
          <a:solidFill>
            <a:srgbClr val="E63946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3400" y="714226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Governance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533400" y="954881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Multilateral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Frameworks &amp; Gaps</a:t>
            </a:r>
            <a:endParaRPr lang="en-US" sz="2640" dirty="0"/>
          </a:p>
        </p:txBody>
      </p:sp>
      <p:sp>
        <p:nvSpPr>
          <p:cNvPr id="10" name="Text 7"/>
          <p:cNvSpPr/>
          <p:nvPr/>
        </p:nvSpPr>
        <p:spPr>
          <a:xfrm>
            <a:off x="706636" y="1764357"/>
            <a:ext cx="37271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🇪🇺 EEAS / EDMO (EU)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706636" y="2023318"/>
            <a:ext cx="365402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FIMI reports; Rapid Alert System for near-real-time disinformation threat sharing; EU AI Act (2025) first regulatory framework for AI-generated content labelling.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4802386" y="1764357"/>
            <a:ext cx="37271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🌐 ITU / ITU-IMPACT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4802386" y="2023318"/>
            <a:ext cx="365402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157 member countries. Provides threat intelligence, training, and incident response to developing nations. SA is a member. Global Cybersecurity Agenda framework.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06636" y="2925961"/>
            <a:ext cx="37271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🌍 African Union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706636" y="3184922"/>
            <a:ext cx="365402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Malabo Convention (2014): only </a:t>
            </a:r>
            <a:pPr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of 55 AU members ratified</a:t>
            </a:r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of 2025. AU-CIRT established 2020. Major governance gap — continental framework exists but enforcement doesn't.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4802386" y="2925961"/>
            <a:ext cx="37271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🔬 OASIS / STIX + FIRST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4802386" y="3184922"/>
            <a:ext cx="365402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OASIS developing STIX extensions to model FIMI alongside traditional cyber threats. FIRST: 700+ global CERTs including AfricaCERT for regional incident coordination.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95325" y="4019104"/>
            <a:ext cx="7781925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852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gap:</a:t>
            </a:r>
            <a:pPr indent="0" marL="0">
              <a:lnSpc>
                <a:spcPts val="1278"/>
              </a:lnSpc>
              <a:buNone/>
            </a:pPr>
            <a:r>
              <a:rPr lang="en-US" sz="852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major frameworks are primarily designed by Global North actors. African civil society (Paradigm Initiative, Research ICT Africa, CIPESA) is building continental capacity — but severely under-resourced relative to the threat scale.</a:t>
            </a:r>
            <a:endParaRPr lang="en-US" sz="8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1098947"/>
            <a:ext cx="91440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735187"/>
            <a:ext cx="3981450" cy="1099691"/>
          </a:xfrm>
          <a:prstGeom prst="roundRect">
            <a:avLst>
              <a:gd name="adj" fmla="val 8315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29150" y="1735187"/>
            <a:ext cx="3981450" cy="1099691"/>
          </a:xfrm>
          <a:prstGeom prst="roundRect">
            <a:avLst>
              <a:gd name="adj" fmla="val 8315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2949178"/>
            <a:ext cx="3981450" cy="1099691"/>
          </a:xfrm>
          <a:prstGeom prst="roundRect">
            <a:avLst>
              <a:gd name="adj" fmla="val 8315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29150" y="2949178"/>
            <a:ext cx="3981450" cy="1099691"/>
          </a:xfrm>
          <a:prstGeom prst="roundRect">
            <a:avLst>
              <a:gd name="adj" fmla="val 8315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3400" y="839242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Security Leaders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33400" y="1079897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Firms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Can Do</a:t>
            </a:r>
            <a:endParaRPr lang="en-US" sz="2640" dirty="0"/>
          </a:p>
        </p:txBody>
      </p:sp>
      <p:sp>
        <p:nvSpPr>
          <p:cNvPr id="9" name="Text 6"/>
          <p:cNvSpPr/>
          <p:nvPr/>
        </p:nvSpPr>
        <p:spPr>
          <a:xfrm>
            <a:off x="714375" y="1897112"/>
            <a:ext cx="371132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🔭 Detect the Hybrid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714375" y="2160836"/>
            <a:ext cx="3638550" cy="51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 SOC for narrative threats, not just technical IoCs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leak sites &amp; dark web for brand/exec mentions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social media for executive impersonation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810125" y="1897112"/>
            <a:ext cx="371132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🛡️ Defend the Human Layer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4810125" y="2160836"/>
            <a:ext cx="3638550" cy="51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 desk: callback on known number + manager approval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Finance: multi-channel out-of-band for large transfers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staff: one call to a known number saves millions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714375" y="3111103"/>
            <a:ext cx="371132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💪 Build Resilience</a:t>
            </a:r>
            <a:endParaRPr lang="en-US" sz="984" dirty="0"/>
          </a:p>
        </p:txBody>
      </p:sp>
      <p:sp>
        <p:nvSpPr>
          <p:cNvPr id="14" name="Text 11"/>
          <p:cNvSpPr/>
          <p:nvPr/>
        </p:nvSpPr>
        <p:spPr>
          <a:xfrm>
            <a:off x="714375" y="3374827"/>
            <a:ext cx="3638550" cy="51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backups + tested DR plan (Transnet model)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OT/IT networks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ransomware tabletop exercises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810125" y="3111103"/>
            <a:ext cx="371132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🤝 Engage the Ecosystem</a:t>
            </a:r>
            <a:endParaRPr lang="en-US" sz="984" dirty="0"/>
          </a:p>
        </p:txBody>
      </p:sp>
      <p:sp>
        <p:nvSpPr>
          <p:cNvPr id="16" name="Text 13"/>
          <p:cNvSpPr/>
          <p:nvPr/>
        </p:nvSpPr>
        <p:spPr>
          <a:xfrm>
            <a:off x="4810125" y="3374827"/>
            <a:ext cx="3638550" cy="51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Notify Information Regulator within 72h (POPIA s.22)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 SABRIC, Hawks, AfricaCERT, SAFPS</a:t>
            </a:r>
            <a:endParaRPr lang="en-US" sz="840" dirty="0"/>
          </a:p>
          <a:p>
            <a:pPr marL="342900" indent="-342900">
              <a:lnSpc>
                <a:spcPts val="1344"/>
              </a:lnSpc>
              <a:buSzPct val="100000"/>
              <a:buChar char="•"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crisis comms for the leak-site narrative threat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52628" y="4144119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Ransomware extortion is simultaneously a technical breach AND a psychological influence operation — your IR plan must address both tracks</a:t>
            </a:r>
            <a:endParaRPr lang="en-US" sz="8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616595"/>
            <a:ext cx="2095500" cy="447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252835"/>
            <a:ext cx="2616101" cy="1709738"/>
          </a:xfrm>
          <a:prstGeom prst="roundRect">
            <a:avLst>
              <a:gd name="adj" fmla="val 53482"/>
            </a:avLst>
          </a:prstGeom>
          <a:solidFill>
            <a:srgbClr val="F4A261">
              <a:alpha val="8000"/>
            </a:srgbClr>
          </a:solidFill>
          <a:ln w="9525">
            <a:solidFill>
              <a:srgbClr val="F4A26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63801" y="1252835"/>
            <a:ext cx="2616250" cy="1709738"/>
          </a:xfrm>
          <a:prstGeom prst="roundRect">
            <a:avLst>
              <a:gd name="adj" fmla="val 53482"/>
            </a:avLst>
          </a:prstGeom>
          <a:solidFill>
            <a:srgbClr val="4FCAB9">
              <a:alpha val="8000"/>
            </a:srgbClr>
          </a:solidFill>
          <a:ln w="9525">
            <a:solidFill>
              <a:srgbClr val="4FCAB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994350" y="1252835"/>
            <a:ext cx="2616101" cy="1709738"/>
          </a:xfrm>
          <a:prstGeom prst="roundRect">
            <a:avLst>
              <a:gd name="adj" fmla="val 53482"/>
            </a:avLst>
          </a:prstGeom>
          <a:solidFill>
            <a:srgbClr val="E63946">
              <a:alpha val="8000"/>
            </a:srgbClr>
          </a:solidFill>
          <a:ln w="9525">
            <a:solidFill>
              <a:srgbClr val="E6394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076873"/>
            <a:ext cx="2616101" cy="1709738"/>
          </a:xfrm>
          <a:prstGeom prst="roundRect">
            <a:avLst>
              <a:gd name="adj" fmla="val 53482"/>
            </a:avLst>
          </a:prstGeom>
          <a:solidFill>
            <a:srgbClr val="457B9D">
              <a:alpha val="8000"/>
            </a:srgbClr>
          </a:solidFill>
          <a:ln w="9525">
            <a:solidFill>
              <a:srgbClr val="457B9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63801" y="3076873"/>
            <a:ext cx="2616250" cy="1709738"/>
          </a:xfrm>
          <a:prstGeom prst="roundRect">
            <a:avLst>
              <a:gd name="adj" fmla="val 53482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94350" y="3076873"/>
            <a:ext cx="2616101" cy="1709738"/>
          </a:xfrm>
          <a:prstGeom prst="roundRect">
            <a:avLst>
              <a:gd name="adj" fmla="val 5348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" y="356890"/>
            <a:ext cx="8238744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Civil Society &amp; Citizens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533400" y="597545"/>
            <a:ext cx="82387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E6394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Communities</a:t>
            </a:r>
            <a:pPr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Can Do</a:t>
            </a:r>
            <a:endParaRPr lang="en-US" sz="2640" dirty="0"/>
          </a:p>
        </p:txBody>
      </p:sp>
      <p:sp>
        <p:nvSpPr>
          <p:cNvPr id="11" name="Text 8"/>
          <p:cNvSpPr/>
          <p:nvPr/>
        </p:nvSpPr>
        <p:spPr>
          <a:xfrm>
            <a:off x="695325" y="1414760"/>
            <a:ext cx="23380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🧠</a:t>
            </a:r>
            <a:endParaRPr lang="en-US" sz="1560" dirty="0"/>
          </a:p>
        </p:txBody>
      </p:sp>
      <p:sp>
        <p:nvSpPr>
          <p:cNvPr id="12" name="Text 9"/>
          <p:cNvSpPr/>
          <p:nvPr/>
        </p:nvSpPr>
        <p:spPr>
          <a:xfrm>
            <a:off x="695325" y="1772692"/>
            <a:ext cx="23380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Prebunking &gt; Fact-Checking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695325" y="2011859"/>
            <a:ext cx="2292251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Inoculation reduces susceptibility by 20–30%. Must be in local languages: Zulu, Xhosa, Sotho, Hausa, Swahili — not English only.</a:t>
            </a:r>
            <a:endParaRPr lang="en-US" sz="828" dirty="0"/>
          </a:p>
        </p:txBody>
      </p:sp>
      <p:sp>
        <p:nvSpPr>
          <p:cNvPr id="14" name="Text 11"/>
          <p:cNvSpPr/>
          <p:nvPr/>
        </p:nvSpPr>
        <p:spPr>
          <a:xfrm>
            <a:off x="3425726" y="1414760"/>
            <a:ext cx="233824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👥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3425726" y="1772692"/>
            <a:ext cx="233824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 Community Messengers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3425726" y="2011859"/>
            <a:ext cx="2292400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disinformation (COVID, polio) countered most effectively by religious leaders and community health workers — not government spokespeople. Same for political disinformation.</a:t>
            </a:r>
            <a:endParaRPr lang="en-US" sz="828" dirty="0"/>
          </a:p>
        </p:txBody>
      </p:sp>
      <p:sp>
        <p:nvSpPr>
          <p:cNvPr id="17" name="Text 14"/>
          <p:cNvSpPr/>
          <p:nvPr/>
        </p:nvSpPr>
        <p:spPr>
          <a:xfrm>
            <a:off x="6156275" y="1414760"/>
            <a:ext cx="23380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📱</a:t>
            </a:r>
            <a:endParaRPr lang="en-US" sz="1560" dirty="0"/>
          </a:p>
        </p:txBody>
      </p:sp>
      <p:sp>
        <p:nvSpPr>
          <p:cNvPr id="18" name="Text 15"/>
          <p:cNvSpPr/>
          <p:nvPr/>
        </p:nvSpPr>
        <p:spPr>
          <a:xfrm>
            <a:off x="6156275" y="1772692"/>
            <a:ext cx="23380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 Accountability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6156275" y="2011859"/>
            <a:ext cx="2292251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 Monitoring Africa, Right2Know successfully pressured platforms. Meta ending 3rd-party fact-checking affects Africa Check (SA-headquartered). Advocate for African-language moderation investment.</a:t>
            </a:r>
            <a:endParaRPr lang="en-US" sz="828" dirty="0"/>
          </a:p>
        </p:txBody>
      </p:sp>
      <p:sp>
        <p:nvSpPr>
          <p:cNvPr id="20" name="Text 17"/>
          <p:cNvSpPr/>
          <p:nvPr/>
        </p:nvSpPr>
        <p:spPr>
          <a:xfrm>
            <a:off x="695325" y="3238798"/>
            <a:ext cx="23380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🔐</a:t>
            </a:r>
            <a:endParaRPr lang="en-US" sz="1560" dirty="0"/>
          </a:p>
        </p:txBody>
      </p:sp>
      <p:sp>
        <p:nvSpPr>
          <p:cNvPr id="21" name="Text 18"/>
          <p:cNvSpPr/>
          <p:nvPr/>
        </p:nvSpPr>
        <p:spPr>
          <a:xfrm>
            <a:off x="695325" y="3596729"/>
            <a:ext cx="23380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Rights &amp; Privacy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695325" y="3835896"/>
            <a:ext cx="229225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with SAFPS if data breached. Teach communities: what to do if your ID is in a breach. SIM-swap fraud is a direct consequence of ransomware group data sales.</a:t>
            </a:r>
            <a:endParaRPr lang="en-US" sz="828" dirty="0"/>
          </a:p>
        </p:txBody>
      </p:sp>
      <p:sp>
        <p:nvSpPr>
          <p:cNvPr id="23" name="Text 20"/>
          <p:cNvSpPr/>
          <p:nvPr/>
        </p:nvSpPr>
        <p:spPr>
          <a:xfrm>
            <a:off x="3425726" y="3238798"/>
            <a:ext cx="233824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🗳️</a:t>
            </a:r>
            <a:endParaRPr lang="en-US" sz="1560" dirty="0"/>
          </a:p>
        </p:txBody>
      </p:sp>
      <p:sp>
        <p:nvSpPr>
          <p:cNvPr id="24" name="Text 21"/>
          <p:cNvSpPr/>
          <p:nvPr/>
        </p:nvSpPr>
        <p:spPr>
          <a:xfrm>
            <a:off x="3425726" y="3596729"/>
            <a:ext cx="233824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C084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Election Integrity Monitoring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3425726" y="3835896"/>
            <a:ext cx="2292400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EISA, SADC Election Support Network, IEC need digital/cyber threat monitoring integrated with traditional election observation. Report CIB activity to platforms and IEC.</a:t>
            </a:r>
            <a:endParaRPr lang="en-US" sz="828" dirty="0"/>
          </a:p>
        </p:txBody>
      </p:sp>
      <p:sp>
        <p:nvSpPr>
          <p:cNvPr id="26" name="Text 23"/>
          <p:cNvSpPr/>
          <p:nvPr/>
        </p:nvSpPr>
        <p:spPr>
          <a:xfrm>
            <a:off x="6156275" y="3238798"/>
            <a:ext cx="23380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🔬</a:t>
            </a:r>
            <a:endParaRPr lang="en-US" sz="1560" dirty="0"/>
          </a:p>
        </p:txBody>
      </p:sp>
      <p:sp>
        <p:nvSpPr>
          <p:cNvPr id="27" name="Text 24"/>
          <p:cNvSpPr/>
          <p:nvPr/>
        </p:nvSpPr>
        <p:spPr>
          <a:xfrm>
            <a:off x="6156275" y="3596729"/>
            <a:ext cx="233809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1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Local Research Capacity</a:t>
            </a:r>
            <a:endParaRPr lang="en-US" sz="936" dirty="0"/>
          </a:p>
        </p:txBody>
      </p:sp>
      <p:sp>
        <p:nvSpPr>
          <p:cNvPr id="28" name="Text 25"/>
          <p:cNvSpPr/>
          <p:nvPr/>
        </p:nvSpPr>
        <p:spPr>
          <a:xfrm>
            <a:off x="6156275" y="3835896"/>
            <a:ext cx="2292251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2"/>
              </a:lnSpc>
              <a:buNone/>
            </a:pPr>
            <a:r>
              <a:rPr lang="en-US" sz="828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Paradigm Initiative, CIPESA, Research ICT Africa building continental capacity. Under-resourced relative to the threat. Support and fund African researchers studying African hybrid threats.</a:t>
            </a:r>
            <a:endParaRPr lang="en-US" sz="82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02110"/>
            <a:ext cx="3514725" cy="523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1151930"/>
            <a:ext cx="400278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533400" y="1430685"/>
            <a:ext cx="4002786" cy="475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44"/>
              </a:lnSpc>
              <a:buNone/>
            </a:pPr>
            <a:r>
              <a:rPr lang="en-US" sz="3120" b="1" dirty="0">
                <a:solidFill>
                  <a:srgbClr val="F1F5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Let Freedom Reign</a:t>
            </a:r>
            <a:endParaRPr lang="en-US" sz="3120" dirty="0"/>
          </a:p>
        </p:txBody>
      </p:sp>
      <p:sp>
        <p:nvSpPr>
          <p:cNvPr id="5" name="Text 2"/>
          <p:cNvSpPr/>
          <p:nvPr/>
        </p:nvSpPr>
        <p:spPr>
          <a:xfrm>
            <a:off x="714375" y="2058442"/>
            <a:ext cx="37433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i="1" dirty="0">
                <a:solidFill>
                  <a:srgbClr val="CBD5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"Let freedom reign. The sun shall never set on so glorious a human achievement."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533400" y="2876401"/>
            <a:ext cx="392430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freedom must extend to the digital age — not just freedom from 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E6394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intrusion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but freedom from 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4A26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manipulation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freedom from 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6AAF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abuse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freedom from 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4FCA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exploitation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3400" y="3546574"/>
            <a:ext cx="3924300" cy="4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864" i="1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"Freedom in the digital age requires us to defend all four quadrants — not just the one our job title assigns us to."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2026-05-21T16:50:21Z</dcterms:created>
  <dcterms:modified xsi:type="dcterms:W3CDTF">2026-05-21T16:50:21Z</dcterms:modified>
</cp:coreProperties>
</file>