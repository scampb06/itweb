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handoutMasterIdLst>
    <p:handoutMasterId r:id="rId22"/>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4CFEBF-357B-49D1-A20F-4B0DDAE5D073}" v="37" dt="2026-05-21T20:52:28.2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55704" autoAdjust="0"/>
  </p:normalViewPr>
  <p:slideViewPr>
    <p:cSldViewPr>
      <p:cViewPr varScale="1">
        <p:scale>
          <a:sx n="61" d="100"/>
          <a:sy n="61" d="100"/>
        </p:scale>
        <p:origin x="2002" y="43"/>
      </p:cViewPr>
      <p:guideLst>
        <p:guide orient="horz" pos="1620"/>
        <p:guide pos="2880"/>
      </p:guideLst>
    </p:cSldViewPr>
  </p:slideViewPr>
  <p:notesTextViewPr>
    <p:cViewPr>
      <p:scale>
        <a:sx n="1" d="1"/>
        <a:sy n="1" d="1"/>
      </p:scale>
      <p:origin x="0" y="0"/>
    </p:cViewPr>
  </p:notesTextViewPr>
  <p:notesViewPr>
    <p:cSldViewPr>
      <p:cViewPr varScale="1">
        <p:scale>
          <a:sx n="57" d="100"/>
          <a:sy n="57" d="100"/>
        </p:scale>
        <p:origin x="-2862"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phen Campbell" userId="038c3b5ed3a64a24" providerId="LiveId" clId="{03ABA033-24B8-4A46-823D-685D4D3DB034}"/>
    <pc:docChg chg="undo custSel addSld delSld modSld">
      <pc:chgData name="Stephen Campbell" userId="038c3b5ed3a64a24" providerId="LiveId" clId="{03ABA033-24B8-4A46-823D-685D4D3DB034}" dt="2026-05-21T20:52:45.140" v="151" actId="47"/>
      <pc:docMkLst>
        <pc:docMk/>
      </pc:docMkLst>
      <pc:sldChg chg="addSp modSp mod">
        <pc:chgData name="Stephen Campbell" userId="038c3b5ed3a64a24" providerId="LiveId" clId="{03ABA033-24B8-4A46-823D-685D4D3DB034}" dt="2026-05-21T20:01:54.033" v="50" actId="14100"/>
        <pc:sldMkLst>
          <pc:docMk/>
          <pc:sldMk cId="0" sldId="256"/>
        </pc:sldMkLst>
        <pc:picChg chg="add mod modCrop">
          <ac:chgData name="Stephen Campbell" userId="038c3b5ed3a64a24" providerId="LiveId" clId="{03ABA033-24B8-4A46-823D-685D4D3DB034}" dt="2026-05-21T20:01:54.033" v="50" actId="14100"/>
          <ac:picMkLst>
            <pc:docMk/>
            <pc:sldMk cId="0" sldId="256"/>
            <ac:picMk id="3" creationId="{EC50D5D7-FB6C-EB8A-4A14-0C377DF62E8B}"/>
          </ac:picMkLst>
        </pc:picChg>
      </pc:sldChg>
      <pc:sldChg chg="addSp delSp modSp mod">
        <pc:chgData name="Stephen Campbell" userId="038c3b5ed3a64a24" providerId="LiveId" clId="{03ABA033-24B8-4A46-823D-685D4D3DB034}" dt="2026-05-21T20:01:21.263" v="46" actId="14100"/>
        <pc:sldMkLst>
          <pc:docMk/>
          <pc:sldMk cId="0" sldId="257"/>
        </pc:sldMkLst>
        <pc:picChg chg="add del mod">
          <ac:chgData name="Stephen Campbell" userId="038c3b5ed3a64a24" providerId="LiveId" clId="{03ABA033-24B8-4A46-823D-685D4D3DB034}" dt="2026-05-21T19:59:40.208" v="42" actId="478"/>
          <ac:picMkLst>
            <pc:docMk/>
            <pc:sldMk cId="0" sldId="257"/>
            <ac:picMk id="3" creationId="{31431A03-4720-6D52-2022-6963BA1072C1}"/>
          </ac:picMkLst>
        </pc:picChg>
        <pc:picChg chg="add mod">
          <ac:chgData name="Stephen Campbell" userId="038c3b5ed3a64a24" providerId="LiveId" clId="{03ABA033-24B8-4A46-823D-685D4D3DB034}" dt="2026-05-21T20:01:21.263" v="46" actId="14100"/>
          <ac:picMkLst>
            <pc:docMk/>
            <pc:sldMk cId="0" sldId="257"/>
            <ac:picMk id="5" creationId="{3E8E981E-CCCC-7EE9-4081-0D4ECC093867}"/>
          </ac:picMkLst>
        </pc:picChg>
      </pc:sldChg>
      <pc:sldChg chg="addSp delSp modSp add mod">
        <pc:chgData name="Stephen Campbell" userId="038c3b5ed3a64a24" providerId="LiveId" clId="{03ABA033-24B8-4A46-823D-685D4D3DB034}" dt="2026-05-21T20:09:06.905" v="56" actId="14100"/>
        <pc:sldMkLst>
          <pc:docMk/>
          <pc:sldMk cId="406895635" sldId="258"/>
        </pc:sldMkLst>
        <pc:picChg chg="add del mod">
          <ac:chgData name="Stephen Campbell" userId="038c3b5ed3a64a24" providerId="LiveId" clId="{03ABA033-24B8-4A46-823D-685D4D3DB034}" dt="2026-05-21T20:07:36.249" v="53" actId="478"/>
          <ac:picMkLst>
            <pc:docMk/>
            <pc:sldMk cId="406895635" sldId="258"/>
            <ac:picMk id="3" creationId="{2BE4F59D-3567-618D-6961-B32FD876B348}"/>
          </ac:picMkLst>
        </pc:picChg>
        <pc:picChg chg="add mod">
          <ac:chgData name="Stephen Campbell" userId="038c3b5ed3a64a24" providerId="LiveId" clId="{03ABA033-24B8-4A46-823D-685D4D3DB034}" dt="2026-05-21T20:09:06.905" v="56" actId="14100"/>
          <ac:picMkLst>
            <pc:docMk/>
            <pc:sldMk cId="406895635" sldId="258"/>
            <ac:picMk id="5" creationId="{A86DB016-808C-DB50-9B67-FAE3A10FDB02}"/>
          </ac:picMkLst>
        </pc:picChg>
      </pc:sldChg>
      <pc:sldChg chg="addSp modSp add mod">
        <pc:chgData name="Stephen Campbell" userId="038c3b5ed3a64a24" providerId="LiveId" clId="{03ABA033-24B8-4A46-823D-685D4D3DB034}" dt="2026-05-21T20:10:54.891" v="59" actId="14100"/>
        <pc:sldMkLst>
          <pc:docMk/>
          <pc:sldMk cId="1605043243" sldId="259"/>
        </pc:sldMkLst>
        <pc:picChg chg="add mod">
          <ac:chgData name="Stephen Campbell" userId="038c3b5ed3a64a24" providerId="LiveId" clId="{03ABA033-24B8-4A46-823D-685D4D3DB034}" dt="2026-05-21T20:10:54.891" v="59" actId="14100"/>
          <ac:picMkLst>
            <pc:docMk/>
            <pc:sldMk cId="1605043243" sldId="259"/>
            <ac:picMk id="3" creationId="{C3FE4C91-2EBE-5DF6-0E73-557016F23E00}"/>
          </ac:picMkLst>
        </pc:picChg>
      </pc:sldChg>
      <pc:sldChg chg="addSp modSp add mod">
        <pc:chgData name="Stephen Campbell" userId="038c3b5ed3a64a24" providerId="LiveId" clId="{03ABA033-24B8-4A46-823D-685D4D3DB034}" dt="2026-05-21T20:12:57.555" v="62" actId="14100"/>
        <pc:sldMkLst>
          <pc:docMk/>
          <pc:sldMk cId="2219578225" sldId="260"/>
        </pc:sldMkLst>
        <pc:picChg chg="add mod">
          <ac:chgData name="Stephen Campbell" userId="038c3b5ed3a64a24" providerId="LiveId" clId="{03ABA033-24B8-4A46-823D-685D4D3DB034}" dt="2026-05-21T20:12:57.555" v="62" actId="14100"/>
          <ac:picMkLst>
            <pc:docMk/>
            <pc:sldMk cId="2219578225" sldId="260"/>
            <ac:picMk id="3" creationId="{55820C27-D9B7-100A-4A47-52E324BE11E0}"/>
          </ac:picMkLst>
        </pc:picChg>
      </pc:sldChg>
      <pc:sldChg chg="addSp modSp add mod">
        <pc:chgData name="Stephen Campbell" userId="038c3b5ed3a64a24" providerId="LiveId" clId="{03ABA033-24B8-4A46-823D-685D4D3DB034}" dt="2026-05-21T20:16:00.439" v="67" actId="14100"/>
        <pc:sldMkLst>
          <pc:docMk/>
          <pc:sldMk cId="1917772099" sldId="261"/>
        </pc:sldMkLst>
        <pc:picChg chg="add mod">
          <ac:chgData name="Stephen Campbell" userId="038c3b5ed3a64a24" providerId="LiveId" clId="{03ABA033-24B8-4A46-823D-685D4D3DB034}" dt="2026-05-21T20:16:00.439" v="67" actId="14100"/>
          <ac:picMkLst>
            <pc:docMk/>
            <pc:sldMk cId="1917772099" sldId="261"/>
            <ac:picMk id="3" creationId="{CAD9FBEB-2B81-5843-2217-D0FA6A0A70C7}"/>
          </ac:picMkLst>
        </pc:picChg>
      </pc:sldChg>
      <pc:sldChg chg="addSp modSp add mod">
        <pc:chgData name="Stephen Campbell" userId="038c3b5ed3a64a24" providerId="LiveId" clId="{03ABA033-24B8-4A46-823D-685D4D3DB034}" dt="2026-05-21T20:17:39.367" v="69" actId="14100"/>
        <pc:sldMkLst>
          <pc:docMk/>
          <pc:sldMk cId="1122328568" sldId="262"/>
        </pc:sldMkLst>
        <pc:picChg chg="add mod">
          <ac:chgData name="Stephen Campbell" userId="038c3b5ed3a64a24" providerId="LiveId" clId="{03ABA033-24B8-4A46-823D-685D4D3DB034}" dt="2026-05-21T20:17:39.367" v="69" actId="14100"/>
          <ac:picMkLst>
            <pc:docMk/>
            <pc:sldMk cId="1122328568" sldId="262"/>
            <ac:picMk id="3" creationId="{35D6C80A-2BD7-5669-81BD-8450D47BF4D8}"/>
          </ac:picMkLst>
        </pc:picChg>
      </pc:sldChg>
      <pc:sldChg chg="addSp modSp add mod">
        <pc:chgData name="Stephen Campbell" userId="038c3b5ed3a64a24" providerId="LiveId" clId="{03ABA033-24B8-4A46-823D-685D4D3DB034}" dt="2026-05-21T20:23:49.381" v="76" actId="14100"/>
        <pc:sldMkLst>
          <pc:docMk/>
          <pc:sldMk cId="2076069025" sldId="263"/>
        </pc:sldMkLst>
        <pc:picChg chg="add mod">
          <ac:chgData name="Stephen Campbell" userId="038c3b5ed3a64a24" providerId="LiveId" clId="{03ABA033-24B8-4A46-823D-685D4D3DB034}" dt="2026-05-21T20:23:49.381" v="76" actId="14100"/>
          <ac:picMkLst>
            <pc:docMk/>
            <pc:sldMk cId="2076069025" sldId="263"/>
            <ac:picMk id="3" creationId="{88ECE9E4-8380-EF41-6769-A33D8C53C98D}"/>
          </ac:picMkLst>
        </pc:picChg>
      </pc:sldChg>
      <pc:sldChg chg="addSp modSp add mod">
        <pc:chgData name="Stephen Campbell" userId="038c3b5ed3a64a24" providerId="LiveId" clId="{03ABA033-24B8-4A46-823D-685D4D3DB034}" dt="2026-05-21T20:26:06.363" v="79" actId="14100"/>
        <pc:sldMkLst>
          <pc:docMk/>
          <pc:sldMk cId="2642571931" sldId="264"/>
        </pc:sldMkLst>
        <pc:picChg chg="add mod">
          <ac:chgData name="Stephen Campbell" userId="038c3b5ed3a64a24" providerId="LiveId" clId="{03ABA033-24B8-4A46-823D-685D4D3DB034}" dt="2026-05-21T20:26:06.363" v="79" actId="14100"/>
          <ac:picMkLst>
            <pc:docMk/>
            <pc:sldMk cId="2642571931" sldId="264"/>
            <ac:picMk id="3" creationId="{50C92A63-8717-FE54-274B-721AEB6D4C3D}"/>
          </ac:picMkLst>
        </pc:picChg>
      </pc:sldChg>
      <pc:sldChg chg="addSp modSp add mod">
        <pc:chgData name="Stephen Campbell" userId="038c3b5ed3a64a24" providerId="LiveId" clId="{03ABA033-24B8-4A46-823D-685D4D3DB034}" dt="2026-05-21T20:28:54.482" v="82" actId="14100"/>
        <pc:sldMkLst>
          <pc:docMk/>
          <pc:sldMk cId="2522997299" sldId="265"/>
        </pc:sldMkLst>
        <pc:picChg chg="add mod">
          <ac:chgData name="Stephen Campbell" userId="038c3b5ed3a64a24" providerId="LiveId" clId="{03ABA033-24B8-4A46-823D-685D4D3DB034}" dt="2026-05-21T20:28:54.482" v="82" actId="14100"/>
          <ac:picMkLst>
            <pc:docMk/>
            <pc:sldMk cId="2522997299" sldId="265"/>
            <ac:picMk id="3" creationId="{51C60C2D-FDFF-4CFA-32B1-BE82ECFB857C}"/>
          </ac:picMkLst>
        </pc:picChg>
      </pc:sldChg>
      <pc:sldChg chg="addSp modSp add mod">
        <pc:chgData name="Stephen Campbell" userId="038c3b5ed3a64a24" providerId="LiveId" clId="{03ABA033-24B8-4A46-823D-685D4D3DB034}" dt="2026-05-21T20:31:05.012" v="85" actId="14100"/>
        <pc:sldMkLst>
          <pc:docMk/>
          <pc:sldMk cId="3623311715" sldId="266"/>
        </pc:sldMkLst>
        <pc:picChg chg="add mod">
          <ac:chgData name="Stephen Campbell" userId="038c3b5ed3a64a24" providerId="LiveId" clId="{03ABA033-24B8-4A46-823D-685D4D3DB034}" dt="2026-05-21T20:31:05.012" v="85" actId="14100"/>
          <ac:picMkLst>
            <pc:docMk/>
            <pc:sldMk cId="3623311715" sldId="266"/>
            <ac:picMk id="3" creationId="{AE647F14-8220-64BD-83F1-7B4A5E35C305}"/>
          </ac:picMkLst>
        </pc:picChg>
      </pc:sldChg>
      <pc:sldChg chg="addSp modSp add mod">
        <pc:chgData name="Stephen Campbell" userId="038c3b5ed3a64a24" providerId="LiveId" clId="{03ABA033-24B8-4A46-823D-685D4D3DB034}" dt="2026-05-21T20:33:22.518" v="91" actId="14100"/>
        <pc:sldMkLst>
          <pc:docMk/>
          <pc:sldMk cId="2174710544" sldId="267"/>
        </pc:sldMkLst>
        <pc:picChg chg="add mod">
          <ac:chgData name="Stephen Campbell" userId="038c3b5ed3a64a24" providerId="LiveId" clId="{03ABA033-24B8-4A46-823D-685D4D3DB034}" dt="2026-05-21T20:33:22.518" v="91" actId="14100"/>
          <ac:picMkLst>
            <pc:docMk/>
            <pc:sldMk cId="2174710544" sldId="267"/>
            <ac:picMk id="3" creationId="{78E72B03-E2E2-3DE8-9607-27AC6BF93F51}"/>
          </ac:picMkLst>
        </pc:picChg>
      </pc:sldChg>
      <pc:sldChg chg="addSp modSp add mod">
        <pc:chgData name="Stephen Campbell" userId="038c3b5ed3a64a24" providerId="LiveId" clId="{03ABA033-24B8-4A46-823D-685D4D3DB034}" dt="2026-05-21T20:35:45.552" v="98" actId="14100"/>
        <pc:sldMkLst>
          <pc:docMk/>
          <pc:sldMk cId="237894032" sldId="268"/>
        </pc:sldMkLst>
        <pc:picChg chg="add mod">
          <ac:chgData name="Stephen Campbell" userId="038c3b5ed3a64a24" providerId="LiveId" clId="{03ABA033-24B8-4A46-823D-685D4D3DB034}" dt="2026-05-21T20:35:45.552" v="98" actId="14100"/>
          <ac:picMkLst>
            <pc:docMk/>
            <pc:sldMk cId="237894032" sldId="268"/>
            <ac:picMk id="3" creationId="{59D23D1A-5DA2-C7C2-DA07-29658B4A3627}"/>
          </ac:picMkLst>
        </pc:picChg>
      </pc:sldChg>
      <pc:sldChg chg="addSp modSp add mod">
        <pc:chgData name="Stephen Campbell" userId="038c3b5ed3a64a24" providerId="LiveId" clId="{03ABA033-24B8-4A46-823D-685D4D3DB034}" dt="2026-05-21T20:38:35.045" v="110" actId="14100"/>
        <pc:sldMkLst>
          <pc:docMk/>
          <pc:sldMk cId="503711600" sldId="269"/>
        </pc:sldMkLst>
        <pc:picChg chg="add mod">
          <ac:chgData name="Stephen Campbell" userId="038c3b5ed3a64a24" providerId="LiveId" clId="{03ABA033-24B8-4A46-823D-685D4D3DB034}" dt="2026-05-21T20:38:35.045" v="110" actId="14100"/>
          <ac:picMkLst>
            <pc:docMk/>
            <pc:sldMk cId="503711600" sldId="269"/>
            <ac:picMk id="3" creationId="{99BA2E27-552D-555B-8786-66A792D814E6}"/>
          </ac:picMkLst>
        </pc:picChg>
      </pc:sldChg>
      <pc:sldChg chg="addSp modSp add mod">
        <pc:chgData name="Stephen Campbell" userId="038c3b5ed3a64a24" providerId="LiveId" clId="{03ABA033-24B8-4A46-823D-685D4D3DB034}" dt="2026-05-21T20:41:13.024" v="115" actId="14100"/>
        <pc:sldMkLst>
          <pc:docMk/>
          <pc:sldMk cId="1413320232" sldId="270"/>
        </pc:sldMkLst>
        <pc:picChg chg="add mod">
          <ac:chgData name="Stephen Campbell" userId="038c3b5ed3a64a24" providerId="LiveId" clId="{03ABA033-24B8-4A46-823D-685D4D3DB034}" dt="2026-05-21T20:41:13.024" v="115" actId="14100"/>
          <ac:picMkLst>
            <pc:docMk/>
            <pc:sldMk cId="1413320232" sldId="270"/>
            <ac:picMk id="3" creationId="{F5CEB24C-84D0-B011-6EAD-2AD4DC25CCFE}"/>
          </ac:picMkLst>
        </pc:picChg>
      </pc:sldChg>
      <pc:sldChg chg="addSp modSp add mod">
        <pc:chgData name="Stephen Campbell" userId="038c3b5ed3a64a24" providerId="LiveId" clId="{03ABA033-24B8-4A46-823D-685D4D3DB034}" dt="2026-05-21T20:43:06.483" v="118" actId="14100"/>
        <pc:sldMkLst>
          <pc:docMk/>
          <pc:sldMk cId="3579345454" sldId="271"/>
        </pc:sldMkLst>
        <pc:picChg chg="add mod">
          <ac:chgData name="Stephen Campbell" userId="038c3b5ed3a64a24" providerId="LiveId" clId="{03ABA033-24B8-4A46-823D-685D4D3DB034}" dt="2026-05-21T20:43:06.483" v="118" actId="14100"/>
          <ac:picMkLst>
            <pc:docMk/>
            <pc:sldMk cId="3579345454" sldId="271"/>
            <ac:picMk id="3" creationId="{B7FE0C7C-622B-EF02-CFA6-8C024DBAF8D1}"/>
          </ac:picMkLst>
        </pc:picChg>
      </pc:sldChg>
      <pc:sldChg chg="addSp modSp add mod">
        <pc:chgData name="Stephen Campbell" userId="038c3b5ed3a64a24" providerId="LiveId" clId="{03ABA033-24B8-4A46-823D-685D4D3DB034}" dt="2026-05-21T20:44:54.991" v="125" actId="14100"/>
        <pc:sldMkLst>
          <pc:docMk/>
          <pc:sldMk cId="2005168265" sldId="272"/>
        </pc:sldMkLst>
        <pc:picChg chg="add mod">
          <ac:chgData name="Stephen Campbell" userId="038c3b5ed3a64a24" providerId="LiveId" clId="{03ABA033-24B8-4A46-823D-685D4D3DB034}" dt="2026-05-21T20:44:54.991" v="125" actId="14100"/>
          <ac:picMkLst>
            <pc:docMk/>
            <pc:sldMk cId="2005168265" sldId="272"/>
            <ac:picMk id="3" creationId="{73E39B9E-9F47-4712-1719-D0D503C3A463}"/>
          </ac:picMkLst>
        </pc:picChg>
      </pc:sldChg>
      <pc:sldChg chg="addSp delSp modSp add mod">
        <pc:chgData name="Stephen Campbell" userId="038c3b5ed3a64a24" providerId="LiveId" clId="{03ABA033-24B8-4A46-823D-685D4D3DB034}" dt="2026-05-21T20:48:26.590" v="137" actId="14100"/>
        <pc:sldMkLst>
          <pc:docMk/>
          <pc:sldMk cId="3450276664" sldId="273"/>
        </pc:sldMkLst>
        <pc:picChg chg="add del">
          <ac:chgData name="Stephen Campbell" userId="038c3b5ed3a64a24" providerId="LiveId" clId="{03ABA033-24B8-4A46-823D-685D4D3DB034}" dt="2026-05-21T20:47:18.595" v="131" actId="22"/>
          <ac:picMkLst>
            <pc:docMk/>
            <pc:sldMk cId="3450276664" sldId="273"/>
            <ac:picMk id="3" creationId="{B2EB4EDE-6956-0B49-76DA-05F9A2C3F0C7}"/>
          </ac:picMkLst>
        </pc:picChg>
        <pc:picChg chg="add del mod">
          <ac:chgData name="Stephen Campbell" userId="038c3b5ed3a64a24" providerId="LiveId" clId="{03ABA033-24B8-4A46-823D-685D4D3DB034}" dt="2026-05-21T20:47:15.493" v="130" actId="22"/>
          <ac:picMkLst>
            <pc:docMk/>
            <pc:sldMk cId="3450276664" sldId="273"/>
            <ac:picMk id="5" creationId="{201345F7-98B5-83E1-EA5C-399F1CFA41DB}"/>
          </ac:picMkLst>
        </pc:picChg>
        <pc:picChg chg="add mod">
          <ac:chgData name="Stephen Campbell" userId="038c3b5ed3a64a24" providerId="LiveId" clId="{03ABA033-24B8-4A46-823D-685D4D3DB034}" dt="2026-05-21T20:48:26.590" v="137" actId="14100"/>
          <ac:picMkLst>
            <pc:docMk/>
            <pc:sldMk cId="3450276664" sldId="273"/>
            <ac:picMk id="7" creationId="{AE065463-A667-A588-D8A1-653A099D1506}"/>
          </ac:picMkLst>
        </pc:picChg>
      </pc:sldChg>
      <pc:sldChg chg="addSp delSp modSp add mod">
        <pc:chgData name="Stephen Campbell" userId="038c3b5ed3a64a24" providerId="LiveId" clId="{03ABA033-24B8-4A46-823D-685D4D3DB034}" dt="2026-05-21T20:52:42.410" v="150" actId="1076"/>
        <pc:sldMkLst>
          <pc:docMk/>
          <pc:sldMk cId="446877702" sldId="274"/>
        </pc:sldMkLst>
        <pc:picChg chg="add del mod">
          <ac:chgData name="Stephen Campbell" userId="038c3b5ed3a64a24" providerId="LiveId" clId="{03ABA033-24B8-4A46-823D-685D4D3DB034}" dt="2026-05-21T20:50:28.324" v="141" actId="22"/>
          <ac:picMkLst>
            <pc:docMk/>
            <pc:sldMk cId="446877702" sldId="274"/>
            <ac:picMk id="3" creationId="{13C4FDD4-3589-C247-99A9-4615E56429E8}"/>
          </ac:picMkLst>
        </pc:picChg>
        <pc:picChg chg="add mod">
          <ac:chgData name="Stephen Campbell" userId="038c3b5ed3a64a24" providerId="LiveId" clId="{03ABA033-24B8-4A46-823D-685D4D3DB034}" dt="2026-05-21T20:52:42.410" v="150" actId="1076"/>
          <ac:picMkLst>
            <pc:docMk/>
            <pc:sldMk cId="446877702" sldId="274"/>
            <ac:picMk id="5" creationId="{B136DA49-80C4-553C-6F47-F98822900F65}"/>
          </ac:picMkLst>
        </pc:picChg>
      </pc:sldChg>
      <pc:sldChg chg="add del">
        <pc:chgData name="Stephen Campbell" userId="038c3b5ed3a64a24" providerId="LiveId" clId="{03ABA033-24B8-4A46-823D-685D4D3DB034}" dt="2026-05-21T20:52:45.140" v="151" actId="47"/>
        <pc:sldMkLst>
          <pc:docMk/>
          <pc:sldMk cId="2259740682" sldId="27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363D2EC-BA32-F2D1-54E9-1104D1C708E3}"/>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cs typeface="Arial" charset="0"/>
              </a:defRPr>
            </a:lvl1pPr>
          </a:lstStyle>
          <a:p>
            <a:pPr>
              <a:defRPr/>
            </a:pPr>
            <a:endParaRPr lang="en-US"/>
          </a:p>
        </p:txBody>
      </p:sp>
      <p:sp>
        <p:nvSpPr>
          <p:cNvPr id="3" name="Date Placeholder 2">
            <a:extLst>
              <a:ext uri="{FF2B5EF4-FFF2-40B4-BE49-F238E27FC236}">
                <a16:creationId xmlns:a16="http://schemas.microsoft.com/office/drawing/2014/main" id="{F4A5D7DF-E2BA-1C62-0914-61D93A885581}"/>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cs typeface="Arial" charset="0"/>
              </a:defRPr>
            </a:lvl1pPr>
          </a:lstStyle>
          <a:p>
            <a:pPr>
              <a:defRPr/>
            </a:pPr>
            <a:fld id="{562B4590-7BE6-F84C-B862-57C456EA9C7A}" type="datetimeFigureOut">
              <a:rPr lang="en-US"/>
              <a:pPr>
                <a:defRPr/>
              </a:pPr>
              <a:t>5/21/2026</a:t>
            </a:fld>
            <a:endParaRPr lang="en-US"/>
          </a:p>
        </p:txBody>
      </p:sp>
      <p:sp>
        <p:nvSpPr>
          <p:cNvPr id="4" name="Footer Placeholder 3">
            <a:extLst>
              <a:ext uri="{FF2B5EF4-FFF2-40B4-BE49-F238E27FC236}">
                <a16:creationId xmlns:a16="http://schemas.microsoft.com/office/drawing/2014/main" id="{110669B1-C331-E9E9-0270-D9231AB781E2}"/>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cs typeface="Arial" charset="0"/>
              </a:defRPr>
            </a:lvl1pPr>
          </a:lstStyle>
          <a:p>
            <a:pPr>
              <a:defRPr/>
            </a:pPr>
            <a:endParaRPr lang="en-US"/>
          </a:p>
        </p:txBody>
      </p:sp>
      <p:sp>
        <p:nvSpPr>
          <p:cNvPr id="5" name="Slide Number Placeholder 4">
            <a:extLst>
              <a:ext uri="{FF2B5EF4-FFF2-40B4-BE49-F238E27FC236}">
                <a16:creationId xmlns:a16="http://schemas.microsoft.com/office/drawing/2014/main" id="{4EDBF753-D816-D983-BBB8-F407E0AE13EE}"/>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2C806CEF-1302-AD42-B722-9B82F4654C62}"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CD9072-4B4C-4573-8541-4CCFF1CED147}" type="datetimeFigureOut">
              <a:rPr lang="en-US" smtClean="0"/>
              <a:t>5/21/2026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90A6D5-5873-48D6-B940-43DCCBB5F1C5}" type="slidenum">
              <a:rPr lang="en-US" smtClean="0"/>
              <a:t>‹#›</a:t>
            </a:fld>
            <a:endParaRPr lang="en-US"/>
          </a:p>
        </p:txBody>
      </p:sp>
    </p:spTree>
    <p:extLst>
      <p:ext uri="{BB962C8B-B14F-4D97-AF65-F5344CB8AC3E}">
        <p14:creationId xmlns:p14="http://schemas.microsoft.com/office/powerpoint/2010/main" val="4111396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a:solidFill>
                  <a:schemeClr val="tx1"/>
                </a:solidFill>
                <a:effectLst/>
                <a:latin typeface="+mn-lt"/>
                <a:ea typeface="+mn-ea"/>
                <a:cs typeface="+mn-cs"/>
              </a:rPr>
              <a:t>ITWeb Security Summit 2026 — Johannesburg.</a:t>
            </a:r>
            <a:r>
              <a:rPr lang="en-US" sz="1200" b="0" i="0" kern="1200">
                <a:solidFill>
                  <a:schemeClr val="tx1"/>
                </a:solidFill>
                <a:effectLst/>
                <a:latin typeface="+mn-lt"/>
                <a:ea typeface="+mn-ea"/>
                <a:cs typeface="+mn-cs"/>
              </a:rPr>
              <a:t> Welcome delegates. This talk draws on a structured dataset of 80+ hybrid cyber-influence incidents from six continents, cross-referenced with EEAS FIMI reports, Mandiant, Microsoft MSTIC, and academic sources. The central argument: we have systematically under-counted the threat by focusing only on 'disinformation' when the actual attack surface spans four distinct weaponisation modes. | </a:t>
            </a:r>
            <a:r>
              <a:rPr lang="en-US" sz="1200" b="1" i="0" kern="1200">
                <a:solidFill>
                  <a:schemeClr val="tx1"/>
                </a:solidFill>
                <a:effectLst/>
                <a:latin typeface="+mn-lt"/>
                <a:ea typeface="+mn-ea"/>
                <a:cs typeface="+mn-cs"/>
              </a:rPr>
              <a:t>Timing plan for 30 minutes (19 slides):</a:t>
            </a:r>
            <a:r>
              <a:rPr lang="en-US" sz="1200" b="0" i="0" kern="1200">
                <a:solidFill>
                  <a:schemeClr val="tx1"/>
                </a:solidFill>
                <a:effectLst/>
                <a:latin typeface="+mn-lt"/>
                <a:ea typeface="+mn-ea"/>
                <a:cs typeface="+mn-cs"/>
              </a:rPr>
              <a:t> </a:t>
            </a:r>
            <a:r>
              <a:rPr lang="en-US" sz="1200" b="1" i="0" kern="1200">
                <a:solidFill>
                  <a:schemeClr val="tx1"/>
                </a:solidFill>
                <a:effectLst/>
                <a:latin typeface="+mn-lt"/>
                <a:ea typeface="+mn-ea"/>
                <a:cs typeface="+mn-cs"/>
              </a:rPr>
              <a:t>19-slide deck · 30-minute keynote. Pace guide:</a:t>
            </a:r>
            <a:r>
              <a:rPr lang="en-US" sz="1200" b="0" i="0" kern="1200">
                <a:solidFill>
                  <a:schemeClr val="tx1"/>
                </a:solidFill>
                <a:effectLst/>
                <a:latin typeface="+mn-lt"/>
                <a:ea typeface="+mn-ea"/>
                <a:cs typeface="+mn-cs"/>
              </a:rPr>
              <a:t> </a:t>
            </a:r>
            <a:r>
              <a:rPr lang="en-US" sz="1200" b="0" i="1" kern="1200">
                <a:solidFill>
                  <a:schemeClr val="tx1"/>
                </a:solidFill>
                <a:effectLst/>
                <a:latin typeface="+mn-lt"/>
                <a:ea typeface="+mn-ea"/>
                <a:cs typeface="+mn-cs"/>
              </a:rPr>
              <a:t>Act 1 — Global Landscape (~12 min):</a:t>
            </a:r>
            <a:r>
              <a:rPr lang="en-US" sz="1200" b="0" i="0" kern="1200">
                <a:solidFill>
                  <a:schemeClr val="tx1"/>
                </a:solidFill>
                <a:effectLst/>
                <a:latin typeface="+mn-lt"/>
                <a:ea typeface="+mn-ea"/>
                <a:cs typeface="+mn-cs"/>
              </a:rPr>
              <a:t> S1 Title 1min · S2 Agenda 1min · S3 OASIS framing 2min · S4 Three Modes 1.5min · S5 Prevalent types 2min · S6 Triggers 1.5min · S7 Protagonists 1.5min · S8 Landmark cases 2min · S9 Drivers 1.5min · S10 AI 1.5min. </a:t>
            </a:r>
            <a:r>
              <a:rPr lang="en-US" sz="1200" b="0" i="1" kern="1200">
                <a:solidFill>
                  <a:schemeClr val="tx1"/>
                </a:solidFill>
                <a:effectLst/>
                <a:latin typeface="+mn-lt"/>
                <a:ea typeface="+mn-ea"/>
                <a:cs typeface="+mn-cs"/>
              </a:rPr>
              <a:t>Act 2 — Africa &amp; South Africa (~10 min):</a:t>
            </a:r>
            <a:r>
              <a:rPr lang="en-US" sz="1200" b="0" i="0" kern="1200">
                <a:solidFill>
                  <a:schemeClr val="tx1"/>
                </a:solidFill>
                <a:effectLst/>
                <a:latin typeface="+mn-lt"/>
                <a:ea typeface="+mn-ea"/>
                <a:cs typeface="+mn-cs"/>
              </a:rPr>
              <a:t> S11 Africa environment 2min · S12 Real-world harm 3min (slow down — this is the human cost; do not skip) · S13 Africa two patterns 1.5min · S14 SA three tracks 2min. </a:t>
            </a:r>
            <a:r>
              <a:rPr lang="en-US" sz="1200" b="0" i="1" kern="1200">
                <a:solidFill>
                  <a:schemeClr val="tx1"/>
                </a:solidFill>
                <a:effectLst/>
                <a:latin typeface="+mn-lt"/>
                <a:ea typeface="+mn-ea"/>
                <a:cs typeface="+mn-cs"/>
              </a:rPr>
              <a:t>Act 3 — Response (~6 min):</a:t>
            </a:r>
            <a:r>
              <a:rPr lang="en-US" sz="1200" b="0" i="0" kern="1200">
                <a:solidFill>
                  <a:schemeClr val="tx1"/>
                </a:solidFill>
                <a:effectLst/>
                <a:latin typeface="+mn-lt"/>
                <a:ea typeface="+mn-ea"/>
                <a:cs typeface="+mn-cs"/>
              </a:rPr>
              <a:t> S15 No one-size-fits-all 1.5min · S16 Multilateral 1min (skippable) · S17 Firms 1.5min · S18 Communities 1.5min. </a:t>
            </a:r>
            <a:r>
              <a:rPr lang="en-US" sz="1200" b="0" i="1" kern="1200">
                <a:solidFill>
                  <a:schemeClr val="tx1"/>
                </a:solidFill>
                <a:effectLst/>
                <a:latin typeface="+mn-lt"/>
                <a:ea typeface="+mn-ea"/>
                <a:cs typeface="+mn-cs"/>
              </a:rPr>
              <a:t>Close (~2 min):</a:t>
            </a:r>
            <a:r>
              <a:rPr lang="en-US" sz="1200" b="0" i="0" kern="1200">
                <a:solidFill>
                  <a:schemeClr val="tx1"/>
                </a:solidFill>
                <a:effectLst/>
                <a:latin typeface="+mn-lt"/>
                <a:ea typeface="+mn-ea"/>
                <a:cs typeface="+mn-cs"/>
              </a:rPr>
              <a:t> S19 Mandela 2min. | </a:t>
            </a:r>
            <a:r>
              <a:rPr lang="en-US" sz="1200" b="1" i="0" kern="1200">
                <a:solidFill>
                  <a:schemeClr val="tx1"/>
                </a:solidFill>
                <a:effectLst/>
                <a:latin typeface="+mn-lt"/>
                <a:ea typeface="+mn-ea"/>
                <a:cs typeface="+mn-cs"/>
              </a:rPr>
              <a:t>If time is tight (25 min):</a:t>
            </a:r>
            <a:r>
              <a:rPr lang="en-US" sz="1200" b="0" i="0" kern="1200">
                <a:solidFill>
                  <a:schemeClr val="tx1"/>
                </a:solidFill>
                <a:effectLst/>
                <a:latin typeface="+mn-lt"/>
                <a:ea typeface="+mn-ea"/>
                <a:cs typeface="+mn-cs"/>
              </a:rPr>
              <a:t> Skip S6 (triggers), S8 (landmark cases), or S16 (multilateral) without losing the narrative thread. S12 (real-world harm to Africans) and S14 (SA three tracks) are anchor slides — do not skip. | </a:t>
            </a:r>
            <a:r>
              <a:rPr lang="en-US" sz="1200" b="1" i="0" kern="1200">
                <a:solidFill>
                  <a:schemeClr val="tx1"/>
                </a:solidFill>
                <a:effectLst/>
                <a:latin typeface="+mn-lt"/>
                <a:ea typeface="+mn-ea"/>
                <a:cs typeface="+mn-cs"/>
              </a:rPr>
              <a:t>Skipping on the fly:</a:t>
            </a:r>
            <a:r>
              <a:rPr lang="en-US" sz="1200" b="0" i="0" kern="1200">
                <a:solidFill>
                  <a:schemeClr val="tx1"/>
                </a:solidFill>
                <a:effectLst/>
                <a:latin typeface="+mn-lt"/>
                <a:ea typeface="+mn-ea"/>
                <a:cs typeface="+mn-cs"/>
              </a:rPr>
              <a:t> Use the dot navigation at the bottom to jump ahead. Slides 5, 6, 8, 16 are the four most skippable without breaking story continuity.</a:t>
            </a:r>
            <a:endParaRPr lang="en-US"/>
          </a:p>
        </p:txBody>
      </p:sp>
      <p:sp>
        <p:nvSpPr>
          <p:cNvPr id="4" name="Slide Number Placeholder 3"/>
          <p:cNvSpPr>
            <a:spLocks noGrp="1"/>
          </p:cNvSpPr>
          <p:nvPr>
            <p:ph type="sldNum" sz="quarter" idx="5"/>
          </p:nvPr>
        </p:nvSpPr>
        <p:spPr/>
        <p:txBody>
          <a:bodyPr/>
          <a:lstStyle/>
          <a:p>
            <a:fld id="{E390A6D5-5873-48D6-B940-43DCCBB5F1C5}" type="slidenum">
              <a:rPr lang="en-US" smtClean="0"/>
              <a:t>1</a:t>
            </a:fld>
            <a:endParaRPr lang="en-US"/>
          </a:p>
        </p:txBody>
      </p:sp>
    </p:spTree>
    <p:extLst>
      <p:ext uri="{BB962C8B-B14F-4D97-AF65-F5344CB8AC3E}">
        <p14:creationId xmlns:p14="http://schemas.microsoft.com/office/powerpoint/2010/main" val="22019978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a:solidFill>
                  <a:schemeClr val="tx1"/>
                </a:solidFill>
                <a:effectLst/>
                <a:latin typeface="+mn-lt"/>
                <a:ea typeface="+mn-ea"/>
                <a:cs typeface="+mn-cs"/>
              </a:rPr>
              <a:t>Agenda — speaker orientation. Three-act structure.</a:t>
            </a:r>
            <a:r>
              <a:rPr lang="en-US" sz="1200" b="0" i="0" kern="1200">
                <a:solidFill>
                  <a:schemeClr val="tx1"/>
                </a:solidFill>
                <a:effectLst/>
                <a:latin typeface="+mn-lt"/>
                <a:ea typeface="+mn-ea"/>
                <a:cs typeface="+mn-cs"/>
              </a:rPr>
              <a:t> Act 1 (Global, ~12 min): taxonomy, attack types, trigger conditions, protagonist classes, landmark cases, geopolitical/economic/technical drivers, AI acceleration. Act 2 (Africa &amp; SA, ~10 min): the continent has a qualitatively different threat environment — we move from abstract global threat to concrete African harm. The pivot after slide 10 (AI) is intentional: after establishing the global picture, we ask 'what does this mean for us, here?' Act 3 (Response, ~6 min): four-slide response framework covering no-one-size-fits-all, multilateral, firm-level, and community-level actions. | </a:t>
            </a:r>
            <a:r>
              <a:rPr lang="en-US" sz="1200" b="1" i="0" kern="1200">
                <a:solidFill>
                  <a:schemeClr val="tx1"/>
                </a:solidFill>
                <a:effectLst/>
                <a:latin typeface="+mn-lt"/>
                <a:ea typeface="+mn-ea"/>
                <a:cs typeface="+mn-cs"/>
              </a:rPr>
              <a:t>Orientation for the audience:</a:t>
            </a:r>
            <a:r>
              <a:rPr lang="en-US" sz="1200" b="0" i="0" kern="1200">
                <a:solidFill>
                  <a:schemeClr val="tx1"/>
                </a:solidFill>
                <a:effectLst/>
                <a:latin typeface="+mn-lt"/>
                <a:ea typeface="+mn-ea"/>
                <a:cs typeface="+mn-cs"/>
              </a:rPr>
              <a:t> Many in this room are technical practitioners — SOC analysts, CISOs, incident responders. This talk deliberately crosses into influence-operations and political territory. That is intentional: hybridisation means these domains are now inseparable. You cannot defend against MGM-style vishing without understanding social engineering as influence. You cannot defend against election CIB without understanding fake-account infrastructure. | </a:t>
            </a:r>
            <a:r>
              <a:rPr lang="en-US" sz="1200" b="1" i="0" kern="1200">
                <a:solidFill>
                  <a:schemeClr val="tx1"/>
                </a:solidFill>
                <a:effectLst/>
                <a:latin typeface="+mn-lt"/>
                <a:ea typeface="+mn-ea"/>
                <a:cs typeface="+mn-cs"/>
              </a:rPr>
              <a:t>Africa pivot (Act 2):</a:t>
            </a:r>
            <a:r>
              <a:rPr lang="en-US" sz="1200" b="0" i="0" kern="1200">
                <a:solidFill>
                  <a:schemeClr val="tx1"/>
                </a:solidFill>
                <a:effectLst/>
                <a:latin typeface="+mn-lt"/>
                <a:ea typeface="+mn-ea"/>
                <a:cs typeface="+mn-cs"/>
              </a:rPr>
              <a:t> Sub-Saharan Africa has 54 countries, 1.4 billion people, 600M+ internet users, but less than 3% of global cybersecurity investment. It is not a smaller version of the global threat — it is a structurally different one. Low cyber resilience + high digital growth + weak platform moderation + closed WhatsApp chains = a threat landscape that requires its own analysis. | </a:t>
            </a:r>
            <a:r>
              <a:rPr lang="en-US" sz="1200" b="1" i="0" kern="1200">
                <a:solidFill>
                  <a:schemeClr val="tx1"/>
                </a:solidFill>
                <a:effectLst/>
                <a:latin typeface="+mn-lt"/>
                <a:ea typeface="+mn-ea"/>
                <a:cs typeface="+mn-cs"/>
              </a:rPr>
              <a:t>The Mandela framing:</a:t>
            </a:r>
            <a:r>
              <a:rPr lang="en-US" sz="1200" b="0" i="0" kern="1200">
                <a:solidFill>
                  <a:schemeClr val="tx1"/>
                </a:solidFill>
                <a:effectLst/>
                <a:latin typeface="+mn-lt"/>
                <a:ea typeface="+mn-ea"/>
                <a:cs typeface="+mn-cs"/>
              </a:rPr>
              <a:t> The closing quote is not sentiment. The freedom South Africans fought for must be extended into the digital domain — and that extension is now under active attack.</a:t>
            </a:r>
            <a:endParaRPr lang="en-US"/>
          </a:p>
        </p:txBody>
      </p:sp>
      <p:sp>
        <p:nvSpPr>
          <p:cNvPr id="4" name="Slide Number Placeholder 3"/>
          <p:cNvSpPr>
            <a:spLocks noGrp="1"/>
          </p:cNvSpPr>
          <p:nvPr>
            <p:ph type="sldNum" sz="quarter" idx="5"/>
          </p:nvPr>
        </p:nvSpPr>
        <p:spPr/>
        <p:txBody>
          <a:bodyPr/>
          <a:lstStyle/>
          <a:p>
            <a:fld id="{E390A6D5-5873-48D6-B940-43DCCBB5F1C5}" type="slidenum">
              <a:rPr lang="en-US" smtClean="0"/>
              <a:t>2</a:t>
            </a:fld>
            <a:endParaRPr lang="en-US"/>
          </a:p>
        </p:txBody>
      </p:sp>
    </p:spTree>
    <p:extLst>
      <p:ext uri="{BB962C8B-B14F-4D97-AF65-F5344CB8AC3E}">
        <p14:creationId xmlns:p14="http://schemas.microsoft.com/office/powerpoint/2010/main" val="16905068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a:solidFill>
                  <a:schemeClr val="tx1"/>
                </a:solidFill>
                <a:effectLst/>
                <a:latin typeface="+mn-lt"/>
                <a:ea typeface="+mn-ea"/>
                <a:cs typeface="+mn-cs"/>
              </a:rPr>
              <a:t>OASIS Open / STIX extension work.</a:t>
            </a:r>
            <a:r>
              <a:rPr lang="en-US" sz="1200" b="0" i="0" kern="1200">
                <a:solidFill>
                  <a:schemeClr val="tx1"/>
                </a:solidFill>
                <a:effectLst/>
                <a:latin typeface="+mn-lt"/>
                <a:ea typeface="+mn-ea"/>
                <a:cs typeface="+mn-cs"/>
              </a:rPr>
              <a:t> OASIS is a global standards development organisation. STIX (Structured Threat Intelligence eXpression) is the dominant machine-readable format for sharing cyber threat intelligence — used by government CERTs, ISACs and commercial platforms worldwide. | This 4-quadrant model is being developed to extend STIX so it can model threats to </a:t>
            </a:r>
            <a:r>
              <a:rPr lang="en-US" sz="1200" b="0" i="1" kern="1200">
                <a:solidFill>
                  <a:schemeClr val="tx1"/>
                </a:solidFill>
                <a:effectLst/>
                <a:latin typeface="+mn-lt"/>
                <a:ea typeface="+mn-ea"/>
                <a:cs typeface="+mn-cs"/>
              </a:rPr>
              <a:t>public</a:t>
            </a:r>
            <a:r>
              <a:rPr lang="en-US" sz="1200" b="0" i="0" kern="1200">
                <a:solidFill>
                  <a:schemeClr val="tx1"/>
                </a:solidFill>
                <a:effectLst/>
                <a:latin typeface="+mn-lt"/>
                <a:ea typeface="+mn-ea"/>
                <a:cs typeface="+mn-cs"/>
              </a:rPr>
              <a:t> information environments (elections, civic discourse, public health) as well as the proprietary networks it currently covers. | </a:t>
            </a:r>
            <a:r>
              <a:rPr lang="en-US" sz="1200" b="1" i="0" kern="1200">
                <a:solidFill>
                  <a:schemeClr val="tx1"/>
                </a:solidFill>
                <a:effectLst/>
                <a:latin typeface="+mn-lt"/>
                <a:ea typeface="+mn-ea"/>
                <a:cs typeface="+mn-cs"/>
              </a:rPr>
              <a:t>Key speaker point:</a:t>
            </a:r>
            <a:r>
              <a:rPr lang="en-US" sz="1200" b="0" i="0" kern="1200">
                <a:solidFill>
                  <a:schemeClr val="tx1"/>
                </a:solidFill>
                <a:effectLst/>
                <a:latin typeface="+mn-lt"/>
                <a:ea typeface="+mn-ea"/>
                <a:cs typeface="+mn-cs"/>
              </a:rPr>
              <a:t> When we limit our frame to 'disinformation', we implicitly limit our countermeasures to veracity-based interventions — fact-checking, prebunking, labelling. These matter. But they do not address exploitation (ransomware, fraud), abuse (coordinated harassment, xenophobia), or intrusion (theft, sabotage). Each quadrant requires a different institutional response and a different legal framework. | </a:t>
            </a:r>
            <a:r>
              <a:rPr lang="en-US" sz="1200" b="1" i="0" kern="1200">
                <a:solidFill>
                  <a:schemeClr val="tx1"/>
                </a:solidFill>
                <a:effectLst/>
                <a:latin typeface="+mn-lt"/>
                <a:ea typeface="+mn-ea"/>
                <a:cs typeface="+mn-cs"/>
              </a:rPr>
              <a:t>Source:</a:t>
            </a:r>
            <a:r>
              <a:rPr lang="en-US" sz="1200" b="0" i="0" kern="1200">
                <a:solidFill>
                  <a:schemeClr val="tx1"/>
                </a:solidFill>
                <a:effectLst/>
                <a:latin typeface="+mn-lt"/>
                <a:ea typeface="+mn-ea"/>
                <a:cs typeface="+mn-cs"/>
              </a:rPr>
              <a:t> OASIS Open standards community; speaker's own framing for the STIX extension project.</a:t>
            </a:r>
            <a:endParaRPr lang="en-US"/>
          </a:p>
        </p:txBody>
      </p:sp>
      <p:sp>
        <p:nvSpPr>
          <p:cNvPr id="4" name="Slide Number Placeholder 3"/>
          <p:cNvSpPr>
            <a:spLocks noGrp="1"/>
          </p:cNvSpPr>
          <p:nvPr>
            <p:ph type="sldNum" sz="quarter" idx="5"/>
          </p:nvPr>
        </p:nvSpPr>
        <p:spPr/>
        <p:txBody>
          <a:bodyPr/>
          <a:lstStyle/>
          <a:p>
            <a:fld id="{E390A6D5-5873-48D6-B940-43DCCBB5F1C5}" type="slidenum">
              <a:rPr lang="en-US" smtClean="0"/>
              <a:t>3</a:t>
            </a:fld>
            <a:endParaRPr lang="en-US"/>
          </a:p>
        </p:txBody>
      </p:sp>
    </p:spTree>
    <p:extLst>
      <p:ext uri="{BB962C8B-B14F-4D97-AF65-F5344CB8AC3E}">
        <p14:creationId xmlns:p14="http://schemas.microsoft.com/office/powerpoint/2010/main" val="19979624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a:solidFill>
                  <a:schemeClr val="tx1"/>
                </a:solidFill>
                <a:effectLst/>
                <a:latin typeface="+mn-lt"/>
                <a:ea typeface="+mn-ea"/>
                <a:cs typeface="+mn-cs"/>
              </a:rPr>
              <a:t>Taxonomy source:</a:t>
            </a:r>
            <a:r>
              <a:rPr lang="en-US" sz="1200" b="0" i="0" kern="1200">
                <a:solidFill>
                  <a:schemeClr val="tx1"/>
                </a:solidFill>
                <a:effectLst/>
                <a:latin typeface="+mn-lt"/>
                <a:ea typeface="+mn-ea"/>
                <a:cs typeface="+mn-cs"/>
              </a:rPr>
              <a:t> Developed by the speaker for this research; influenced by EEAS FIMI taxonomy and NATO hybrid threat frameworks. | </a:t>
            </a:r>
            <a:r>
              <a:rPr lang="en-US" sz="1200" b="1" i="0" kern="1200">
                <a:solidFill>
                  <a:schemeClr val="tx1"/>
                </a:solidFill>
                <a:effectLst/>
                <a:latin typeface="+mn-lt"/>
                <a:ea typeface="+mn-ea"/>
                <a:cs typeface="+mn-cs"/>
              </a:rPr>
              <a:t>Type 1 — Cyber-enabled influence (strict):</a:t>
            </a:r>
            <a:r>
              <a:rPr lang="en-US" sz="1200" b="0" i="0" kern="1200">
                <a:solidFill>
                  <a:schemeClr val="tx1"/>
                </a:solidFill>
                <a:effectLst/>
                <a:latin typeface="+mn-lt"/>
                <a:ea typeface="+mn-ea"/>
                <a:cs typeface="+mn-cs"/>
              </a:rPr>
              <a:t> Requires an unauthorised intrusion or DDoS. Examples: DNC hack-and-leak (APT28, 2016); Transnet ransomware + port shutdown (2021); Sony Pictures / Guardians of Peace (North Korea, 2014). | </a:t>
            </a:r>
            <a:r>
              <a:rPr lang="en-US" sz="1200" b="1" i="0" kern="1200">
                <a:solidFill>
                  <a:schemeClr val="tx1"/>
                </a:solidFill>
                <a:effectLst/>
                <a:latin typeface="+mn-lt"/>
                <a:ea typeface="+mn-ea"/>
                <a:cs typeface="+mn-cs"/>
              </a:rPr>
              <a:t>Type 1 (broad):</a:t>
            </a:r>
            <a:r>
              <a:rPr lang="en-US" sz="1200" b="0" i="0" kern="1200">
                <a:solidFill>
                  <a:schemeClr val="tx1"/>
                </a:solidFill>
                <a:effectLst/>
                <a:latin typeface="+mn-lt"/>
                <a:ea typeface="+mn-ea"/>
                <a:cs typeface="+mn-cs"/>
              </a:rPr>
              <a:t> No intrusion required. Uses fake accounts, sham websites, coordinated inauthentic behaviour (CIB). Examples: Wagner-linked Africa CIB networks; Prigozhin's Internet Research Agency. | </a:t>
            </a:r>
            <a:r>
              <a:rPr lang="en-US" sz="1200" b="1" i="0" kern="1200">
                <a:solidFill>
                  <a:schemeClr val="tx1"/>
                </a:solidFill>
                <a:effectLst/>
                <a:latin typeface="+mn-lt"/>
                <a:ea typeface="+mn-ea"/>
                <a:cs typeface="+mn-cs"/>
              </a:rPr>
              <a:t>Type 2 — Influence-enabled cyber:</a:t>
            </a:r>
            <a:r>
              <a:rPr lang="en-US" sz="1200" b="0" i="0" kern="1200">
                <a:solidFill>
                  <a:schemeClr val="tx1"/>
                </a:solidFill>
                <a:effectLst/>
                <a:latin typeface="+mn-lt"/>
                <a:ea typeface="+mn-ea"/>
                <a:cs typeface="+mn-cs"/>
              </a:rPr>
              <a:t> Deception or social engineering creates the access. Examples: MGM Resorts vishing (Scattered Spider); Experian SA fraudulent client impersonation; Arup deepfake CFO fraud. | </a:t>
            </a:r>
            <a:r>
              <a:rPr lang="en-US" sz="1200" b="1" i="0" kern="1200">
                <a:solidFill>
                  <a:schemeClr val="tx1"/>
                </a:solidFill>
                <a:effectLst/>
                <a:latin typeface="+mn-lt"/>
                <a:ea typeface="+mn-ea"/>
                <a:cs typeface="+mn-cs"/>
              </a:rPr>
              <a:t>Type 3 — Parallel:</a:t>
            </a:r>
            <a:r>
              <a:rPr lang="en-US" sz="1200" b="0" i="0" kern="1200">
                <a:solidFill>
                  <a:schemeClr val="tx1"/>
                </a:solidFill>
                <a:effectLst/>
                <a:latin typeface="+mn-lt"/>
                <a:ea typeface="+mn-ea"/>
                <a:cs typeface="+mn-cs"/>
              </a:rPr>
              <a:t> Same actor runs both tracks simultaneously but independently. Examples: PRC pressure on Taiwan; Russian election interference 2016; Iran-Hamas operations. | </a:t>
            </a:r>
            <a:r>
              <a:rPr lang="en-US" sz="1200" b="1" i="0" kern="1200">
                <a:solidFill>
                  <a:schemeClr val="tx1"/>
                </a:solidFill>
                <a:effectLst/>
                <a:latin typeface="+mn-lt"/>
                <a:ea typeface="+mn-ea"/>
                <a:cs typeface="+mn-cs"/>
              </a:rPr>
              <a:t>EEAS context:</a:t>
            </a:r>
            <a:r>
              <a:rPr lang="en-US" sz="1200" b="0" i="0" kern="1200">
                <a:solidFill>
                  <a:schemeClr val="tx1"/>
                </a:solidFill>
                <a:effectLst/>
                <a:latin typeface="+mn-lt"/>
                <a:ea typeface="+mn-ea"/>
                <a:cs typeface="+mn-cs"/>
              </a:rPr>
              <a:t> The EU's 4th Annual FIMI Report (2025) identified increased hybridisation as one of three top trends alongside AI use and increased covertness.</a:t>
            </a:r>
            <a:endParaRPr lang="en-US"/>
          </a:p>
        </p:txBody>
      </p:sp>
      <p:sp>
        <p:nvSpPr>
          <p:cNvPr id="4" name="Slide Number Placeholder 3"/>
          <p:cNvSpPr>
            <a:spLocks noGrp="1"/>
          </p:cNvSpPr>
          <p:nvPr>
            <p:ph type="sldNum" sz="quarter" idx="5"/>
          </p:nvPr>
        </p:nvSpPr>
        <p:spPr/>
        <p:txBody>
          <a:bodyPr/>
          <a:lstStyle/>
          <a:p>
            <a:fld id="{E390A6D5-5873-48D6-B940-43DCCBB5F1C5}" type="slidenum">
              <a:rPr lang="en-US" smtClean="0"/>
              <a:t>4</a:t>
            </a:fld>
            <a:endParaRPr lang="en-US"/>
          </a:p>
        </p:txBody>
      </p:sp>
    </p:spTree>
    <p:extLst>
      <p:ext uri="{BB962C8B-B14F-4D97-AF65-F5344CB8AC3E}">
        <p14:creationId xmlns:p14="http://schemas.microsoft.com/office/powerpoint/2010/main" val="36887938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a:solidFill>
                  <a:schemeClr val="tx1"/>
                </a:solidFill>
                <a:effectLst/>
                <a:latin typeface="+mn-lt"/>
                <a:ea typeface="+mn-ea"/>
                <a:cs typeface="+mn-cs"/>
              </a:rPr>
              <a:t>The strict vs. broad distinction matters enormously for defenders.</a:t>
            </a:r>
            <a:r>
              <a:rPr lang="en-US" sz="1200" b="0" i="0" kern="1200">
                <a:solidFill>
                  <a:schemeClr val="tx1"/>
                </a:solidFill>
                <a:effectLst/>
                <a:latin typeface="+mn-lt"/>
                <a:ea typeface="+mn-ea"/>
                <a:cs typeface="+mn-cs"/>
              </a:rPr>
              <a:t> Strictly-defined hybrid operations — those with an unauthorised intrusion — require state-grade or criminal-grade offensive capability. They are detectable by SOCs wired for network anomalies. The deception component tends to be targeted, timed, and purposeful. | </a:t>
            </a:r>
            <a:r>
              <a:rPr lang="en-US" sz="1200" b="1" i="0" kern="1200">
                <a:solidFill>
                  <a:schemeClr val="tx1"/>
                </a:solidFill>
                <a:effectLst/>
                <a:latin typeface="+mn-lt"/>
                <a:ea typeface="+mn-ea"/>
                <a:cs typeface="+mn-cs"/>
              </a:rPr>
              <a:t>Loosely-defined operations (no intrusion)</a:t>
            </a:r>
            <a:r>
              <a:rPr lang="en-US" sz="1200" b="0" i="0" kern="1200">
                <a:solidFill>
                  <a:schemeClr val="tx1"/>
                </a:solidFill>
                <a:effectLst/>
                <a:latin typeface="+mn-lt"/>
                <a:ea typeface="+mn-ea"/>
                <a:cs typeface="+mn-cs"/>
              </a:rPr>
              <a:t> have been democratised to the point where a domestic political party, a PR firm, or an individual influencer can run them. The barrier is money and motivation, not technical skill. This is why the Africa/South Africa landscape includes both state and domestic actors. | </a:t>
            </a:r>
            <a:r>
              <a:rPr lang="en-US" sz="1200" b="1" i="0" kern="1200">
                <a:solidFill>
                  <a:schemeClr val="tx1"/>
                </a:solidFill>
                <a:effectLst/>
                <a:latin typeface="+mn-lt"/>
                <a:ea typeface="+mn-ea"/>
                <a:cs typeface="+mn-cs"/>
              </a:rPr>
              <a:t>Globally most prevalent (strict / intrusion-based):</a:t>
            </a:r>
            <a:r>
              <a:rPr lang="en-US" sz="1200" b="0" i="0" kern="1200">
                <a:solidFill>
                  <a:schemeClr val="tx1"/>
                </a:solidFill>
                <a:effectLst/>
                <a:latin typeface="+mn-lt"/>
                <a:ea typeface="+mn-ea"/>
                <a:cs typeface="+mn-cs"/>
              </a:rPr>
              <a:t> Double-extortion ransomware (Type 2f) is by raw volume the highest-frequency hybrid type — every major ransomware attack is simultaneously a cyber intrusion and a psychological pressure campaign via the leak-site threat. Hack-and-leak (Type 1b) is lower frequency but higher strategic impact. Defacement (Type 1f) is common in conflict contexts. | </a:t>
            </a:r>
            <a:r>
              <a:rPr lang="en-US" sz="1200" b="1" i="0" kern="1200">
                <a:solidFill>
                  <a:schemeClr val="tx1"/>
                </a:solidFill>
                <a:effectLst/>
                <a:latin typeface="+mn-lt"/>
                <a:ea typeface="+mn-ea"/>
                <a:cs typeface="+mn-cs"/>
              </a:rPr>
              <a:t>Globally most prevalent (broad / no intrusion):</a:t>
            </a:r>
            <a:r>
              <a:rPr lang="en-US" sz="1200" b="0" i="0" kern="1200">
                <a:solidFill>
                  <a:schemeClr val="tx1"/>
                </a:solidFill>
                <a:effectLst/>
                <a:latin typeface="+mn-lt"/>
                <a:ea typeface="+mn-ea"/>
                <a:cs typeface="+mn-cs"/>
              </a:rPr>
              <a:t> CIB via fake-account infrastructure (Type 1c) is the dominant state-actor type for long-term narrative influence — used by Russia (IRA/Wagner), China (Spamouflage), Iran (Islamic Messaging Teams), and commercial contractors (Team Jorge, Archimedes). Deepfake/impersonation fraud (Type 2c) is the fastest-growing category. | </a:t>
            </a:r>
            <a:r>
              <a:rPr lang="en-US" sz="1200" b="1" i="0" kern="1200">
                <a:solidFill>
                  <a:schemeClr val="tx1"/>
                </a:solidFill>
                <a:effectLst/>
                <a:latin typeface="+mn-lt"/>
                <a:ea typeface="+mn-ea"/>
                <a:cs typeface="+mn-cs"/>
              </a:rPr>
              <a:t>Africa-specific:</a:t>
            </a:r>
            <a:r>
              <a:rPr lang="en-US" sz="1200" b="0" i="0" kern="1200">
                <a:solidFill>
                  <a:schemeClr val="tx1"/>
                </a:solidFill>
                <a:effectLst/>
                <a:latin typeface="+mn-lt"/>
                <a:ea typeface="+mn-ea"/>
                <a:cs typeface="+mn-cs"/>
              </a:rPr>
              <a:t> The 9-of-20 qualifying incidents in the dataset split into exactly these two tracks — CIB for influence (primarily elections), and ransomware/extortion for criminal profit.</a:t>
            </a:r>
            <a:endParaRPr lang="en-US"/>
          </a:p>
        </p:txBody>
      </p:sp>
      <p:sp>
        <p:nvSpPr>
          <p:cNvPr id="4" name="Slide Number Placeholder 3"/>
          <p:cNvSpPr>
            <a:spLocks noGrp="1"/>
          </p:cNvSpPr>
          <p:nvPr>
            <p:ph type="sldNum" sz="quarter" idx="5"/>
          </p:nvPr>
        </p:nvSpPr>
        <p:spPr/>
        <p:txBody>
          <a:bodyPr/>
          <a:lstStyle/>
          <a:p>
            <a:fld id="{E390A6D5-5873-48D6-B940-43DCCBB5F1C5}" type="slidenum">
              <a:rPr lang="en-US" smtClean="0"/>
              <a:t>5</a:t>
            </a:fld>
            <a:endParaRPr lang="en-US"/>
          </a:p>
        </p:txBody>
      </p:sp>
    </p:spTree>
    <p:extLst>
      <p:ext uri="{BB962C8B-B14F-4D97-AF65-F5344CB8AC3E}">
        <p14:creationId xmlns:p14="http://schemas.microsoft.com/office/powerpoint/2010/main" val="1865088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a:solidFill>
                  <a:schemeClr val="tx1"/>
                </a:solidFill>
                <a:effectLst/>
                <a:latin typeface="+mn-lt"/>
                <a:ea typeface="+mn-ea"/>
                <a:cs typeface="+mn-cs"/>
              </a:rPr>
              <a:t>Understanding trigger conditions helps defenders prepare, not just react.</a:t>
            </a:r>
            <a:r>
              <a:rPr lang="en-US" sz="1200" b="0" i="0" kern="1200">
                <a:solidFill>
                  <a:schemeClr val="tx1"/>
                </a:solidFill>
                <a:effectLst/>
                <a:latin typeface="+mn-lt"/>
                <a:ea typeface="+mn-ea"/>
                <a:cs typeface="+mn-cs"/>
              </a:rPr>
              <a:t> The key insight is that hybrid attacks are not random — they cluster around identifiable structural conditions. | </a:t>
            </a:r>
            <a:r>
              <a:rPr lang="en-US" sz="1200" b="1" i="0" kern="1200">
                <a:solidFill>
                  <a:schemeClr val="tx1"/>
                </a:solidFill>
                <a:effectLst/>
                <a:latin typeface="+mn-lt"/>
                <a:ea typeface="+mn-ea"/>
                <a:cs typeface="+mn-cs"/>
              </a:rPr>
              <a:t>Election cycles:</a:t>
            </a:r>
            <a:r>
              <a:rPr lang="en-US" sz="1200" b="0" i="0" kern="1200">
                <a:solidFill>
                  <a:schemeClr val="tx1"/>
                </a:solidFill>
                <a:effectLst/>
                <a:latin typeface="+mn-lt"/>
                <a:ea typeface="+mn-ea"/>
                <a:cs typeface="+mn-cs"/>
              </a:rPr>
              <a:t> 2024 was the largest election year in history (70+ countries). EEAS data shows hybridisation spikes in the 6-month window before and after elections. Hack-and-leak (1b) operations require months of preparation — the DNC emails were stolen months before the timed leak. State actors pre-position. | </a:t>
            </a:r>
            <a:r>
              <a:rPr lang="en-US" sz="1200" b="1" i="0" kern="1200">
                <a:solidFill>
                  <a:schemeClr val="tx1"/>
                </a:solidFill>
                <a:effectLst/>
                <a:latin typeface="+mn-lt"/>
                <a:ea typeface="+mn-ea"/>
                <a:cs typeface="+mn-cs"/>
              </a:rPr>
              <a:t>Geopolitical conflict and crisis:</a:t>
            </a:r>
            <a:r>
              <a:rPr lang="en-US" sz="1200" b="0" i="0" kern="1200">
                <a:solidFill>
                  <a:schemeClr val="tx1"/>
                </a:solidFill>
                <a:effectLst/>
                <a:latin typeface="+mn-lt"/>
                <a:ea typeface="+mn-ea"/>
                <a:cs typeface="+mn-cs"/>
              </a:rPr>
              <a:t> War in Ukraine triggered the largest documented DDoS campaign (NoName057(16), 2022–present), the largest coordinated hack-and-leak environment (Ukrainian IT Army; Russian GRU), and a major increase in war-themed phishing (Gamaredon, EU-35). The Gaza war (Oct 2023) triggered a surge in Iranian hybrid ops — Microsoft reported a 5× increase in Iranian cyber-enabled influence operations in October 2023. | </a:t>
            </a:r>
            <a:r>
              <a:rPr lang="en-US" sz="1200" b="1" i="0" kern="1200">
                <a:solidFill>
                  <a:schemeClr val="tx1"/>
                </a:solidFill>
                <a:effectLst/>
                <a:latin typeface="+mn-lt"/>
                <a:ea typeface="+mn-ea"/>
                <a:cs typeface="+mn-cs"/>
              </a:rPr>
              <a:t>Corporate vulnerability windows:</a:t>
            </a:r>
            <a:r>
              <a:rPr lang="en-US" sz="1200" b="0" i="0" kern="1200">
                <a:solidFill>
                  <a:schemeClr val="tx1"/>
                </a:solidFill>
                <a:effectLst/>
                <a:latin typeface="+mn-lt"/>
                <a:ea typeface="+mn-ea"/>
                <a:cs typeface="+mn-cs"/>
              </a:rPr>
              <a:t> Ransomware operators target periods of corporate distress — M&amp;A activity, regulatory investigations, earnings periods. Transnet was attacked days after the 2021 KwaZulu-Natal unrest (CrowdStrike assessed as coincidental). Change Healthcare was targeted via an unpatched Citrix portal with no MFA. | </a:t>
            </a:r>
            <a:r>
              <a:rPr lang="en-US" sz="1200" b="1" i="0" kern="1200">
                <a:solidFill>
                  <a:schemeClr val="tx1"/>
                </a:solidFill>
                <a:effectLst/>
                <a:latin typeface="+mn-lt"/>
                <a:ea typeface="+mn-ea"/>
                <a:cs typeface="+mn-cs"/>
              </a:rPr>
              <a:t>Low technical resilience:</a:t>
            </a:r>
            <a:r>
              <a:rPr lang="en-US" sz="1200" b="0" i="0" kern="1200">
                <a:solidFill>
                  <a:schemeClr val="tx1"/>
                </a:solidFill>
                <a:effectLst/>
                <a:latin typeface="+mn-lt"/>
                <a:ea typeface="+mn-ea"/>
                <a:cs typeface="+mn-cs"/>
              </a:rPr>
              <a:t> TransUnion's server was brute-forced with the password 'Password'. This is a structural condition, not a one-off. Africa's high digital adoption + low cyber maturity = sustained attacker ROI. | </a:t>
            </a:r>
            <a:r>
              <a:rPr lang="en-US" sz="1200" b="1" i="0" kern="1200">
                <a:solidFill>
                  <a:schemeClr val="tx1"/>
                </a:solidFill>
                <a:effectLst/>
                <a:latin typeface="+mn-lt"/>
                <a:ea typeface="+mn-ea"/>
                <a:cs typeface="+mn-cs"/>
              </a:rPr>
              <a:t>AI lowering the threshold:</a:t>
            </a:r>
            <a:r>
              <a:rPr lang="en-US" sz="1200" b="0" i="0" kern="1200">
                <a:solidFill>
                  <a:schemeClr val="tx1"/>
                </a:solidFill>
                <a:effectLst/>
                <a:latin typeface="+mn-lt"/>
                <a:ea typeface="+mn-ea"/>
                <a:cs typeface="+mn-cs"/>
              </a:rPr>
              <a:t> Previously, authentic-sounding multi-language CIB campaigns required native speakers. LLMs have eliminated this constraint, enabling continuous operations regardless of election cycle.</a:t>
            </a:r>
            <a:endParaRPr lang="en-US"/>
          </a:p>
        </p:txBody>
      </p:sp>
      <p:sp>
        <p:nvSpPr>
          <p:cNvPr id="4" name="Slide Number Placeholder 3"/>
          <p:cNvSpPr>
            <a:spLocks noGrp="1"/>
          </p:cNvSpPr>
          <p:nvPr>
            <p:ph type="sldNum" sz="quarter" idx="5"/>
          </p:nvPr>
        </p:nvSpPr>
        <p:spPr/>
        <p:txBody>
          <a:bodyPr/>
          <a:lstStyle/>
          <a:p>
            <a:fld id="{E390A6D5-5873-48D6-B940-43DCCBB5F1C5}" type="slidenum">
              <a:rPr lang="en-US" smtClean="0"/>
              <a:t>6</a:t>
            </a:fld>
            <a:endParaRPr lang="en-US"/>
          </a:p>
        </p:txBody>
      </p:sp>
    </p:spTree>
    <p:extLst>
      <p:ext uri="{BB962C8B-B14F-4D97-AF65-F5344CB8AC3E}">
        <p14:creationId xmlns:p14="http://schemas.microsoft.com/office/powerpoint/2010/main" val="22837905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a:solidFill>
                  <a:schemeClr val="tx1"/>
                </a:solidFill>
                <a:effectLst/>
                <a:latin typeface="+mn-lt"/>
                <a:ea typeface="+mn-ea"/>
                <a:cs typeface="+mn-cs"/>
              </a:rPr>
              <a:t>Five actor classes — key distinctions for the audience:</a:t>
            </a:r>
            <a:r>
              <a:rPr lang="en-US" sz="1200" b="0" i="0" kern="1200">
                <a:solidFill>
                  <a:schemeClr val="tx1"/>
                </a:solidFill>
                <a:effectLst/>
                <a:latin typeface="+mn-lt"/>
                <a:ea typeface="+mn-ea"/>
                <a:cs typeface="+mn-cs"/>
              </a:rPr>
              <a:t> | 1. </a:t>
            </a:r>
            <a:r>
              <a:rPr lang="en-US" sz="1200" b="1" i="0" kern="1200">
                <a:solidFill>
                  <a:schemeClr val="tx1"/>
                </a:solidFill>
                <a:effectLst/>
                <a:latin typeface="+mn-lt"/>
                <a:ea typeface="+mn-ea"/>
                <a:cs typeface="+mn-cs"/>
              </a:rPr>
              <a:t>State agencies (Tier 1):</a:t>
            </a:r>
            <a:r>
              <a:rPr lang="en-US" sz="1200" b="0" i="0" kern="1200">
                <a:solidFill>
                  <a:schemeClr val="tx1"/>
                </a:solidFill>
                <a:effectLst/>
                <a:latin typeface="+mn-lt"/>
                <a:ea typeface="+mn-ea"/>
                <a:cs typeface="+mn-cs"/>
              </a:rPr>
              <a:t> GRU (Russian military intelligence), SVR (Russian foreign intelligence), IRGC (Iran), PLA-SSF (China's military cyber command). Direct state capability — most sophisticated, highest deniability problem. | 2. </a:t>
            </a:r>
            <a:r>
              <a:rPr lang="en-US" sz="1200" b="1" i="0" kern="1200">
                <a:solidFill>
                  <a:schemeClr val="tx1"/>
                </a:solidFill>
                <a:effectLst/>
                <a:latin typeface="+mn-lt"/>
                <a:ea typeface="+mn-ea"/>
                <a:cs typeface="+mn-cs"/>
              </a:rPr>
              <a:t>State-linked APTs:</a:t>
            </a:r>
            <a:r>
              <a:rPr lang="en-US" sz="1200" b="0" i="0" kern="1200">
                <a:solidFill>
                  <a:schemeClr val="tx1"/>
                </a:solidFill>
                <a:effectLst/>
                <a:latin typeface="+mn-lt"/>
                <a:ea typeface="+mn-ea"/>
                <a:cs typeface="+mn-cs"/>
              </a:rPr>
              <a:t> APT28 = Fancy Bear = GRU Unit 26165. Gamaredon (FSB-linked, Ukraine). Lazarus Group (DPRK). APT41 (China, dual espionage + financial). APT = Advanced Persistent Threat. | 3. </a:t>
            </a:r>
            <a:r>
              <a:rPr lang="en-US" sz="1200" b="1" i="0" kern="1200">
                <a:solidFill>
                  <a:schemeClr val="tx1"/>
                </a:solidFill>
                <a:effectLst/>
                <a:latin typeface="+mn-lt"/>
                <a:ea typeface="+mn-ea"/>
                <a:cs typeface="+mn-cs"/>
              </a:rPr>
              <a:t>Proxies/contractors:</a:t>
            </a:r>
            <a:r>
              <a:rPr lang="en-US" sz="1200" b="0" i="0" kern="1200">
                <a:solidFill>
                  <a:schemeClr val="tx1"/>
                </a:solidFill>
                <a:effectLst/>
                <a:latin typeface="+mn-lt"/>
                <a:ea typeface="+mn-ea"/>
                <a:cs typeface="+mn-cs"/>
              </a:rPr>
              <a:t> Wagner Group / IRA (now 'Africa Corps'). Team Jorge (Tal Hanan, Israeli contractor) — claimed 30+ election ops globally, exposed Feb 2023 by Haaretz/Guardian/Le Monde. Archimedes Group (Israel, suspended by Facebook 2019 for CIB targeting Nigeria, Senegal, Togo, Angola, Niger, Tunisia). | 4. </a:t>
            </a:r>
            <a:r>
              <a:rPr lang="en-US" sz="1200" b="1" i="0" kern="1200">
                <a:solidFill>
                  <a:schemeClr val="tx1"/>
                </a:solidFill>
                <a:effectLst/>
                <a:latin typeface="+mn-lt"/>
                <a:ea typeface="+mn-ea"/>
                <a:cs typeface="+mn-cs"/>
              </a:rPr>
              <a:t>Patriotic hacktivists:</a:t>
            </a:r>
            <a:r>
              <a:rPr lang="en-US" sz="1200" b="0" i="0" kern="1200">
                <a:solidFill>
                  <a:schemeClr val="tx1"/>
                </a:solidFill>
                <a:effectLst/>
                <a:latin typeface="+mn-lt"/>
                <a:ea typeface="+mn-ea"/>
                <a:cs typeface="+mn-cs"/>
              </a:rPr>
              <a:t> NoName057(16) — ~4,000 volunteers, DDoSia tool, 2,000+ attacks against NATO financial sector 2022–2025. Operation Eastwood (Europol, July 2025) disrupted them: 100+ servers seized, 2 arrested. Ukrainian IT Army — government-directed volunteer DDoS force. | 5. </a:t>
            </a:r>
            <a:r>
              <a:rPr lang="en-US" sz="1200" b="1" i="0" kern="1200">
                <a:solidFill>
                  <a:schemeClr val="tx1"/>
                </a:solidFill>
                <a:effectLst/>
                <a:latin typeface="+mn-lt"/>
                <a:ea typeface="+mn-ea"/>
                <a:cs typeface="+mn-cs"/>
              </a:rPr>
              <a:t>Criminal groups:</a:t>
            </a:r>
            <a:r>
              <a:rPr lang="en-US" sz="1200" b="0" i="0" kern="1200">
                <a:solidFill>
                  <a:schemeClr val="tx1"/>
                </a:solidFill>
                <a:effectLst/>
                <a:latin typeface="+mn-lt"/>
                <a:ea typeface="+mn-ea"/>
                <a:cs typeface="+mn-cs"/>
              </a:rPr>
              <a:t> REvil (dismantled 2022), ALPHV/BlackCat (exit-scam 2024), RansomHub (successor), Scattered Spider (English-speaking, social-engineering specialists), RansomHouse, BianLian. RaaS = Ransomware-as-a-Service.</a:t>
            </a:r>
            <a:endParaRPr lang="en-US"/>
          </a:p>
        </p:txBody>
      </p:sp>
      <p:sp>
        <p:nvSpPr>
          <p:cNvPr id="4" name="Slide Number Placeholder 3"/>
          <p:cNvSpPr>
            <a:spLocks noGrp="1"/>
          </p:cNvSpPr>
          <p:nvPr>
            <p:ph type="sldNum" sz="quarter" idx="5"/>
          </p:nvPr>
        </p:nvSpPr>
        <p:spPr/>
        <p:txBody>
          <a:bodyPr/>
          <a:lstStyle/>
          <a:p>
            <a:fld id="{E390A6D5-5873-48D6-B940-43DCCBB5F1C5}" type="slidenum">
              <a:rPr lang="en-US" smtClean="0"/>
              <a:t>7</a:t>
            </a:fld>
            <a:endParaRPr lang="en-US"/>
          </a:p>
        </p:txBody>
      </p:sp>
    </p:spTree>
    <p:extLst>
      <p:ext uri="{BB962C8B-B14F-4D97-AF65-F5344CB8AC3E}">
        <p14:creationId xmlns:p14="http://schemas.microsoft.com/office/powerpoint/2010/main" val="13251424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a:solidFill>
                  <a:schemeClr val="tx1"/>
                </a:solidFill>
                <a:effectLst/>
                <a:latin typeface="+mn-lt"/>
                <a:ea typeface="+mn-ea"/>
                <a:cs typeface="+mn-cs"/>
              </a:rPr>
              <a:t>Four landmark cases — speaking notes:</a:t>
            </a:r>
            <a:r>
              <a:rPr lang="en-US" sz="1200" b="0" i="0" kern="1200">
                <a:solidFill>
                  <a:schemeClr val="tx1"/>
                </a:solidFill>
                <a:effectLst/>
                <a:latin typeface="+mn-lt"/>
                <a:ea typeface="+mn-ea"/>
                <a:cs typeface="+mn-cs"/>
              </a:rPr>
              <a:t> | </a:t>
            </a:r>
            <a:r>
              <a:rPr lang="en-US" sz="1200" b="1" i="0" kern="1200">
                <a:solidFill>
                  <a:schemeClr val="tx1"/>
                </a:solidFill>
                <a:effectLst/>
                <a:latin typeface="+mn-lt"/>
                <a:ea typeface="+mn-ea"/>
                <a:cs typeface="+mn-cs"/>
              </a:rPr>
              <a:t>DNC Hack-and-Leak (2016):</a:t>
            </a:r>
            <a:r>
              <a:rPr lang="en-US" sz="1200" b="0" i="0" kern="1200">
                <a:solidFill>
                  <a:schemeClr val="tx1"/>
                </a:solidFill>
                <a:effectLst/>
                <a:latin typeface="+mn-lt"/>
                <a:ea typeface="+mn-ea"/>
                <a:cs typeface="+mn-cs"/>
              </a:rPr>
              <a:t> APT28 (GRU Unit 26165) spearphished John Podesta with a fake Google security alert. 50,000+ emails stolen. Released via DCLeaks and WikiLeaks. Timed to damage the Clinton campaign. 12 GRU officers indicted by Mueller. Classic Type 1: intrusion serving a geopolitical influence goal. | </a:t>
            </a:r>
            <a:r>
              <a:rPr lang="en-US" sz="1200" b="1" i="0" kern="1200">
                <a:solidFill>
                  <a:schemeClr val="tx1"/>
                </a:solidFill>
                <a:effectLst/>
                <a:latin typeface="+mn-lt"/>
                <a:ea typeface="+mn-ea"/>
                <a:cs typeface="+mn-cs"/>
              </a:rPr>
              <a:t>Sony Pictures (2014):</a:t>
            </a:r>
            <a:r>
              <a:rPr lang="en-US" sz="1200" b="0" i="0" kern="1200">
                <a:solidFill>
                  <a:schemeClr val="tx1"/>
                </a:solidFill>
                <a:effectLst/>
                <a:latin typeface="+mn-lt"/>
                <a:ea typeface="+mn-ea"/>
                <a:cs typeface="+mn-cs"/>
              </a:rPr>
              <a:t> 'Guardians of Peace' (attributed by FBI to North Korea). Months inside Sony's network; Shamoon-variant wiper; 100TB released including executive emails and unreleased films. Coerced Sony to pull 'The Interview'. CEO Amy Pascal departed. Hack-and-leak + hack-and-destroy + coercive threats. | </a:t>
            </a:r>
            <a:r>
              <a:rPr lang="en-US" sz="1200" b="1" i="0" kern="1200">
                <a:solidFill>
                  <a:schemeClr val="tx1"/>
                </a:solidFill>
                <a:effectLst/>
                <a:latin typeface="+mn-lt"/>
                <a:ea typeface="+mn-ea"/>
                <a:cs typeface="+mn-cs"/>
              </a:rPr>
              <a:t>MGM Resorts (2023):</a:t>
            </a:r>
            <a:r>
              <a:rPr lang="en-US" sz="1200" b="0" i="0" kern="1200">
                <a:solidFill>
                  <a:schemeClr val="tx1"/>
                </a:solidFill>
                <a:effectLst/>
                <a:latin typeface="+mn-lt"/>
                <a:ea typeface="+mn-ea"/>
                <a:cs typeface="+mn-cs"/>
              </a:rPr>
              <a:t> Scattered Spider (UNC3944) — English-speaking US/UK members, some aged 17–25. 10-min LinkedIn recon → vishing help desk pretending to be an MGM employee → Okta SSO lateral movement → ALPHV ransomware. ~$100M in losses. Caesars paid ~$15M ransom a week earlier. One vishing call defeated enterprise MFA. | </a:t>
            </a:r>
            <a:r>
              <a:rPr lang="en-US" sz="1200" b="1" i="0" kern="1200">
                <a:solidFill>
                  <a:schemeClr val="tx1"/>
                </a:solidFill>
                <a:effectLst/>
                <a:latin typeface="+mn-lt"/>
                <a:ea typeface="+mn-ea"/>
                <a:cs typeface="+mn-cs"/>
              </a:rPr>
              <a:t>Arup Deepfake (2024):</a:t>
            </a:r>
            <a:r>
              <a:rPr lang="en-US" sz="1200" b="0" i="0" kern="1200">
                <a:solidFill>
                  <a:schemeClr val="tx1"/>
                </a:solidFill>
                <a:effectLst/>
                <a:latin typeface="+mn-lt"/>
                <a:ea typeface="+mn-ea"/>
                <a:cs typeface="+mn-cs"/>
              </a:rPr>
              <a:t> Finance worker received spearphish from 'CFO'. Joined a video call with deepfake versions of CFO + colleagues built from LinkedIn and public footage. Authorised 15 wire transfers totalling HK$200M (~$25.6M). Zero system intrusion — the deception was the entire attack. Source: CNN, Fortune, Arup CIO Rob Greig interview at WEF 2025.</a:t>
            </a:r>
            <a:endParaRPr lang="en-US"/>
          </a:p>
        </p:txBody>
      </p:sp>
      <p:sp>
        <p:nvSpPr>
          <p:cNvPr id="4" name="Slide Number Placeholder 3"/>
          <p:cNvSpPr>
            <a:spLocks noGrp="1"/>
          </p:cNvSpPr>
          <p:nvPr>
            <p:ph type="sldNum" sz="quarter" idx="5"/>
          </p:nvPr>
        </p:nvSpPr>
        <p:spPr/>
        <p:txBody>
          <a:bodyPr/>
          <a:lstStyle/>
          <a:p>
            <a:fld id="{E390A6D5-5873-48D6-B940-43DCCBB5F1C5}" type="slidenum">
              <a:rPr lang="en-US" smtClean="0"/>
              <a:t>8</a:t>
            </a:fld>
            <a:endParaRPr lang="en-US"/>
          </a:p>
        </p:txBody>
      </p:sp>
    </p:spTree>
    <p:extLst>
      <p:ext uri="{BB962C8B-B14F-4D97-AF65-F5344CB8AC3E}">
        <p14:creationId xmlns:p14="http://schemas.microsoft.com/office/powerpoint/2010/main" val="12665152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a:solidFill>
                  <a:schemeClr val="tx1"/>
                </a:solidFill>
                <a:effectLst/>
                <a:latin typeface="+mn-lt"/>
                <a:ea typeface="+mn-ea"/>
                <a:cs typeface="+mn-cs"/>
              </a:rPr>
              <a:t>Geopolitical drivers:</a:t>
            </a:r>
            <a:r>
              <a:rPr lang="en-US" sz="1200" b="0" i="0" kern="1200">
                <a:solidFill>
                  <a:schemeClr val="tx1"/>
                </a:solidFill>
                <a:effectLst/>
                <a:latin typeface="+mn-lt"/>
                <a:ea typeface="+mn-ea"/>
                <a:cs typeface="+mn-cs"/>
              </a:rPr>
              <a:t> The multipolar order — Russia, China, Iran, North Korea ('CRINK' bloc) — uses hybrid ops as statecraft below the threshold of open war. 2024 was the largest election year in history (70+ countries). EEAS notes hybridisation spiked in election periods. | </a:t>
            </a:r>
            <a:r>
              <a:rPr lang="en-US" sz="1200" b="1" i="0" kern="1200">
                <a:solidFill>
                  <a:schemeClr val="tx1"/>
                </a:solidFill>
                <a:effectLst/>
                <a:latin typeface="+mn-lt"/>
                <a:ea typeface="+mn-ea"/>
                <a:cs typeface="+mn-cs"/>
              </a:rPr>
              <a:t>Economic drivers:</a:t>
            </a:r>
            <a:r>
              <a:rPr lang="en-US" sz="1200" b="0" i="0" kern="1200">
                <a:solidFill>
                  <a:schemeClr val="tx1"/>
                </a:solidFill>
                <a:effectLst/>
                <a:latin typeface="+mn-lt"/>
                <a:ea typeface="+mn-ea"/>
                <a:cs typeface="+mn-cs"/>
              </a:rPr>
              <a:t> Cybercrime is a $10.5 trillion annual economy (Cybersecurity Ventures 2025). RaaS industrialised the attack. ALPHV charged ~20% of ransom; affiliates keep 80%. Africa's low cyber maturity + high digital adoption = profitable target. | </a:t>
            </a:r>
            <a:r>
              <a:rPr lang="en-US" sz="1200" b="1" i="0" kern="1200">
                <a:solidFill>
                  <a:schemeClr val="tx1"/>
                </a:solidFill>
                <a:effectLst/>
                <a:latin typeface="+mn-lt"/>
                <a:ea typeface="+mn-ea"/>
                <a:cs typeface="+mn-cs"/>
              </a:rPr>
              <a:t>Technical drivers:</a:t>
            </a:r>
            <a:r>
              <a:rPr lang="en-US" sz="1200" b="0" i="0" kern="1200">
                <a:solidFill>
                  <a:schemeClr val="tx1"/>
                </a:solidFill>
                <a:effectLst/>
                <a:latin typeface="+mn-lt"/>
                <a:ea typeface="+mn-ea"/>
                <a:cs typeface="+mn-cs"/>
              </a:rPr>
              <a:t> GenAI has collapsed the cost of: (a) content generation for CIB, (b) voice cloning for vishing, (c) deepfake video for impersonation fraud, (d) translation for multilingual ops. Bulletproof hosting and Tor hidden services enable persistent infrastructure. As-a-service ecosystems mean capability gaps are filled by criminal markets. | </a:t>
            </a:r>
            <a:r>
              <a:rPr lang="en-US" sz="1200" b="1" i="0" kern="1200">
                <a:solidFill>
                  <a:schemeClr val="tx1"/>
                </a:solidFill>
                <a:effectLst/>
                <a:latin typeface="+mn-lt"/>
                <a:ea typeface="+mn-ea"/>
                <a:cs typeface="+mn-cs"/>
              </a:rPr>
              <a:t>EEAS 2025 top 3 FIMI trends:</a:t>
            </a:r>
            <a:r>
              <a:rPr lang="en-US" sz="1200" b="0" i="0" kern="1200">
                <a:solidFill>
                  <a:schemeClr val="tx1"/>
                </a:solidFill>
                <a:effectLst/>
                <a:latin typeface="+mn-lt"/>
                <a:ea typeface="+mn-ea"/>
                <a:cs typeface="+mn-cs"/>
              </a:rPr>
              <a:t> (1) Increased hybridisation, (2) Increased AI use, (3) Increased covertness.</a:t>
            </a:r>
            <a:endParaRPr lang="en-US"/>
          </a:p>
        </p:txBody>
      </p:sp>
      <p:sp>
        <p:nvSpPr>
          <p:cNvPr id="4" name="Slide Number Placeholder 3"/>
          <p:cNvSpPr>
            <a:spLocks noGrp="1"/>
          </p:cNvSpPr>
          <p:nvPr>
            <p:ph type="sldNum" sz="quarter" idx="5"/>
          </p:nvPr>
        </p:nvSpPr>
        <p:spPr/>
        <p:txBody>
          <a:bodyPr/>
          <a:lstStyle/>
          <a:p>
            <a:fld id="{E390A6D5-5873-48D6-B940-43DCCBB5F1C5}" type="slidenum">
              <a:rPr lang="en-US" smtClean="0"/>
              <a:t>9</a:t>
            </a:fld>
            <a:endParaRPr lang="en-US"/>
          </a:p>
        </p:txBody>
      </p:sp>
    </p:spTree>
    <p:extLst>
      <p:ext uri="{BB962C8B-B14F-4D97-AF65-F5344CB8AC3E}">
        <p14:creationId xmlns:p14="http://schemas.microsoft.com/office/powerpoint/2010/main" val="28549190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a:solidFill>
                  <a:schemeClr val="tx1"/>
                </a:solidFill>
                <a:effectLst/>
                <a:latin typeface="+mn-lt"/>
                <a:ea typeface="+mn-ea"/>
                <a:cs typeface="+mn-cs"/>
              </a:rPr>
              <a:t>AI acceleration — key facts for Q&amp;A:</a:t>
            </a:r>
            <a:r>
              <a:rPr lang="en-US" sz="1200" b="0" i="0" kern="1200">
                <a:solidFill>
                  <a:schemeClr val="tx1"/>
                </a:solidFill>
                <a:effectLst/>
                <a:latin typeface="+mn-lt"/>
                <a:ea typeface="+mn-ea"/>
                <a:cs typeface="+mn-cs"/>
              </a:rPr>
              <a:t> | </a:t>
            </a:r>
            <a:r>
              <a:rPr lang="en-US" sz="1200" b="1" i="0" kern="1200">
                <a:solidFill>
                  <a:schemeClr val="tx1"/>
                </a:solidFill>
                <a:effectLst/>
                <a:latin typeface="+mn-lt"/>
                <a:ea typeface="+mn-ea"/>
                <a:cs typeface="+mn-cs"/>
              </a:rPr>
              <a:t>Deepfakes:</a:t>
            </a:r>
            <a:r>
              <a:rPr lang="en-US" sz="1200" b="0" i="0" kern="1200">
                <a:solidFill>
                  <a:schemeClr val="tx1"/>
                </a:solidFill>
                <a:effectLst/>
                <a:latin typeface="+mn-lt"/>
                <a:ea typeface="+mn-ea"/>
                <a:cs typeface="+mn-cs"/>
              </a:rPr>
              <a:t> Arup ($25.6M, Jan 2024) used publicly available footage from LinkedIn, YouTube and earnings calls to build real-time deepfake video + audio of the CFO and colleagues. 'I saw them on camera.' No arrests as of early 2025. | </a:t>
            </a:r>
            <a:r>
              <a:rPr lang="en-US" sz="1200" b="1" i="0" kern="1200">
                <a:solidFill>
                  <a:schemeClr val="tx1"/>
                </a:solidFill>
                <a:effectLst/>
                <a:latin typeface="+mn-lt"/>
                <a:ea typeface="+mn-ea"/>
                <a:cs typeface="+mn-cs"/>
              </a:rPr>
              <a:t>Voice cloning:</a:t>
            </a:r>
            <a:r>
              <a:rPr lang="en-US" sz="1200" b="0" i="0" kern="1200">
                <a:solidFill>
                  <a:schemeClr val="tx1"/>
                </a:solidFill>
                <a:effectLst/>
                <a:latin typeface="+mn-lt"/>
                <a:ea typeface="+mn-ea"/>
                <a:cs typeface="+mn-cs"/>
              </a:rPr>
              <a:t> ElevenLabs and similar services can clone a voice from 3 seconds of audio. Used in CEO fraud vishing calls. Increasingly combined with LinkedIn recon. | </a:t>
            </a:r>
            <a:r>
              <a:rPr lang="en-US" sz="1200" b="1" i="0" kern="1200">
                <a:solidFill>
                  <a:schemeClr val="tx1"/>
                </a:solidFill>
                <a:effectLst/>
                <a:latin typeface="+mn-lt"/>
                <a:ea typeface="+mn-ea"/>
                <a:cs typeface="+mn-cs"/>
              </a:rPr>
              <a:t>AI-accelerated CIB:</a:t>
            </a:r>
            <a:r>
              <a:rPr lang="en-US" sz="1200" b="0" i="0" kern="1200">
                <a:solidFill>
                  <a:schemeClr val="tx1"/>
                </a:solidFill>
                <a:effectLst/>
                <a:latin typeface="+mn-lt"/>
                <a:ea typeface="+mn-ea"/>
                <a:cs typeface="+mn-cs"/>
              </a:rPr>
              <a:t> Meta's Q1 2025 transparency report identified AI-generated profile pictures and AI-written posts in CIB takedowns. EEAS notes AI allows campaigns to scale in multiple languages simultaneously — previously requiring native speakers. | </a:t>
            </a:r>
            <a:r>
              <a:rPr lang="en-US" sz="1200" b="1" i="0" kern="1200">
                <a:solidFill>
                  <a:schemeClr val="tx1"/>
                </a:solidFill>
                <a:effectLst/>
                <a:latin typeface="+mn-lt"/>
                <a:ea typeface="+mn-ea"/>
                <a:cs typeface="+mn-cs"/>
              </a:rPr>
              <a:t>Spearphishing:</a:t>
            </a:r>
            <a:r>
              <a:rPr lang="en-US" sz="1200" b="0" i="0" kern="1200">
                <a:solidFill>
                  <a:schemeClr val="tx1"/>
                </a:solidFill>
                <a:effectLst/>
                <a:latin typeface="+mn-lt"/>
                <a:ea typeface="+mn-ea"/>
                <a:cs typeface="+mn-cs"/>
              </a:rPr>
              <a:t> LLMs reduce the skill barrier for highly personalised phishing. Previous heuristics (grammar errors, generic greetings) no longer reliable. | </a:t>
            </a:r>
            <a:r>
              <a:rPr lang="en-US" sz="1200" b="1" i="0" kern="1200">
                <a:solidFill>
                  <a:schemeClr val="tx1"/>
                </a:solidFill>
                <a:effectLst/>
                <a:latin typeface="+mn-lt"/>
                <a:ea typeface="+mn-ea"/>
                <a:cs typeface="+mn-cs"/>
              </a:rPr>
              <a:t>Countermeasure gap:</a:t>
            </a:r>
            <a:r>
              <a:rPr lang="en-US" sz="1200" b="0" i="0" kern="1200">
                <a:solidFill>
                  <a:schemeClr val="tx1"/>
                </a:solidFill>
                <a:effectLst/>
                <a:latin typeface="+mn-lt"/>
                <a:ea typeface="+mn-ea"/>
                <a:cs typeface="+mn-cs"/>
              </a:rPr>
              <a:t> Technical solutions (deepfake detection, C2PA content provenance standard) are nascent. Out-of-band verification (call-back on a known number; in-person for large transfers) is the most reliable current countermeasure. | </a:t>
            </a:r>
            <a:r>
              <a:rPr lang="en-US" sz="1200" b="1" i="0" kern="1200">
                <a:solidFill>
                  <a:schemeClr val="tx1"/>
                </a:solidFill>
                <a:effectLst/>
                <a:latin typeface="+mn-lt"/>
                <a:ea typeface="+mn-ea"/>
                <a:cs typeface="+mn-cs"/>
              </a:rPr>
              <a:t>C2PA</a:t>
            </a:r>
            <a:r>
              <a:rPr lang="en-US" sz="1200" b="0" i="0" kern="1200">
                <a:solidFill>
                  <a:schemeClr val="tx1"/>
                </a:solidFill>
                <a:effectLst/>
                <a:latin typeface="+mn-lt"/>
                <a:ea typeface="+mn-ea"/>
                <a:cs typeface="+mn-cs"/>
              </a:rPr>
              <a:t> = Coalition for Content Provenance and Authenticity — open standard for cryptographic provenance metadata. Adopted by Adobe, Microsoft, BBC.</a:t>
            </a:r>
            <a:endParaRPr lang="en-US"/>
          </a:p>
        </p:txBody>
      </p:sp>
      <p:sp>
        <p:nvSpPr>
          <p:cNvPr id="4" name="Slide Number Placeholder 3"/>
          <p:cNvSpPr>
            <a:spLocks noGrp="1"/>
          </p:cNvSpPr>
          <p:nvPr>
            <p:ph type="sldNum" sz="quarter" idx="5"/>
          </p:nvPr>
        </p:nvSpPr>
        <p:spPr/>
        <p:txBody>
          <a:bodyPr/>
          <a:lstStyle/>
          <a:p>
            <a:fld id="{E390A6D5-5873-48D6-B940-43DCCBB5F1C5}" type="slidenum">
              <a:rPr lang="en-US" smtClean="0"/>
              <a:t>10</a:t>
            </a:fld>
            <a:endParaRPr lang="en-US"/>
          </a:p>
        </p:txBody>
      </p:sp>
    </p:spTree>
    <p:extLst>
      <p:ext uri="{BB962C8B-B14F-4D97-AF65-F5344CB8AC3E}">
        <p14:creationId xmlns:p14="http://schemas.microsoft.com/office/powerpoint/2010/main" val="18435127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a:solidFill>
                  <a:schemeClr val="tx1"/>
                </a:solidFill>
                <a:effectLst/>
                <a:latin typeface="+mn-lt"/>
                <a:ea typeface="+mn-ea"/>
                <a:cs typeface="+mn-cs"/>
              </a:rPr>
              <a:t>This slide is the pivot point — from global to continental.</a:t>
            </a:r>
            <a:r>
              <a:rPr lang="en-US" sz="1200" b="0" i="0" kern="1200">
                <a:solidFill>
                  <a:schemeClr val="tx1"/>
                </a:solidFill>
                <a:effectLst/>
                <a:latin typeface="+mn-lt"/>
                <a:ea typeface="+mn-ea"/>
                <a:cs typeface="+mn-cs"/>
              </a:rPr>
              <a:t> The key argument: Africa is not simply a smaller version of the global threat landscape. It has distinct structural features that change how hybrid attacks manifest, who runs them, and what harms they cause. | </a:t>
            </a:r>
            <a:r>
              <a:rPr lang="en-US" sz="1200" b="1" i="0" kern="1200">
                <a:solidFill>
                  <a:schemeClr val="tx1"/>
                </a:solidFill>
                <a:effectLst/>
                <a:latin typeface="+mn-lt"/>
                <a:ea typeface="+mn-ea"/>
                <a:cs typeface="+mn-cs"/>
              </a:rPr>
              <a:t>Mobile-first digital infrastructure:</a:t>
            </a:r>
            <a:r>
              <a:rPr lang="en-US" sz="1200" b="0" i="0" kern="1200">
                <a:solidFill>
                  <a:schemeClr val="tx1"/>
                </a:solidFill>
                <a:effectLst/>
                <a:latin typeface="+mn-lt"/>
                <a:ea typeface="+mn-ea"/>
                <a:cs typeface="+mn-cs"/>
              </a:rPr>
              <a:t> In most sub-Saharan African countries, the majority of internet access is via mobile phone, not desktop. This means WhatsApp is not a supplement to the information ecosystem — it IS the information ecosystem for most people. WhatsApp's end-to-end encryption and group-forwarding mechanics make it ideal for disinformation spread and nearly impossible to moderate. | </a:t>
            </a:r>
            <a:r>
              <a:rPr lang="en-US" sz="1200" b="1" i="0" kern="1200">
                <a:solidFill>
                  <a:schemeClr val="tx1"/>
                </a:solidFill>
                <a:effectLst/>
                <a:latin typeface="+mn-lt"/>
                <a:ea typeface="+mn-ea"/>
                <a:cs typeface="+mn-cs"/>
              </a:rPr>
              <a:t>Limited African-language content moderation:</a:t>
            </a:r>
            <a:r>
              <a:rPr lang="en-US" sz="1200" b="0" i="0" kern="1200">
                <a:solidFill>
                  <a:schemeClr val="tx1"/>
                </a:solidFill>
                <a:effectLst/>
                <a:latin typeface="+mn-lt"/>
                <a:ea typeface="+mn-ea"/>
                <a:cs typeface="+mn-cs"/>
              </a:rPr>
              <a:t> Facebook, X/Twitter, YouTube and TikTok have very thin moderation capacity in Swahili, Amharic, Hausa, Igbo, Yoruba, Zulu, Xhosa, or any of the continent's 2,000+ languages. This means that content flagged in English in hours can circulate in Zulu or Hausa for weeks. | </a:t>
            </a:r>
            <a:r>
              <a:rPr lang="en-US" sz="1200" b="1" i="0" kern="1200">
                <a:solidFill>
                  <a:schemeClr val="tx1"/>
                </a:solidFill>
                <a:effectLst/>
                <a:latin typeface="+mn-lt"/>
                <a:ea typeface="+mn-ea"/>
                <a:cs typeface="+mn-cs"/>
              </a:rPr>
              <a:t>Rapid digital adoption + low cyber resilience:</a:t>
            </a:r>
            <a:r>
              <a:rPr lang="en-US" sz="1200" b="0" i="0" kern="1200">
                <a:solidFill>
                  <a:schemeClr val="tx1"/>
                </a:solidFill>
                <a:effectLst/>
                <a:latin typeface="+mn-lt"/>
                <a:ea typeface="+mn-ea"/>
                <a:cs typeface="+mn-cs"/>
              </a:rPr>
              <a:t> Africa is the world's fastest-growing mobile internet market. But the security infrastructure — trained workforce, patched systems, MFA adoption, incident response capacity — has not kept pace. TransUnion's server was brute-forced with the password 'Password'. This is a structural feature of the market, not an outlier. | </a:t>
            </a:r>
            <a:r>
              <a:rPr lang="en-US" sz="1200" b="1" i="0" kern="1200">
                <a:solidFill>
                  <a:schemeClr val="tx1"/>
                </a:solidFill>
                <a:effectLst/>
                <a:latin typeface="+mn-lt"/>
                <a:ea typeface="+mn-ea"/>
                <a:cs typeface="+mn-cs"/>
              </a:rPr>
              <a:t>Geopolitical contest:</a:t>
            </a:r>
            <a:r>
              <a:rPr lang="en-US" sz="1200" b="0" i="0" kern="1200">
                <a:solidFill>
                  <a:schemeClr val="tx1"/>
                </a:solidFill>
                <a:effectLst/>
                <a:latin typeface="+mn-lt"/>
                <a:ea typeface="+mn-ea"/>
                <a:cs typeface="+mn-cs"/>
              </a:rPr>
              <a:t> Africa is the new arena for the Russia-France contest (Sahel), China's Belt and Road influence, and US Africa Command operations. Each external actor runs both cyber and influence tracks. | </a:t>
            </a:r>
            <a:r>
              <a:rPr lang="en-US" sz="1200" b="1" i="0" kern="1200">
                <a:solidFill>
                  <a:schemeClr val="tx1"/>
                </a:solidFill>
                <a:effectLst/>
                <a:latin typeface="+mn-lt"/>
                <a:ea typeface="+mn-ea"/>
                <a:cs typeface="+mn-cs"/>
              </a:rPr>
              <a:t>Domestic commercial influence market:</a:t>
            </a:r>
            <a:r>
              <a:rPr lang="en-US" sz="1200" b="0" i="0" kern="1200">
                <a:solidFill>
                  <a:schemeClr val="tx1"/>
                </a:solidFill>
                <a:effectLst/>
                <a:latin typeface="+mn-lt"/>
                <a:ea typeface="+mn-ea"/>
                <a:cs typeface="+mn-cs"/>
              </a:rPr>
              <a:t> Team Jorge and Archimedes Group both ran commercial election-interference operations explicitly targeting African elections — Nigeria, Senegal, Togo, Angola, Niger, Tunisia. This is a market, not a state secret.</a:t>
            </a:r>
          </a:p>
          <a:p>
            <a:r>
              <a:rPr lang="en-US" sz="1200" b="0" i="0" kern="1200">
                <a:solidFill>
                  <a:schemeClr val="tx1"/>
                </a:solidFill>
                <a:effectLst/>
                <a:latin typeface="+mn-lt"/>
                <a:ea typeface="+mn-ea"/>
                <a:cs typeface="+mn-cs"/>
              </a:rPr>
              <a:t>🔐</a:t>
            </a:r>
          </a:p>
          <a:p>
            <a:r>
              <a:rPr lang="en-US" sz="1200" b="0" i="0" kern="1200" cap="all">
                <a:solidFill>
                  <a:schemeClr val="tx1"/>
                </a:solidFill>
                <a:effectLst/>
                <a:latin typeface="+mn-lt"/>
                <a:ea typeface="+mn-ea"/>
                <a:cs typeface="+mn-cs"/>
              </a:rPr>
              <a:t>ITWeb Security Summit · Johannesburg 2026</a:t>
            </a:r>
          </a:p>
          <a:p>
            <a:r>
              <a:rPr lang="en-US" sz="1200" b="1" i="0" kern="1200">
                <a:solidFill>
                  <a:schemeClr val="tx1"/>
                </a:solidFill>
                <a:effectLst/>
                <a:latin typeface="+mn-lt"/>
                <a:ea typeface="+mn-ea"/>
                <a:cs typeface="+mn-cs"/>
              </a:rPr>
              <a:t>Hybrid Cyber &amp; Information Operations</a:t>
            </a:r>
            <a:br>
              <a:rPr lang="en-US" sz="1200" b="1" i="0" kern="1200">
                <a:solidFill>
                  <a:schemeClr val="tx1"/>
                </a:solidFill>
                <a:effectLst/>
                <a:latin typeface="+mn-lt"/>
                <a:ea typeface="+mn-ea"/>
                <a:cs typeface="+mn-cs"/>
              </a:rPr>
            </a:br>
            <a:r>
              <a:rPr lang="en-US" sz="1200" b="1" i="0" kern="1200">
                <a:solidFill>
                  <a:schemeClr val="tx1"/>
                </a:solidFill>
                <a:effectLst/>
                <a:latin typeface="+mn-lt"/>
                <a:ea typeface="+mn-ea"/>
                <a:cs typeface="+mn-cs"/>
              </a:rPr>
              <a:t>in 2026</a:t>
            </a:r>
          </a:p>
          <a:p>
            <a:r>
              <a:rPr lang="en-US" sz="1200" b="0" i="0" kern="1200">
                <a:solidFill>
                  <a:schemeClr val="tx1"/>
                </a:solidFill>
                <a:effectLst/>
                <a:latin typeface="+mn-lt"/>
                <a:ea typeface="+mn-ea"/>
                <a:cs typeface="+mn-cs"/>
              </a:rPr>
              <a:t>How attackers blend disruption and influence — and why </a:t>
            </a:r>
            <a:r>
              <a:rPr lang="en-US" sz="1200" b="0" i="1" kern="1200">
                <a:solidFill>
                  <a:schemeClr val="tx1"/>
                </a:solidFill>
                <a:effectLst/>
                <a:latin typeface="+mn-lt"/>
                <a:ea typeface="+mn-ea"/>
                <a:cs typeface="+mn-cs"/>
              </a:rPr>
              <a:t>fact-checking alone will never be enough</a:t>
            </a:r>
            <a:endParaRPr lang="en-US" sz="1200" b="0" i="0" kern="1200">
              <a:solidFill>
                <a:schemeClr val="tx1"/>
              </a:solidFill>
              <a:effectLst/>
              <a:latin typeface="+mn-lt"/>
              <a:ea typeface="+mn-ea"/>
              <a:cs typeface="+mn-cs"/>
            </a:endParaRPr>
          </a:p>
          <a:p>
            <a:r>
              <a:rPr lang="en-US" sz="1200" b="0" i="0" kern="1200" cap="all">
                <a:solidFill>
                  <a:schemeClr val="tx1"/>
                </a:solidFill>
                <a:effectLst/>
                <a:latin typeface="+mn-lt"/>
                <a:ea typeface="+mn-ea"/>
                <a:cs typeface="+mn-cs"/>
              </a:rPr>
              <a:t>Roadmap</a:t>
            </a:r>
          </a:p>
          <a:p>
            <a:r>
              <a:rPr lang="en-US" sz="1200" b="1" i="0" kern="1200">
                <a:solidFill>
                  <a:schemeClr val="tx1"/>
                </a:solidFill>
                <a:effectLst/>
                <a:latin typeface="+mn-lt"/>
                <a:ea typeface="+mn-ea"/>
                <a:cs typeface="+mn-cs"/>
              </a:rPr>
              <a:t>Today's Agenda</a:t>
            </a:r>
          </a:p>
          <a:p>
            <a:r>
              <a:rPr lang="en-US" sz="1200" b="0" i="0" kern="1200">
                <a:solidFill>
                  <a:schemeClr val="tx1"/>
                </a:solidFill>
                <a:effectLst/>
                <a:latin typeface="+mn-lt"/>
                <a:ea typeface="+mn-ea"/>
                <a:cs typeface="+mn-cs"/>
              </a:rPr>
              <a:t>🌍</a:t>
            </a:r>
          </a:p>
          <a:p>
            <a:r>
              <a:rPr lang="en-US" sz="1200" b="1" i="0" kern="1200" cap="all">
                <a:solidFill>
                  <a:schemeClr val="tx1"/>
                </a:solidFill>
                <a:effectLst/>
                <a:latin typeface="+mn-lt"/>
                <a:ea typeface="+mn-ea"/>
                <a:cs typeface="+mn-cs"/>
              </a:rPr>
              <a:t>Act 1 · Global Landscape</a:t>
            </a:r>
          </a:p>
          <a:p>
            <a:r>
              <a:rPr lang="en-US" sz="1200" b="0" i="0" kern="1200">
                <a:solidFill>
                  <a:schemeClr val="tx1"/>
                </a:solidFill>
                <a:effectLst/>
                <a:latin typeface="+mn-lt"/>
                <a:ea typeface="+mn-ea"/>
                <a:cs typeface="+mn-cs"/>
              </a:rPr>
              <a:t>Four ways to weaponise ICT</a:t>
            </a:r>
          </a:p>
          <a:p>
            <a:r>
              <a:rPr lang="en-US" sz="1200" b="0" i="0" kern="1200">
                <a:solidFill>
                  <a:schemeClr val="tx1"/>
                </a:solidFill>
                <a:effectLst/>
                <a:latin typeface="+mn-lt"/>
                <a:ea typeface="+mn-ea"/>
                <a:cs typeface="+mn-cs"/>
              </a:rPr>
              <a:t>Three modes of hybrid attack</a:t>
            </a:r>
          </a:p>
          <a:p>
            <a:r>
              <a:rPr lang="en-US" sz="1200" b="0" i="0" kern="1200">
                <a:solidFill>
                  <a:schemeClr val="tx1"/>
                </a:solidFill>
                <a:effectLst/>
                <a:latin typeface="+mn-lt"/>
                <a:ea typeface="+mn-ea"/>
                <a:cs typeface="+mn-cs"/>
              </a:rPr>
              <a:t>Most prevalent types + triggers</a:t>
            </a:r>
          </a:p>
          <a:p>
            <a:r>
              <a:rPr lang="en-US" sz="1200" b="0" i="0" kern="1200">
                <a:solidFill>
                  <a:schemeClr val="tx1"/>
                </a:solidFill>
                <a:effectLst/>
                <a:latin typeface="+mn-lt"/>
                <a:ea typeface="+mn-ea"/>
                <a:cs typeface="+mn-cs"/>
              </a:rPr>
              <a:t>Five protagonist classes</a:t>
            </a:r>
          </a:p>
          <a:p>
            <a:r>
              <a:rPr lang="en-US" sz="1200" b="0" i="0" kern="1200">
                <a:solidFill>
                  <a:schemeClr val="tx1"/>
                </a:solidFill>
                <a:effectLst/>
                <a:latin typeface="+mn-lt"/>
                <a:ea typeface="+mn-ea"/>
                <a:cs typeface="+mn-cs"/>
              </a:rPr>
              <a:t>Landmark cases</a:t>
            </a:r>
          </a:p>
          <a:p>
            <a:r>
              <a:rPr lang="en-US" sz="1200" b="0" i="0" kern="1200">
                <a:solidFill>
                  <a:schemeClr val="tx1"/>
                </a:solidFill>
                <a:effectLst/>
                <a:latin typeface="+mn-lt"/>
                <a:ea typeface="+mn-ea"/>
                <a:cs typeface="+mn-cs"/>
              </a:rPr>
              <a:t>Drivers of hybridisation</a:t>
            </a:r>
          </a:p>
          <a:p>
            <a:r>
              <a:rPr lang="en-US" sz="1200" b="0" i="0" kern="1200">
                <a:solidFill>
                  <a:schemeClr val="tx1"/>
                </a:solidFill>
                <a:effectLst/>
                <a:latin typeface="+mn-lt"/>
                <a:ea typeface="+mn-ea"/>
                <a:cs typeface="+mn-cs"/>
              </a:rPr>
              <a:t>AI acceleration</a:t>
            </a:r>
          </a:p>
          <a:p>
            <a:r>
              <a:rPr lang="en-US" sz="1200" b="0" i="0" kern="1200">
                <a:solidFill>
                  <a:schemeClr val="tx1"/>
                </a:solidFill>
                <a:effectLst/>
                <a:latin typeface="+mn-lt"/>
                <a:ea typeface="+mn-ea"/>
                <a:cs typeface="+mn-cs"/>
              </a:rPr>
              <a:t>🌍</a:t>
            </a:r>
          </a:p>
          <a:p>
            <a:r>
              <a:rPr lang="en-US" sz="1200" b="1" i="0" kern="1200" cap="all">
                <a:solidFill>
                  <a:schemeClr val="tx1"/>
                </a:solidFill>
                <a:effectLst/>
                <a:latin typeface="+mn-lt"/>
                <a:ea typeface="+mn-ea"/>
                <a:cs typeface="+mn-cs"/>
              </a:rPr>
              <a:t>Act 2 · Africa &amp; South Africa</a:t>
            </a:r>
          </a:p>
          <a:p>
            <a:r>
              <a:rPr lang="en-US" sz="1200" b="0" i="0" kern="1200">
                <a:solidFill>
                  <a:schemeClr val="tx1"/>
                </a:solidFill>
                <a:effectLst/>
                <a:latin typeface="+mn-lt"/>
                <a:ea typeface="+mn-ea"/>
                <a:cs typeface="+mn-cs"/>
              </a:rPr>
              <a:t>Africa: a different operational environment</a:t>
            </a:r>
          </a:p>
          <a:p>
            <a:r>
              <a:rPr lang="en-US" sz="1200" b="0" i="0" kern="1200">
                <a:solidFill>
                  <a:schemeClr val="tx1"/>
                </a:solidFill>
                <a:effectLst/>
                <a:latin typeface="+mn-lt"/>
                <a:ea typeface="+mn-ea"/>
                <a:cs typeface="+mn-cs"/>
              </a:rPr>
              <a:t>Real-world harm to ordinary Africans</a:t>
            </a:r>
          </a:p>
          <a:p>
            <a:r>
              <a:rPr lang="en-US" sz="1200" b="0" i="0" kern="1200">
                <a:solidFill>
                  <a:schemeClr val="tx1"/>
                </a:solidFill>
                <a:effectLst/>
                <a:latin typeface="+mn-lt"/>
                <a:ea typeface="+mn-ea"/>
                <a:cs typeface="+mn-cs"/>
              </a:rPr>
              <a:t>Deadliest harms &amp; stark health example</a:t>
            </a:r>
          </a:p>
          <a:p>
            <a:r>
              <a:rPr lang="en-US" sz="1200" b="0" i="0" kern="1200">
                <a:solidFill>
                  <a:schemeClr val="tx1"/>
                </a:solidFill>
                <a:effectLst/>
                <a:latin typeface="+mn-lt"/>
                <a:ea typeface="+mn-ea"/>
                <a:cs typeface="+mn-cs"/>
              </a:rPr>
              <a:t>Africa: two dominant attack patterns</a:t>
            </a:r>
          </a:p>
          <a:p>
            <a:r>
              <a:rPr lang="en-US" sz="1200" b="0" i="0" kern="1200">
                <a:solidFill>
                  <a:schemeClr val="tx1"/>
                </a:solidFill>
                <a:effectLst/>
                <a:latin typeface="+mn-lt"/>
                <a:ea typeface="+mn-ea"/>
                <a:cs typeface="+mn-cs"/>
              </a:rPr>
              <a:t>South Africa: three simultaneous tracks</a:t>
            </a:r>
          </a:p>
          <a:p>
            <a:r>
              <a:rPr lang="en-US" sz="1200" b="0" i="0" kern="1200">
                <a:solidFill>
                  <a:schemeClr val="tx1"/>
                </a:solidFill>
                <a:effectLst/>
                <a:latin typeface="+mn-lt"/>
                <a:ea typeface="+mn-ea"/>
                <a:cs typeface="+mn-cs"/>
              </a:rPr>
              <a:t>🛡️</a:t>
            </a:r>
          </a:p>
          <a:p>
            <a:r>
              <a:rPr lang="en-US" sz="1200" b="1" i="0" kern="1200" cap="all">
                <a:solidFill>
                  <a:schemeClr val="tx1"/>
                </a:solidFill>
                <a:effectLst/>
                <a:latin typeface="+mn-lt"/>
                <a:ea typeface="+mn-ea"/>
                <a:cs typeface="+mn-cs"/>
              </a:rPr>
              <a:t>Act 3 · Response</a:t>
            </a:r>
          </a:p>
          <a:p>
            <a:r>
              <a:rPr lang="en-US" sz="1200" b="0" i="0" kern="1200">
                <a:solidFill>
                  <a:schemeClr val="tx1"/>
                </a:solidFill>
                <a:effectLst/>
                <a:latin typeface="+mn-lt"/>
                <a:ea typeface="+mn-ea"/>
                <a:cs typeface="+mn-cs"/>
              </a:rPr>
              <a:t>No one-size-fits-all</a:t>
            </a:r>
          </a:p>
          <a:p>
            <a:r>
              <a:rPr lang="en-US" sz="1200" b="0" i="0" kern="1200">
                <a:solidFill>
                  <a:schemeClr val="tx1"/>
                </a:solidFill>
                <a:effectLst/>
                <a:latin typeface="+mn-lt"/>
                <a:ea typeface="+mn-ea"/>
                <a:cs typeface="+mn-cs"/>
              </a:rPr>
              <a:t>Multilateral frameworks</a:t>
            </a:r>
          </a:p>
          <a:p>
            <a:r>
              <a:rPr lang="en-US" sz="1200" b="0" i="0" kern="1200">
                <a:solidFill>
                  <a:schemeClr val="tx1"/>
                </a:solidFill>
                <a:effectLst/>
                <a:latin typeface="+mn-lt"/>
                <a:ea typeface="+mn-ea"/>
                <a:cs typeface="+mn-cs"/>
              </a:rPr>
              <a:t>What firms can do</a:t>
            </a:r>
          </a:p>
          <a:p>
            <a:r>
              <a:rPr lang="en-US" sz="1200" b="0" i="0" kern="1200">
                <a:solidFill>
                  <a:schemeClr val="tx1"/>
                </a:solidFill>
                <a:effectLst/>
                <a:latin typeface="+mn-lt"/>
                <a:ea typeface="+mn-ea"/>
                <a:cs typeface="+mn-cs"/>
              </a:rPr>
              <a:t>What communities can do</a:t>
            </a:r>
          </a:p>
          <a:p>
            <a:r>
              <a:rPr lang="en-US" sz="1200" b="0" i="0" kern="1200">
                <a:solidFill>
                  <a:schemeClr val="tx1"/>
                </a:solidFill>
                <a:effectLst/>
                <a:latin typeface="+mn-lt"/>
                <a:ea typeface="+mn-ea"/>
                <a:cs typeface="+mn-cs"/>
              </a:rPr>
              <a:t>Closing: Mandela + OASIS</a:t>
            </a:r>
          </a:p>
          <a:p>
            <a:r>
              <a:rPr lang="en-US" sz="1200" b="0" i="0" kern="1200" cap="all">
                <a:solidFill>
                  <a:schemeClr val="tx1"/>
                </a:solidFill>
                <a:effectLst/>
                <a:latin typeface="+mn-lt"/>
                <a:ea typeface="+mn-ea"/>
                <a:cs typeface="+mn-cs"/>
              </a:rPr>
              <a:t>Framing the Problem</a:t>
            </a:r>
          </a:p>
          <a:p>
            <a:r>
              <a:rPr lang="en-US" sz="1200" b="1" i="0" kern="1200">
                <a:solidFill>
                  <a:schemeClr val="tx1"/>
                </a:solidFill>
                <a:effectLst/>
                <a:latin typeface="+mn-lt"/>
                <a:ea typeface="+mn-ea"/>
                <a:cs typeface="+mn-cs"/>
              </a:rPr>
              <a:t>Four Ways to Weaponise Information &amp; Communication</a:t>
            </a:r>
          </a:p>
          <a:p>
            <a:r>
              <a:rPr lang="en-US" sz="1200" b="0" i="0" kern="1200">
                <a:solidFill>
                  <a:schemeClr val="tx1"/>
                </a:solidFill>
                <a:effectLst/>
                <a:latin typeface="+mn-lt"/>
                <a:ea typeface="+mn-ea"/>
                <a:cs typeface="+mn-cs"/>
              </a:rPr>
              <a:t>Focusing only on disinformation limits us to veracity-based countermeasures. The full attack surface is wider.</a:t>
            </a:r>
          </a:p>
          <a:p>
            <a:r>
              <a:rPr lang="en-US" sz="1200" b="0" i="0" kern="1200">
                <a:solidFill>
                  <a:schemeClr val="tx1"/>
                </a:solidFill>
                <a:effectLst/>
                <a:latin typeface="+mn-lt"/>
                <a:ea typeface="+mn-ea"/>
                <a:cs typeface="+mn-cs"/>
              </a:rPr>
              <a:t>INTRUSIONTheft · SabotageEspionage · WiperMANIPULATIONDisinformationPropaganda · CIBABUSEHate speechXenophobia · DoxxingEXPLOITATIONFraud · ExtortionRansomware · ScamICTWeapon</a:t>
            </a:r>
          </a:p>
          <a:p>
            <a:r>
              <a:rPr lang="en-US" sz="1200" b="0" i="0" kern="1200">
                <a:solidFill>
                  <a:schemeClr val="tx1"/>
                </a:solidFill>
                <a:effectLst/>
                <a:latin typeface="+mn-lt"/>
                <a:ea typeface="+mn-ea"/>
                <a:cs typeface="+mn-cs"/>
              </a:rPr>
              <a:t>OASIS / STIX extension framing · All four quadrants require distinct countermeasures</a:t>
            </a:r>
          </a:p>
          <a:p>
            <a:r>
              <a:rPr lang="en-US" sz="1200" b="0" i="0" kern="1200" cap="all">
                <a:solidFill>
                  <a:schemeClr val="tx1"/>
                </a:solidFill>
                <a:effectLst/>
                <a:latin typeface="+mn-lt"/>
                <a:ea typeface="+mn-ea"/>
                <a:cs typeface="+mn-cs"/>
              </a:rPr>
              <a:t>The Taxonomy</a:t>
            </a:r>
          </a:p>
          <a:p>
            <a:r>
              <a:rPr lang="en-US" sz="1200" b="1" i="0" kern="1200">
                <a:solidFill>
                  <a:schemeClr val="tx1"/>
                </a:solidFill>
                <a:effectLst/>
                <a:latin typeface="+mn-lt"/>
                <a:ea typeface="+mn-ea"/>
                <a:cs typeface="+mn-cs"/>
              </a:rPr>
              <a:t>Three Modes of Hybrid Attack</a:t>
            </a:r>
          </a:p>
          <a:p>
            <a:r>
              <a:rPr lang="en-US" sz="1200" b="0" i="0" kern="1200">
                <a:solidFill>
                  <a:schemeClr val="tx1"/>
                </a:solidFill>
                <a:effectLst/>
                <a:latin typeface="+mn-lt"/>
                <a:ea typeface="+mn-ea"/>
                <a:cs typeface="+mn-cs"/>
              </a:rPr>
              <a:t>🎯</a:t>
            </a:r>
          </a:p>
          <a:p>
            <a:r>
              <a:rPr lang="en-US" sz="1200" b="1" i="0" kern="1200">
                <a:solidFill>
                  <a:schemeClr val="tx1"/>
                </a:solidFill>
                <a:effectLst/>
                <a:latin typeface="+mn-lt"/>
                <a:ea typeface="+mn-ea"/>
                <a:cs typeface="+mn-cs"/>
              </a:rPr>
              <a:t>TYPE 1</a:t>
            </a:r>
          </a:p>
          <a:p>
            <a:r>
              <a:rPr lang="en-US" sz="1200" b="1" i="0" kern="1200">
                <a:solidFill>
                  <a:schemeClr val="tx1"/>
                </a:solidFill>
                <a:effectLst/>
                <a:latin typeface="+mn-lt"/>
                <a:ea typeface="+mn-ea"/>
                <a:cs typeface="+mn-cs"/>
              </a:rPr>
              <a:t>Cyber-Enabled Influence</a:t>
            </a:r>
          </a:p>
          <a:p>
            <a:r>
              <a:rPr lang="en-US" sz="1200" b="0" i="0" kern="1200">
                <a:solidFill>
                  <a:schemeClr val="tx1"/>
                </a:solidFill>
                <a:effectLst/>
                <a:latin typeface="+mn-lt"/>
                <a:ea typeface="+mn-ea"/>
                <a:cs typeface="+mn-cs"/>
              </a:rPr>
              <a:t>Cyber operation </a:t>
            </a:r>
            <a:r>
              <a:rPr lang="en-US" sz="1200" b="0" i="1" kern="1200">
                <a:solidFill>
                  <a:schemeClr val="tx1"/>
                </a:solidFill>
                <a:effectLst/>
                <a:latin typeface="+mn-lt"/>
                <a:ea typeface="+mn-ea"/>
                <a:cs typeface="+mn-cs"/>
              </a:rPr>
              <a:t>serves</a:t>
            </a:r>
            <a:r>
              <a:rPr lang="en-US" sz="1200" b="0" i="0" kern="1200">
                <a:solidFill>
                  <a:schemeClr val="tx1"/>
                </a:solidFill>
                <a:effectLst/>
                <a:latin typeface="+mn-lt"/>
                <a:ea typeface="+mn-ea"/>
                <a:cs typeface="+mn-cs"/>
              </a:rPr>
              <a:t> an influence goal. With or without intrusion (strict vs. broad).</a:t>
            </a:r>
          </a:p>
          <a:p>
            <a:r>
              <a:rPr lang="en-US" sz="1200" b="1" i="0" kern="1200">
                <a:solidFill>
                  <a:schemeClr val="tx1"/>
                </a:solidFill>
                <a:effectLst/>
                <a:latin typeface="+mn-lt"/>
                <a:ea typeface="+mn-ea"/>
                <a:cs typeface="+mn-cs"/>
              </a:rPr>
              <a:t>Examples:</a:t>
            </a:r>
            <a:r>
              <a:rPr lang="en-US" sz="1200" b="0" i="0" kern="1200">
                <a:solidFill>
                  <a:schemeClr val="tx1"/>
                </a:solidFill>
                <a:effectLst/>
                <a:latin typeface="+mn-lt"/>
                <a:ea typeface="+mn-ea"/>
                <a:cs typeface="+mn-cs"/>
              </a:rPr>
              <a:t> Hack-and-leak, defacement, ransomware-as-coercion, CIB/fake accounts</a:t>
            </a:r>
          </a:p>
          <a:p>
            <a:r>
              <a:rPr lang="en-US" sz="1200" b="0" i="0" kern="1200">
                <a:solidFill>
                  <a:schemeClr val="tx1"/>
                </a:solidFill>
                <a:effectLst/>
                <a:latin typeface="+mn-lt"/>
                <a:ea typeface="+mn-ea"/>
                <a:cs typeface="+mn-cs"/>
              </a:rPr>
              <a:t>🎭</a:t>
            </a:r>
          </a:p>
          <a:p>
            <a:r>
              <a:rPr lang="en-US" sz="1200" b="1" i="0" kern="1200">
                <a:solidFill>
                  <a:schemeClr val="tx1"/>
                </a:solidFill>
                <a:effectLst/>
                <a:latin typeface="+mn-lt"/>
                <a:ea typeface="+mn-ea"/>
                <a:cs typeface="+mn-cs"/>
              </a:rPr>
              <a:t>TYPE 2</a:t>
            </a:r>
          </a:p>
          <a:p>
            <a:r>
              <a:rPr lang="en-US" sz="1200" b="1" i="0" kern="1200">
                <a:solidFill>
                  <a:schemeClr val="tx1"/>
                </a:solidFill>
                <a:effectLst/>
                <a:latin typeface="+mn-lt"/>
                <a:ea typeface="+mn-ea"/>
                <a:cs typeface="+mn-cs"/>
              </a:rPr>
              <a:t>Influence-Enabled Cyber</a:t>
            </a:r>
          </a:p>
          <a:p>
            <a:r>
              <a:rPr lang="en-US" sz="1200" b="0" i="0" kern="1200">
                <a:solidFill>
                  <a:schemeClr val="tx1"/>
                </a:solidFill>
                <a:effectLst/>
                <a:latin typeface="+mn-lt"/>
                <a:ea typeface="+mn-ea"/>
                <a:cs typeface="+mn-cs"/>
              </a:rPr>
              <a:t>Disinformation or deception </a:t>
            </a:r>
            <a:r>
              <a:rPr lang="en-US" sz="1200" b="0" i="1" kern="1200">
                <a:solidFill>
                  <a:schemeClr val="tx1"/>
                </a:solidFill>
                <a:effectLst/>
                <a:latin typeface="+mn-lt"/>
                <a:ea typeface="+mn-ea"/>
                <a:cs typeface="+mn-cs"/>
              </a:rPr>
              <a:t>enables</a:t>
            </a:r>
            <a:r>
              <a:rPr lang="en-US" sz="1200" b="0" i="0" kern="1200">
                <a:solidFill>
                  <a:schemeClr val="tx1"/>
                </a:solidFill>
                <a:effectLst/>
                <a:latin typeface="+mn-lt"/>
                <a:ea typeface="+mn-ea"/>
                <a:cs typeface="+mn-cs"/>
              </a:rPr>
              <a:t> the intrusion. The lie is the key.</a:t>
            </a:r>
          </a:p>
          <a:p>
            <a:r>
              <a:rPr lang="en-US" sz="1200" b="1" i="0" kern="1200">
                <a:solidFill>
                  <a:schemeClr val="tx1"/>
                </a:solidFill>
                <a:effectLst/>
                <a:latin typeface="+mn-lt"/>
                <a:ea typeface="+mn-ea"/>
                <a:cs typeface="+mn-cs"/>
              </a:rPr>
              <a:t>Examples:</a:t>
            </a:r>
            <a:r>
              <a:rPr lang="en-US" sz="1200" b="0" i="0" kern="1200">
                <a:solidFill>
                  <a:schemeClr val="tx1"/>
                </a:solidFill>
                <a:effectLst/>
                <a:latin typeface="+mn-lt"/>
                <a:ea typeface="+mn-ea"/>
                <a:cs typeface="+mn-cs"/>
              </a:rPr>
              <a:t> Vishing help desks, deepfake CFO fraud, spearphishing, fraudulent client impersonation</a:t>
            </a:r>
          </a:p>
          <a:p>
            <a:r>
              <a:rPr lang="en-US" sz="1200" b="0" i="0" kern="1200">
                <a:solidFill>
                  <a:schemeClr val="tx1"/>
                </a:solidFill>
                <a:effectLst/>
                <a:latin typeface="+mn-lt"/>
                <a:ea typeface="+mn-ea"/>
                <a:cs typeface="+mn-cs"/>
              </a:rPr>
              <a:t>⚡</a:t>
            </a:r>
          </a:p>
          <a:p>
            <a:r>
              <a:rPr lang="en-US" sz="1200" b="1" i="0" kern="1200">
                <a:solidFill>
                  <a:schemeClr val="tx1"/>
                </a:solidFill>
                <a:effectLst/>
                <a:latin typeface="+mn-lt"/>
                <a:ea typeface="+mn-ea"/>
                <a:cs typeface="+mn-cs"/>
              </a:rPr>
              <a:t>TYPE 3</a:t>
            </a:r>
          </a:p>
          <a:p>
            <a:r>
              <a:rPr lang="en-US" sz="1200" b="1" i="0" kern="1200">
                <a:solidFill>
                  <a:schemeClr val="tx1"/>
                </a:solidFill>
                <a:effectLst/>
                <a:latin typeface="+mn-lt"/>
                <a:ea typeface="+mn-ea"/>
                <a:cs typeface="+mn-cs"/>
              </a:rPr>
              <a:t>Parallel Operations</a:t>
            </a:r>
          </a:p>
          <a:p>
            <a:r>
              <a:rPr lang="en-US" sz="1200" b="0" i="0" kern="1200">
                <a:solidFill>
                  <a:schemeClr val="tx1"/>
                </a:solidFill>
                <a:effectLst/>
                <a:latin typeface="+mn-lt"/>
                <a:ea typeface="+mn-ea"/>
                <a:cs typeface="+mn-cs"/>
              </a:rPr>
              <a:t>Same actor runs cyber and influence tracks simultaneously but independently.</a:t>
            </a:r>
          </a:p>
          <a:p>
            <a:r>
              <a:rPr lang="en-US" sz="1200" b="1" i="0" kern="1200">
                <a:solidFill>
                  <a:schemeClr val="tx1"/>
                </a:solidFill>
                <a:effectLst/>
                <a:latin typeface="+mn-lt"/>
                <a:ea typeface="+mn-ea"/>
                <a:cs typeface="+mn-cs"/>
              </a:rPr>
              <a:t>Examples:</a:t>
            </a:r>
            <a:r>
              <a:rPr lang="en-US" sz="1200" b="0" i="0" kern="1200">
                <a:solidFill>
                  <a:schemeClr val="tx1"/>
                </a:solidFill>
                <a:effectLst/>
                <a:latin typeface="+mn-lt"/>
                <a:ea typeface="+mn-ea"/>
                <a:cs typeface="+mn-cs"/>
              </a:rPr>
              <a:t> PRC pressure on Taiwan; Russian election interference; Iran–Hamas operations</a:t>
            </a:r>
          </a:p>
          <a:p>
            <a:r>
              <a:rPr lang="en-US" sz="1200" b="0" i="0" kern="1200">
                <a:solidFill>
                  <a:schemeClr val="tx1"/>
                </a:solidFill>
                <a:effectLst/>
                <a:latin typeface="+mn-lt"/>
                <a:ea typeface="+mn-ea"/>
                <a:cs typeface="+mn-cs"/>
              </a:rPr>
              <a:t>EEAS 4th Annual FIMI Report (2025): increased hybridisation is one of the top three global FIMI trends</a:t>
            </a:r>
          </a:p>
          <a:p>
            <a:r>
              <a:rPr lang="en-US" sz="1200" b="0" i="0" kern="1200" cap="all">
                <a:solidFill>
                  <a:schemeClr val="tx1"/>
                </a:solidFill>
                <a:effectLst/>
                <a:latin typeface="+mn-lt"/>
                <a:ea typeface="+mn-ea"/>
                <a:cs typeface="+mn-cs"/>
              </a:rPr>
              <a:t>Attack Prevalence</a:t>
            </a:r>
          </a:p>
          <a:p>
            <a:r>
              <a:rPr lang="en-US" sz="1200" b="1" i="0" kern="1200">
                <a:solidFill>
                  <a:schemeClr val="tx1"/>
                </a:solidFill>
                <a:effectLst/>
                <a:latin typeface="+mn-lt"/>
                <a:ea typeface="+mn-ea"/>
                <a:cs typeface="+mn-cs"/>
              </a:rPr>
              <a:t>Most Prevalent Attack Types</a:t>
            </a:r>
          </a:p>
          <a:p>
            <a:r>
              <a:rPr lang="en-US" sz="1200" b="0" i="0" kern="1200">
                <a:solidFill>
                  <a:schemeClr val="tx1"/>
                </a:solidFill>
                <a:effectLst/>
                <a:latin typeface="+mn-lt"/>
                <a:ea typeface="+mn-ea"/>
                <a:cs typeface="+mn-cs"/>
              </a:rPr>
              <a:t>🔓</a:t>
            </a:r>
          </a:p>
          <a:p>
            <a:r>
              <a:rPr lang="en-US" sz="1200" b="1" i="0" kern="1200">
                <a:solidFill>
                  <a:schemeClr val="tx1"/>
                </a:solidFill>
                <a:effectLst/>
                <a:latin typeface="+mn-lt"/>
                <a:ea typeface="+mn-ea"/>
                <a:cs typeface="+mn-cs"/>
              </a:rPr>
              <a:t>STRICT DEFINITION</a:t>
            </a:r>
          </a:p>
          <a:p>
            <a:r>
              <a:rPr lang="en-US" sz="1200" b="0" i="1" kern="1200">
                <a:solidFill>
                  <a:schemeClr val="tx1"/>
                </a:solidFill>
                <a:effectLst/>
                <a:latin typeface="+mn-lt"/>
                <a:ea typeface="+mn-ea"/>
                <a:cs typeface="+mn-cs"/>
              </a:rPr>
              <a:t>Includes unauthorised intrusion</a:t>
            </a:r>
          </a:p>
          <a:p>
            <a:r>
              <a:rPr lang="en-US" sz="1200" b="1" i="0" kern="1200">
                <a:solidFill>
                  <a:schemeClr val="tx1"/>
                </a:solidFill>
                <a:effectLst/>
                <a:latin typeface="+mn-lt"/>
                <a:ea typeface="+mn-ea"/>
                <a:cs typeface="+mn-cs"/>
              </a:rPr>
              <a:t>Double-Extortion Ransomware (2f)</a:t>
            </a:r>
          </a:p>
          <a:p>
            <a:r>
              <a:rPr lang="en-US" sz="1200" b="0" i="0" kern="1200">
                <a:solidFill>
                  <a:schemeClr val="tx1"/>
                </a:solidFill>
                <a:effectLst/>
                <a:latin typeface="+mn-lt"/>
                <a:ea typeface="+mn-ea"/>
                <a:cs typeface="+mn-cs"/>
              </a:rPr>
              <a:t>Highest volume globally. Intrusion + leak-site psychological pressure. Every ransomware attack is a hybrid attack.</a:t>
            </a:r>
          </a:p>
          <a:p>
            <a:r>
              <a:rPr lang="en-US" sz="1200" b="1" i="0" kern="1200">
                <a:solidFill>
                  <a:schemeClr val="tx1"/>
                </a:solidFill>
                <a:effectLst/>
                <a:latin typeface="+mn-lt"/>
                <a:ea typeface="+mn-ea"/>
                <a:cs typeface="+mn-cs"/>
              </a:rPr>
              <a:t>Hack-and-Leak (1b)</a:t>
            </a:r>
          </a:p>
          <a:p>
            <a:r>
              <a:rPr lang="en-US" sz="1200" b="0" i="0" kern="1200">
                <a:solidFill>
                  <a:schemeClr val="tx1"/>
                </a:solidFill>
                <a:effectLst/>
                <a:latin typeface="+mn-lt"/>
                <a:ea typeface="+mn-ea"/>
                <a:cs typeface="+mn-cs"/>
              </a:rPr>
              <a:t>Lower frequency, highest strategic impact. Requires advanced actor. Election/geopolitical trigger.</a:t>
            </a:r>
          </a:p>
          <a:p>
            <a:r>
              <a:rPr lang="en-US" sz="1200" b="1" i="0" kern="1200">
                <a:solidFill>
                  <a:schemeClr val="tx1"/>
                </a:solidFill>
                <a:effectLst/>
                <a:latin typeface="+mn-lt"/>
                <a:ea typeface="+mn-ea"/>
                <a:cs typeface="+mn-cs"/>
              </a:rPr>
              <a:t>Defacement &amp; Signage Hacks (1f)</a:t>
            </a:r>
          </a:p>
          <a:p>
            <a:r>
              <a:rPr lang="en-US" sz="1200" b="0" i="0" kern="1200">
                <a:solidFill>
                  <a:schemeClr val="tx1"/>
                </a:solidFill>
                <a:effectLst/>
                <a:latin typeface="+mn-lt"/>
                <a:ea typeface="+mn-ea"/>
                <a:cs typeface="+mn-cs"/>
              </a:rPr>
              <a:t>Common in conflict and geopolitical crisis contexts. PRC vs Taiwan; Gaza war.</a:t>
            </a:r>
          </a:p>
          <a:p>
            <a:r>
              <a:rPr lang="en-US" sz="1200" b="1" i="0" kern="1200">
                <a:solidFill>
                  <a:schemeClr val="tx1"/>
                </a:solidFill>
                <a:effectLst/>
                <a:latin typeface="+mn-lt"/>
                <a:ea typeface="+mn-ea"/>
                <a:cs typeface="+mn-cs"/>
              </a:rPr>
              <a:t>Spearphishing + Deceptive Lure (2b)</a:t>
            </a:r>
          </a:p>
          <a:p>
            <a:r>
              <a:rPr lang="en-US" sz="1200" b="0" i="0" kern="1200">
                <a:solidFill>
                  <a:schemeClr val="tx1"/>
                </a:solidFill>
                <a:effectLst/>
                <a:latin typeface="+mn-lt"/>
                <a:ea typeface="+mn-ea"/>
                <a:cs typeface="+mn-cs"/>
              </a:rPr>
              <a:t>Precursor to &gt;80% of intrusion-based ops. War-themed, CEO-pretexting, fake login portals.</a:t>
            </a:r>
          </a:p>
          <a:p>
            <a:r>
              <a:rPr lang="en-US" sz="1200" b="0" i="0" kern="1200">
                <a:solidFill>
                  <a:schemeClr val="tx1"/>
                </a:solidFill>
                <a:effectLst/>
                <a:latin typeface="+mn-lt"/>
                <a:ea typeface="+mn-ea"/>
                <a:cs typeface="+mn-cs"/>
              </a:rPr>
              <a:t>📡</a:t>
            </a:r>
          </a:p>
          <a:p>
            <a:r>
              <a:rPr lang="en-US" sz="1200" b="1" i="0" kern="1200">
                <a:solidFill>
                  <a:schemeClr val="tx1"/>
                </a:solidFill>
                <a:effectLst/>
                <a:latin typeface="+mn-lt"/>
                <a:ea typeface="+mn-ea"/>
                <a:cs typeface="+mn-cs"/>
              </a:rPr>
              <a:t>BROAD DEFINITION</a:t>
            </a:r>
          </a:p>
          <a:p>
            <a:r>
              <a:rPr lang="en-US" sz="1200" b="0" i="1" kern="1200">
                <a:solidFill>
                  <a:schemeClr val="tx1"/>
                </a:solidFill>
                <a:effectLst/>
                <a:latin typeface="+mn-lt"/>
                <a:ea typeface="+mn-ea"/>
                <a:cs typeface="+mn-cs"/>
              </a:rPr>
              <a:t>No intrusion component</a:t>
            </a:r>
          </a:p>
          <a:p>
            <a:r>
              <a:rPr lang="en-US" sz="1200" b="1" i="0" kern="1200">
                <a:solidFill>
                  <a:schemeClr val="tx1"/>
                </a:solidFill>
                <a:effectLst/>
                <a:latin typeface="+mn-lt"/>
                <a:ea typeface="+mn-ea"/>
                <a:cs typeface="+mn-cs"/>
              </a:rPr>
              <a:t>CIB / Fake-Account Networks (1c)</a:t>
            </a:r>
          </a:p>
          <a:p>
            <a:r>
              <a:rPr lang="en-US" sz="1200" b="0" i="0" kern="1200">
                <a:solidFill>
                  <a:schemeClr val="tx1"/>
                </a:solidFill>
                <a:effectLst/>
                <a:latin typeface="+mn-lt"/>
                <a:ea typeface="+mn-ea"/>
                <a:cs typeface="+mn-cs"/>
              </a:rPr>
              <a:t>Dominant state-actor type globally. Russia (IRA/Wagner), China (Spamouflage), Iran, commercial contractors (Team Jorge).</a:t>
            </a:r>
          </a:p>
          <a:p>
            <a:r>
              <a:rPr lang="en-US" sz="1200" b="1" i="0" kern="1200">
                <a:solidFill>
                  <a:schemeClr val="tx1"/>
                </a:solidFill>
                <a:effectLst/>
                <a:latin typeface="+mn-lt"/>
                <a:ea typeface="+mn-ea"/>
                <a:cs typeface="+mn-cs"/>
              </a:rPr>
              <a:t>Deepfake / Impersonation Fraud (2c)</a:t>
            </a:r>
          </a:p>
          <a:p>
            <a:r>
              <a:rPr lang="en-US" sz="1200" b="0" i="0" kern="1200">
                <a:solidFill>
                  <a:schemeClr val="tx1"/>
                </a:solidFill>
                <a:effectLst/>
                <a:latin typeface="+mn-lt"/>
                <a:ea typeface="+mn-ea"/>
                <a:cs typeface="+mn-cs"/>
              </a:rPr>
              <a:t>Fastest-growing. Arup: $25.6M via live deepfake video. No system intrusion needed.</a:t>
            </a:r>
          </a:p>
          <a:p>
            <a:r>
              <a:rPr lang="en-US" sz="1200" b="1" i="0" kern="1200">
                <a:solidFill>
                  <a:schemeClr val="tx1"/>
                </a:solidFill>
                <a:effectLst/>
                <a:latin typeface="+mn-lt"/>
                <a:ea typeface="+mn-ea"/>
                <a:cs typeface="+mn-cs"/>
              </a:rPr>
              <a:t>DDoS-as-Political-Signal (1a/1g)</a:t>
            </a:r>
          </a:p>
          <a:p>
            <a:r>
              <a:rPr lang="en-US" sz="1200" b="0" i="0" kern="1200">
                <a:solidFill>
                  <a:schemeClr val="tx1"/>
                </a:solidFill>
                <a:effectLst/>
                <a:latin typeface="+mn-lt"/>
                <a:ea typeface="+mn-ea"/>
                <a:cs typeface="+mn-cs"/>
              </a:rPr>
              <a:t>NoName057(16): 2,000+ attacks 2022–25 against NATO targets. Each attack is a Telegram press release.</a:t>
            </a:r>
          </a:p>
          <a:p>
            <a:r>
              <a:rPr lang="en-US" sz="1200" b="1" i="0" kern="1200">
                <a:solidFill>
                  <a:schemeClr val="tx1"/>
                </a:solidFill>
                <a:effectLst/>
                <a:latin typeface="+mn-lt"/>
                <a:ea typeface="+mn-ea"/>
                <a:cs typeface="+mn-cs"/>
              </a:rPr>
              <a:t>Vishing / Social Engineering (2b/2c)</a:t>
            </a:r>
          </a:p>
          <a:p>
            <a:r>
              <a:rPr lang="en-US" sz="1200" b="0" i="0" kern="1200">
                <a:solidFill>
                  <a:schemeClr val="tx1"/>
                </a:solidFill>
                <a:effectLst/>
                <a:latin typeface="+mn-lt"/>
                <a:ea typeface="+mn-ea"/>
                <a:cs typeface="+mn-cs"/>
              </a:rPr>
              <a:t>MGM: one help-desk call defeated MFA + Okta. $100M losses. AI voice cloning removes language barriers.</a:t>
            </a:r>
          </a:p>
          <a:p>
            <a:r>
              <a:rPr lang="en-US" sz="1200" b="0" i="0" kern="1200" cap="all">
                <a:solidFill>
                  <a:schemeClr val="tx1"/>
                </a:solidFill>
                <a:effectLst/>
                <a:latin typeface="+mn-lt"/>
                <a:ea typeface="+mn-ea"/>
                <a:cs typeface="+mn-cs"/>
              </a:rPr>
              <a:t>When &amp; Why</a:t>
            </a:r>
          </a:p>
          <a:p>
            <a:r>
              <a:rPr lang="en-US" sz="1200" b="1" i="0" kern="1200">
                <a:solidFill>
                  <a:schemeClr val="tx1"/>
                </a:solidFill>
                <a:effectLst/>
                <a:latin typeface="+mn-lt"/>
                <a:ea typeface="+mn-ea"/>
                <a:cs typeface="+mn-cs"/>
              </a:rPr>
              <a:t>Trigger Conditions: When Each Attack Type Emerges</a:t>
            </a:r>
          </a:p>
          <a:p>
            <a:r>
              <a:rPr lang="en-US" sz="1200" b="1" i="0" kern="1200">
                <a:solidFill>
                  <a:schemeClr val="tx1"/>
                </a:solidFill>
                <a:effectLst/>
                <a:latin typeface="+mn-lt"/>
                <a:ea typeface="+mn-ea"/>
                <a:cs typeface="+mn-cs"/>
              </a:rPr>
              <a:t>🗳️ Hack-and-Leak (1b)</a:t>
            </a:r>
          </a:p>
          <a:p>
            <a:r>
              <a:rPr lang="en-US" sz="1200" b="0" i="0" kern="1200">
                <a:solidFill>
                  <a:schemeClr val="tx1"/>
                </a:solidFill>
                <a:effectLst/>
                <a:latin typeface="+mn-lt"/>
                <a:ea typeface="+mn-ea"/>
                <a:cs typeface="+mn-cs"/>
              </a:rPr>
              <a:t>Electoral contests with high stakes (presidential, EU-level)</a:t>
            </a:r>
          </a:p>
          <a:p>
            <a:r>
              <a:rPr lang="en-US" sz="1200" b="0" i="0" kern="1200">
                <a:solidFill>
                  <a:schemeClr val="tx1"/>
                </a:solidFill>
                <a:effectLst/>
                <a:latin typeface="+mn-lt"/>
                <a:ea typeface="+mn-ea"/>
                <a:cs typeface="+mn-cs"/>
              </a:rPr>
              <a:t>Opposition figure or campaign as target</a:t>
            </a:r>
          </a:p>
          <a:p>
            <a:r>
              <a:rPr lang="en-US" sz="1200" b="0" i="0" kern="1200">
                <a:solidFill>
                  <a:schemeClr val="tx1"/>
                </a:solidFill>
                <a:effectLst/>
                <a:latin typeface="+mn-lt"/>
                <a:ea typeface="+mn-ea"/>
                <a:cs typeface="+mn-cs"/>
              </a:rPr>
              <a:t>State actor with months of pre-positioning</a:t>
            </a:r>
          </a:p>
          <a:p>
            <a:r>
              <a:rPr lang="en-US" sz="1200" b="0" i="0" kern="1200">
                <a:solidFill>
                  <a:schemeClr val="tx1"/>
                </a:solidFill>
                <a:effectLst/>
                <a:latin typeface="+mn-lt"/>
                <a:ea typeface="+mn-ea"/>
                <a:cs typeface="+mn-cs"/>
              </a:rPr>
              <a:t>Media ecosystem ready to amplify</a:t>
            </a:r>
          </a:p>
          <a:p>
            <a:r>
              <a:rPr lang="en-US" sz="1200" b="1" i="0" kern="1200">
                <a:solidFill>
                  <a:schemeClr val="tx1"/>
                </a:solidFill>
                <a:effectLst/>
                <a:latin typeface="+mn-lt"/>
                <a:ea typeface="+mn-ea"/>
                <a:cs typeface="+mn-cs"/>
              </a:rPr>
              <a:t>💰 Ransomware / Double-Extortion (2f)</a:t>
            </a:r>
          </a:p>
          <a:p>
            <a:r>
              <a:rPr lang="en-US" sz="1200" b="0" i="0" kern="1200">
                <a:solidFill>
                  <a:schemeClr val="tx1"/>
                </a:solidFill>
                <a:effectLst/>
                <a:latin typeface="+mn-lt"/>
                <a:ea typeface="+mn-ea"/>
                <a:cs typeface="+mn-cs"/>
              </a:rPr>
              <a:t>Exposed remote access (RDP, VPN, Citrix) with weak credentials</a:t>
            </a:r>
          </a:p>
          <a:p>
            <a:r>
              <a:rPr lang="en-US" sz="1200" b="0" i="0" kern="1200">
                <a:solidFill>
                  <a:schemeClr val="tx1"/>
                </a:solidFill>
                <a:effectLst/>
                <a:latin typeface="+mn-lt"/>
                <a:ea typeface="+mn-ea"/>
                <a:cs typeface="+mn-cs"/>
              </a:rPr>
              <a:t>Absence of MFA on internet-facing systems</a:t>
            </a:r>
          </a:p>
          <a:p>
            <a:r>
              <a:rPr lang="en-US" sz="1200" b="0" i="0" kern="1200">
                <a:solidFill>
                  <a:schemeClr val="tx1"/>
                </a:solidFill>
                <a:effectLst/>
                <a:latin typeface="+mn-lt"/>
                <a:ea typeface="+mn-ea"/>
                <a:cs typeface="+mn-cs"/>
              </a:rPr>
              <a:t>High-value data (credit records, health data, passenger PII)</a:t>
            </a:r>
          </a:p>
          <a:p>
            <a:r>
              <a:rPr lang="en-US" sz="1200" b="0" i="0" kern="1200">
                <a:solidFill>
                  <a:schemeClr val="tx1"/>
                </a:solidFill>
                <a:effectLst/>
                <a:latin typeface="+mn-lt"/>
                <a:ea typeface="+mn-ea"/>
                <a:cs typeface="+mn-cs"/>
              </a:rPr>
              <a:t>Organisation reliant on continuous operations (ports, hospitals, food production)</a:t>
            </a:r>
          </a:p>
          <a:p>
            <a:r>
              <a:rPr lang="en-US" sz="1200" b="1" i="0" kern="1200">
                <a:solidFill>
                  <a:schemeClr val="tx1"/>
                </a:solidFill>
                <a:effectLst/>
                <a:latin typeface="+mn-lt"/>
                <a:ea typeface="+mn-ea"/>
                <a:cs typeface="+mn-cs"/>
              </a:rPr>
              <a:t>📣 CIB / Fake Networks (1c)</a:t>
            </a:r>
          </a:p>
          <a:p>
            <a:r>
              <a:rPr lang="en-US" sz="1200" b="0" i="0" kern="1200">
                <a:solidFill>
                  <a:schemeClr val="tx1"/>
                </a:solidFill>
                <a:effectLst/>
                <a:latin typeface="+mn-lt"/>
                <a:ea typeface="+mn-ea"/>
                <a:cs typeface="+mn-cs"/>
              </a:rPr>
              <a:t>Election periods (6-month window) — but now ongoing</a:t>
            </a:r>
          </a:p>
          <a:p>
            <a:r>
              <a:rPr lang="en-US" sz="1200" b="0" i="0" kern="1200">
                <a:solidFill>
                  <a:schemeClr val="tx1"/>
                </a:solidFill>
                <a:effectLst/>
                <a:latin typeface="+mn-lt"/>
                <a:ea typeface="+mn-ea"/>
                <a:cs typeface="+mn-cs"/>
              </a:rPr>
              <a:t>Geopolitical contest for legitimacy (Sahel; BRICS)</a:t>
            </a:r>
          </a:p>
          <a:p>
            <a:r>
              <a:rPr lang="en-US" sz="1200" b="0" i="0" kern="1200">
                <a:solidFill>
                  <a:schemeClr val="tx1"/>
                </a:solidFill>
                <a:effectLst/>
                <a:latin typeface="+mn-lt"/>
                <a:ea typeface="+mn-ea"/>
                <a:cs typeface="+mn-cs"/>
              </a:rPr>
              <a:t>Weak local platform moderation in target language</a:t>
            </a:r>
          </a:p>
          <a:p>
            <a:r>
              <a:rPr lang="en-US" sz="1200" b="0" i="0" kern="1200">
                <a:solidFill>
                  <a:schemeClr val="tx1"/>
                </a:solidFill>
                <a:effectLst/>
                <a:latin typeface="+mn-lt"/>
                <a:ea typeface="+mn-ea"/>
                <a:cs typeface="+mn-cs"/>
              </a:rPr>
              <a:t>WhatsApp / closed-chain ecosystems with no fact-checking</a:t>
            </a:r>
          </a:p>
          <a:p>
            <a:r>
              <a:rPr lang="en-US" sz="1200" b="1" i="0" kern="1200">
                <a:solidFill>
                  <a:schemeClr val="tx1"/>
                </a:solidFill>
                <a:effectLst/>
                <a:latin typeface="+mn-lt"/>
                <a:ea typeface="+mn-ea"/>
                <a:cs typeface="+mn-cs"/>
              </a:rPr>
              <a:t>🤖 Deepfake / Vishing (2b/2c)</a:t>
            </a:r>
          </a:p>
          <a:p>
            <a:r>
              <a:rPr lang="en-US" sz="1200" b="0" i="0" kern="1200">
                <a:solidFill>
                  <a:schemeClr val="tx1"/>
                </a:solidFill>
                <a:effectLst/>
                <a:latin typeface="+mn-lt"/>
                <a:ea typeface="+mn-ea"/>
                <a:cs typeface="+mn-cs"/>
              </a:rPr>
              <a:t>Large wire-transfer authorisation workflows</a:t>
            </a:r>
          </a:p>
          <a:p>
            <a:r>
              <a:rPr lang="en-US" sz="1200" b="0" i="0" kern="1200">
                <a:solidFill>
                  <a:schemeClr val="tx1"/>
                </a:solidFill>
                <a:effectLst/>
                <a:latin typeface="+mn-lt"/>
                <a:ea typeface="+mn-ea"/>
                <a:cs typeface="+mn-cs"/>
              </a:rPr>
              <a:t>Remote-work environments (reduced in-person verification)</a:t>
            </a:r>
          </a:p>
          <a:p>
            <a:r>
              <a:rPr lang="en-US" sz="1200" b="0" i="0" kern="1200">
                <a:solidFill>
                  <a:schemeClr val="tx1"/>
                </a:solidFill>
                <a:effectLst/>
                <a:latin typeface="+mn-lt"/>
                <a:ea typeface="+mn-ea"/>
                <a:cs typeface="+mn-cs"/>
              </a:rPr>
              <a:t>Publicly available executive footage (LinkedIn, earnings calls)</a:t>
            </a:r>
          </a:p>
          <a:p>
            <a:r>
              <a:rPr lang="en-US" sz="1200" b="0" i="0" kern="1200">
                <a:solidFill>
                  <a:schemeClr val="tx1"/>
                </a:solidFill>
                <a:effectLst/>
                <a:latin typeface="+mn-lt"/>
                <a:ea typeface="+mn-ea"/>
                <a:cs typeface="+mn-cs"/>
              </a:rPr>
              <a:t>No out-of-band verification protocol in place</a:t>
            </a:r>
          </a:p>
          <a:p>
            <a:r>
              <a:rPr lang="en-US" sz="1200" b="0" i="0" kern="1200">
                <a:solidFill>
                  <a:schemeClr val="tx1"/>
                </a:solidFill>
                <a:effectLst/>
                <a:latin typeface="+mn-lt"/>
                <a:ea typeface="+mn-ea"/>
                <a:cs typeface="+mn-cs"/>
              </a:rPr>
              <a:t>AI is decoupling CIB operations from election calendars — continuous multi-language influence is now possible year-round</a:t>
            </a:r>
          </a:p>
          <a:p>
            <a:r>
              <a:rPr lang="en-US" sz="1200" b="0" i="0" kern="1200" cap="all">
                <a:solidFill>
                  <a:schemeClr val="tx1"/>
                </a:solidFill>
                <a:effectLst/>
                <a:latin typeface="+mn-lt"/>
                <a:ea typeface="+mn-ea"/>
                <a:cs typeface="+mn-cs"/>
              </a:rPr>
              <a:t>Who Does This?</a:t>
            </a:r>
          </a:p>
          <a:p>
            <a:r>
              <a:rPr lang="en-US" sz="1200" b="1" i="0" kern="1200">
                <a:solidFill>
                  <a:schemeClr val="tx1"/>
                </a:solidFill>
                <a:effectLst/>
                <a:latin typeface="+mn-lt"/>
                <a:ea typeface="+mn-ea"/>
                <a:cs typeface="+mn-cs"/>
              </a:rPr>
              <a:t>Five Classes of Protagonist — Global</a:t>
            </a:r>
          </a:p>
          <a:p>
            <a:r>
              <a:rPr lang="en-US" sz="1200" b="0" i="0" kern="1200">
                <a:solidFill>
                  <a:schemeClr val="tx1"/>
                </a:solidFill>
                <a:effectLst/>
                <a:latin typeface="+mn-lt"/>
                <a:ea typeface="+mn-ea"/>
                <a:cs typeface="+mn-cs"/>
              </a:rPr>
              <a:t>🏛️</a:t>
            </a:r>
          </a:p>
          <a:p>
            <a:r>
              <a:rPr lang="en-US" sz="1200" b="1" i="0" kern="1200" cap="all">
                <a:solidFill>
                  <a:schemeClr val="tx1"/>
                </a:solidFill>
                <a:effectLst/>
                <a:latin typeface="+mn-lt"/>
                <a:ea typeface="+mn-ea"/>
                <a:cs typeface="+mn-cs"/>
              </a:rPr>
              <a:t>State Agencies</a:t>
            </a:r>
          </a:p>
          <a:p>
            <a:r>
              <a:rPr lang="en-US" sz="1200" b="0" i="0" kern="1200">
                <a:solidFill>
                  <a:schemeClr val="tx1"/>
                </a:solidFill>
                <a:effectLst/>
                <a:latin typeface="+mn-lt"/>
                <a:ea typeface="+mn-ea"/>
                <a:cs typeface="+mn-cs"/>
              </a:rPr>
              <a:t>GRU · SVR · IRGC</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PLA-SSF · NSA</a:t>
            </a:r>
          </a:p>
          <a:p>
            <a:r>
              <a:rPr lang="en-US" sz="1200" b="0" i="0" kern="1200">
                <a:solidFill>
                  <a:schemeClr val="tx1"/>
                </a:solidFill>
                <a:effectLst/>
                <a:latin typeface="+mn-lt"/>
                <a:ea typeface="+mn-ea"/>
                <a:cs typeface="+mn-cs"/>
              </a:rPr>
              <a:t>🕵️</a:t>
            </a:r>
          </a:p>
          <a:p>
            <a:r>
              <a:rPr lang="en-US" sz="1200" b="1" i="0" kern="1200" cap="all">
                <a:solidFill>
                  <a:schemeClr val="tx1"/>
                </a:solidFill>
                <a:effectLst/>
                <a:latin typeface="+mn-lt"/>
                <a:ea typeface="+mn-ea"/>
                <a:cs typeface="+mn-cs"/>
              </a:rPr>
              <a:t>State-Linked APTs</a:t>
            </a:r>
          </a:p>
          <a:p>
            <a:r>
              <a:rPr lang="en-US" sz="1200" b="0" i="0" kern="1200">
                <a:solidFill>
                  <a:schemeClr val="tx1"/>
                </a:solidFill>
                <a:effectLst/>
                <a:latin typeface="+mn-lt"/>
                <a:ea typeface="+mn-ea"/>
                <a:cs typeface="+mn-cs"/>
              </a:rPr>
              <a:t>APT28 · APT29</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Gamaredon · Lazarus</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APT41</a:t>
            </a:r>
          </a:p>
          <a:p>
            <a:r>
              <a:rPr lang="en-US" sz="1200" b="0" i="0" kern="1200">
                <a:solidFill>
                  <a:schemeClr val="tx1"/>
                </a:solidFill>
                <a:effectLst/>
                <a:latin typeface="+mn-lt"/>
                <a:ea typeface="+mn-ea"/>
                <a:cs typeface="+mn-cs"/>
              </a:rPr>
              <a:t>🎪</a:t>
            </a:r>
          </a:p>
          <a:p>
            <a:r>
              <a:rPr lang="en-US" sz="1200" b="1" i="0" kern="1200" cap="all">
                <a:solidFill>
                  <a:schemeClr val="tx1"/>
                </a:solidFill>
                <a:effectLst/>
                <a:latin typeface="+mn-lt"/>
                <a:ea typeface="+mn-ea"/>
                <a:cs typeface="+mn-cs"/>
              </a:rPr>
              <a:t>Proxies / Contractors</a:t>
            </a:r>
          </a:p>
          <a:p>
            <a:r>
              <a:rPr lang="en-US" sz="1200" b="0" i="0" kern="1200">
                <a:solidFill>
                  <a:schemeClr val="tx1"/>
                </a:solidFill>
                <a:effectLst/>
                <a:latin typeface="+mn-lt"/>
                <a:ea typeface="+mn-ea"/>
                <a:cs typeface="+mn-cs"/>
              </a:rPr>
              <a:t>Wagner/IRA</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Team Jorge</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Archimedes Group</a:t>
            </a:r>
          </a:p>
          <a:p>
            <a:r>
              <a:rPr lang="en-US" sz="1200" b="0" i="0" kern="1200">
                <a:solidFill>
                  <a:schemeClr val="tx1"/>
                </a:solidFill>
                <a:effectLst/>
                <a:latin typeface="+mn-lt"/>
                <a:ea typeface="+mn-ea"/>
                <a:cs typeface="+mn-cs"/>
              </a:rPr>
              <a:t>⚡</a:t>
            </a:r>
          </a:p>
          <a:p>
            <a:r>
              <a:rPr lang="en-US" sz="1200" b="1" i="0" kern="1200" cap="all">
                <a:solidFill>
                  <a:schemeClr val="tx1"/>
                </a:solidFill>
                <a:effectLst/>
                <a:latin typeface="+mn-lt"/>
                <a:ea typeface="+mn-ea"/>
                <a:cs typeface="+mn-cs"/>
              </a:rPr>
              <a:t>Patriotic Hacktivists</a:t>
            </a:r>
          </a:p>
          <a:p>
            <a:r>
              <a:rPr lang="en-US" sz="1200" b="0" i="0" kern="1200">
                <a:solidFill>
                  <a:schemeClr val="tx1"/>
                </a:solidFill>
                <a:effectLst/>
                <a:latin typeface="+mn-lt"/>
                <a:ea typeface="+mn-ea"/>
                <a:cs typeface="+mn-cs"/>
              </a:rPr>
              <a:t>NoName057(16)</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Ukrainian IT Army</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Killnet · Sudan</a:t>
            </a:r>
          </a:p>
          <a:p>
            <a:r>
              <a:rPr lang="en-US" sz="1200" b="0" i="0" kern="1200">
                <a:solidFill>
                  <a:schemeClr val="tx1"/>
                </a:solidFill>
                <a:effectLst/>
                <a:latin typeface="+mn-lt"/>
                <a:ea typeface="+mn-ea"/>
                <a:cs typeface="+mn-cs"/>
              </a:rPr>
              <a:t>💰</a:t>
            </a:r>
          </a:p>
          <a:p>
            <a:r>
              <a:rPr lang="en-US" sz="1200" b="1" i="0" kern="1200" cap="all">
                <a:solidFill>
                  <a:schemeClr val="tx1"/>
                </a:solidFill>
                <a:effectLst/>
                <a:latin typeface="+mn-lt"/>
                <a:ea typeface="+mn-ea"/>
                <a:cs typeface="+mn-cs"/>
              </a:rPr>
              <a:t>Criminal Groups</a:t>
            </a:r>
          </a:p>
          <a:p>
            <a:r>
              <a:rPr lang="en-US" sz="1200" b="0" i="0" kern="1200">
                <a:solidFill>
                  <a:schemeClr val="tx1"/>
                </a:solidFill>
                <a:effectLst/>
                <a:latin typeface="+mn-lt"/>
                <a:ea typeface="+mn-ea"/>
                <a:cs typeface="+mn-cs"/>
              </a:rPr>
              <a:t>REvil · ALPHV</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RansomHub</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Scattered Spider</a:t>
            </a:r>
          </a:p>
          <a:p>
            <a:r>
              <a:rPr lang="en-US" sz="1200" b="1" i="0" kern="1200">
                <a:solidFill>
                  <a:schemeClr val="tx1"/>
                </a:solidFill>
                <a:effectLst/>
                <a:latin typeface="+mn-lt"/>
                <a:ea typeface="+mn-ea"/>
                <a:cs typeface="+mn-cs"/>
              </a:rPr>
              <a:t>Key convergence trend (EEAS 2025):</a:t>
            </a:r>
            <a:r>
              <a:rPr lang="en-US" sz="1200" b="0" i="0" kern="1200">
                <a:solidFill>
                  <a:schemeClr val="tx1"/>
                </a:solidFill>
                <a:effectLst/>
                <a:latin typeface="+mn-lt"/>
                <a:ea typeface="+mn-ea"/>
                <a:cs typeface="+mn-cs"/>
              </a:rPr>
              <a:t> State, proxy, hacktivist, and criminal lines are dissolving. RaaS affiliates provide plausible deniability; commercial contractors offer election-interference-as-a-service; patriotic hacktivists are co-opted by intelligence agencies.</a:t>
            </a:r>
          </a:p>
          <a:p>
            <a:r>
              <a:rPr lang="en-US" sz="1200" b="0" i="0" kern="1200" cap="all">
                <a:solidFill>
                  <a:schemeClr val="tx1"/>
                </a:solidFill>
                <a:effectLst/>
                <a:latin typeface="+mn-lt"/>
                <a:ea typeface="+mn-ea"/>
                <a:cs typeface="+mn-cs"/>
              </a:rPr>
              <a:t>Global Landmarks</a:t>
            </a:r>
          </a:p>
          <a:p>
            <a:r>
              <a:rPr lang="en-US" sz="1200" b="1" i="0" kern="1200">
                <a:solidFill>
                  <a:schemeClr val="tx1"/>
                </a:solidFill>
                <a:effectLst/>
                <a:latin typeface="+mn-lt"/>
                <a:ea typeface="+mn-ea"/>
                <a:cs typeface="+mn-cs"/>
              </a:rPr>
              <a:t>Four Cases That Changed the Playbook</a:t>
            </a:r>
          </a:p>
          <a:p>
            <a:r>
              <a:rPr lang="en-US" sz="1200" b="0" i="0" kern="1200">
                <a:solidFill>
                  <a:schemeClr val="tx1"/>
                </a:solidFill>
                <a:effectLst/>
                <a:latin typeface="+mn-lt"/>
                <a:ea typeface="+mn-ea"/>
                <a:cs typeface="+mn-cs"/>
              </a:rPr>
              <a:t>🗳️</a:t>
            </a:r>
            <a:r>
              <a:rPr lang="en-US" sz="1200" b="1" i="0" kern="1200">
                <a:solidFill>
                  <a:schemeClr val="tx1"/>
                </a:solidFill>
                <a:effectLst/>
                <a:latin typeface="+mn-lt"/>
                <a:ea typeface="+mn-ea"/>
                <a:cs typeface="+mn-cs"/>
              </a:rPr>
              <a:t>DNC Hack-and-Leak · 2016</a:t>
            </a:r>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APT28 (GRU) spearphished Podesta → 50,000 emails → WikiLeaks/DCLeaks → election disruption. </a:t>
            </a:r>
            <a:r>
              <a:rPr lang="en-US" sz="1200" b="1" i="0" kern="1200">
                <a:solidFill>
                  <a:schemeClr val="tx1"/>
                </a:solidFill>
                <a:effectLst/>
                <a:latin typeface="+mn-lt"/>
                <a:ea typeface="+mn-ea"/>
                <a:cs typeface="+mn-cs"/>
              </a:rPr>
              <a:t>Type 1 textbook.</a:t>
            </a:r>
            <a:r>
              <a:rPr lang="en-US" sz="1200" b="0" i="0" kern="1200">
                <a:solidFill>
                  <a:schemeClr val="tx1"/>
                </a:solidFill>
                <a:effectLst/>
                <a:latin typeface="+mn-lt"/>
                <a:ea typeface="+mn-ea"/>
                <a:cs typeface="+mn-cs"/>
              </a:rPr>
              <a:t> 12 GRU officers indicted by Mueller.</a:t>
            </a:r>
          </a:p>
          <a:p>
            <a:r>
              <a:rPr lang="en-US" sz="1200" b="0" i="0" kern="1200">
                <a:solidFill>
                  <a:schemeClr val="tx1"/>
                </a:solidFill>
                <a:effectLst/>
                <a:latin typeface="+mn-lt"/>
                <a:ea typeface="+mn-ea"/>
                <a:cs typeface="+mn-cs"/>
              </a:rPr>
              <a:t>🎬</a:t>
            </a:r>
            <a:r>
              <a:rPr lang="en-US" sz="1200" b="1" i="0" kern="1200">
                <a:solidFill>
                  <a:schemeClr val="tx1"/>
                </a:solidFill>
                <a:effectLst/>
                <a:latin typeface="+mn-lt"/>
                <a:ea typeface="+mn-ea"/>
                <a:cs typeface="+mn-cs"/>
              </a:rPr>
              <a:t>Sony Pictures · 2014</a:t>
            </a:r>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North Korea-linked GOP: months of access → wiper → 100TB leak → coercive threats → Sony pulled </a:t>
            </a:r>
            <a:r>
              <a:rPr lang="en-US" sz="1200" b="0" i="1" kern="1200">
                <a:solidFill>
                  <a:schemeClr val="tx1"/>
                </a:solidFill>
                <a:effectLst/>
                <a:latin typeface="+mn-lt"/>
                <a:ea typeface="+mn-ea"/>
                <a:cs typeface="+mn-cs"/>
              </a:rPr>
              <a:t>The Interview</a:t>
            </a:r>
            <a:r>
              <a:rPr lang="en-US" sz="1200" b="0" i="0" kern="1200">
                <a:solidFill>
                  <a:schemeClr val="tx1"/>
                </a:solidFill>
                <a:effectLst/>
                <a:latin typeface="+mn-lt"/>
                <a:ea typeface="+mn-ea"/>
                <a:cs typeface="+mn-cs"/>
              </a:rPr>
              <a:t>. </a:t>
            </a:r>
            <a:r>
              <a:rPr lang="en-US" sz="1200" b="1" i="0" kern="1200">
                <a:solidFill>
                  <a:schemeClr val="tx1"/>
                </a:solidFill>
                <a:effectLst/>
                <a:latin typeface="+mn-lt"/>
                <a:ea typeface="+mn-ea"/>
                <a:cs typeface="+mn-cs"/>
              </a:rPr>
              <a:t>Hack + destroy + coerce.</a:t>
            </a:r>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a:t>
            </a:r>
            <a:r>
              <a:rPr lang="en-US" sz="1200" b="1" i="0" kern="1200">
                <a:solidFill>
                  <a:schemeClr val="tx1"/>
                </a:solidFill>
                <a:effectLst/>
                <a:latin typeface="+mn-lt"/>
                <a:ea typeface="+mn-ea"/>
                <a:cs typeface="+mn-cs"/>
              </a:rPr>
              <a:t>MGM Resorts · 2023</a:t>
            </a:r>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Scattered Spider: 10-min LinkedIn recon → vishing help desk → Okta SSO → ALPHV ransomware → </a:t>
            </a:r>
            <a:r>
              <a:rPr lang="en-US" sz="1200" b="1" i="0" kern="1200">
                <a:solidFill>
                  <a:schemeClr val="tx1"/>
                </a:solidFill>
                <a:effectLst/>
                <a:latin typeface="+mn-lt"/>
                <a:ea typeface="+mn-ea"/>
                <a:cs typeface="+mn-cs"/>
              </a:rPr>
              <a:t>~$100M losses.</a:t>
            </a:r>
            <a:r>
              <a:rPr lang="en-US" sz="1200" b="0" i="0" kern="1200">
                <a:solidFill>
                  <a:schemeClr val="tx1"/>
                </a:solidFill>
                <a:effectLst/>
                <a:latin typeface="+mn-lt"/>
                <a:ea typeface="+mn-ea"/>
                <a:cs typeface="+mn-cs"/>
              </a:rPr>
              <a:t> One call defeated MFA.</a:t>
            </a:r>
          </a:p>
          <a:p>
            <a:r>
              <a:rPr lang="en-US" sz="1200" b="0" i="0" kern="1200">
                <a:solidFill>
                  <a:schemeClr val="tx1"/>
                </a:solidFill>
                <a:effectLst/>
                <a:latin typeface="+mn-lt"/>
                <a:ea typeface="+mn-ea"/>
                <a:cs typeface="+mn-cs"/>
              </a:rPr>
              <a:t>🤖</a:t>
            </a:r>
            <a:r>
              <a:rPr lang="en-US" sz="1200" b="1" i="0" kern="1200">
                <a:solidFill>
                  <a:schemeClr val="tx1"/>
                </a:solidFill>
                <a:effectLst/>
                <a:latin typeface="+mn-lt"/>
                <a:ea typeface="+mn-ea"/>
                <a:cs typeface="+mn-cs"/>
              </a:rPr>
              <a:t>Arup Deepfake · 2024</a:t>
            </a:r>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AI deepfake CFO video call → 15 wire transfers → </a:t>
            </a:r>
            <a:r>
              <a:rPr lang="en-US" sz="1200" b="1" i="0" kern="1200">
                <a:solidFill>
                  <a:schemeClr val="tx1"/>
                </a:solidFill>
                <a:effectLst/>
                <a:latin typeface="+mn-lt"/>
                <a:ea typeface="+mn-ea"/>
                <a:cs typeface="+mn-cs"/>
              </a:rPr>
              <a:t>$25.6M stolen.</a:t>
            </a:r>
            <a:r>
              <a:rPr lang="en-US" sz="1200" b="0" i="0" kern="1200">
                <a:solidFill>
                  <a:schemeClr val="tx1"/>
                </a:solidFill>
                <a:effectLst/>
                <a:latin typeface="+mn-lt"/>
                <a:ea typeface="+mn-ea"/>
                <a:cs typeface="+mn-cs"/>
              </a:rPr>
              <a:t> Zero system intrusion. The deception </a:t>
            </a:r>
            <a:r>
              <a:rPr lang="en-US" sz="1200" b="0" i="1" kern="1200">
                <a:solidFill>
                  <a:schemeClr val="tx1"/>
                </a:solidFill>
                <a:effectLst/>
                <a:latin typeface="+mn-lt"/>
                <a:ea typeface="+mn-ea"/>
                <a:cs typeface="+mn-cs"/>
              </a:rPr>
              <a:t>was</a:t>
            </a:r>
            <a:r>
              <a:rPr lang="en-US" sz="1200" b="0" i="0" kern="1200">
                <a:solidFill>
                  <a:schemeClr val="tx1"/>
                </a:solidFill>
                <a:effectLst/>
                <a:latin typeface="+mn-lt"/>
                <a:ea typeface="+mn-ea"/>
                <a:cs typeface="+mn-cs"/>
              </a:rPr>
              <a:t> the attack. "I saw them on camera."</a:t>
            </a:r>
          </a:p>
          <a:p>
            <a:r>
              <a:rPr lang="en-US" sz="1200" b="0" i="0" kern="1200" cap="all">
                <a:solidFill>
                  <a:schemeClr val="tx1"/>
                </a:solidFill>
                <a:effectLst/>
                <a:latin typeface="+mn-lt"/>
                <a:ea typeface="+mn-ea"/>
                <a:cs typeface="+mn-cs"/>
              </a:rPr>
              <a:t>Why Now?</a:t>
            </a:r>
          </a:p>
          <a:p>
            <a:r>
              <a:rPr lang="en-US" sz="1200" b="1" i="0" kern="1200">
                <a:solidFill>
                  <a:schemeClr val="tx1"/>
                </a:solidFill>
                <a:effectLst/>
                <a:latin typeface="+mn-lt"/>
                <a:ea typeface="+mn-ea"/>
                <a:cs typeface="+mn-cs"/>
              </a:rPr>
              <a:t>Drivers Behind Hybridisation — Global</a:t>
            </a:r>
          </a:p>
          <a:p>
            <a:r>
              <a:rPr lang="en-US" sz="1200" b="0" i="0" kern="1200">
                <a:solidFill>
                  <a:schemeClr val="tx1"/>
                </a:solidFill>
                <a:effectLst/>
                <a:latin typeface="+mn-lt"/>
                <a:ea typeface="+mn-ea"/>
                <a:cs typeface="+mn-cs"/>
              </a:rPr>
              <a:t>🌍</a:t>
            </a:r>
          </a:p>
          <a:p>
            <a:r>
              <a:rPr lang="en-US" sz="1200" b="1" i="0" kern="1200" cap="all">
                <a:solidFill>
                  <a:schemeClr val="tx1"/>
                </a:solidFill>
                <a:effectLst/>
                <a:latin typeface="+mn-lt"/>
                <a:ea typeface="+mn-ea"/>
                <a:cs typeface="+mn-cs"/>
              </a:rPr>
              <a:t>Geopolitical</a:t>
            </a:r>
          </a:p>
          <a:p>
            <a:r>
              <a:rPr lang="en-US" sz="1200" b="0" i="0" kern="1200">
                <a:solidFill>
                  <a:schemeClr val="tx1"/>
                </a:solidFill>
                <a:effectLst/>
                <a:latin typeface="+mn-lt"/>
                <a:ea typeface="+mn-ea"/>
                <a:cs typeface="+mn-cs"/>
              </a:rPr>
              <a:t>Multipolar order / CRINK bloc</a:t>
            </a:r>
          </a:p>
          <a:p>
            <a:r>
              <a:rPr lang="en-US" sz="1200" b="0" i="0" kern="1200">
                <a:solidFill>
                  <a:schemeClr val="tx1"/>
                </a:solidFill>
                <a:effectLst/>
                <a:latin typeface="+mn-lt"/>
                <a:ea typeface="+mn-ea"/>
                <a:cs typeface="+mn-cs"/>
              </a:rPr>
              <a:t>2024: 70+ elections globally</a:t>
            </a:r>
          </a:p>
          <a:p>
            <a:r>
              <a:rPr lang="en-US" sz="1200" b="0" i="0" kern="1200">
                <a:solidFill>
                  <a:schemeClr val="tx1"/>
                </a:solidFill>
                <a:effectLst/>
                <a:latin typeface="+mn-lt"/>
                <a:ea typeface="+mn-ea"/>
                <a:cs typeface="+mn-cs"/>
              </a:rPr>
              <a:t>Gaza war &amp; proxy conflicts</a:t>
            </a:r>
          </a:p>
          <a:p>
            <a:r>
              <a:rPr lang="en-US" sz="1200" b="0" i="0" kern="1200">
                <a:solidFill>
                  <a:schemeClr val="tx1"/>
                </a:solidFill>
                <a:effectLst/>
                <a:latin typeface="+mn-lt"/>
                <a:ea typeface="+mn-ea"/>
                <a:cs typeface="+mn-cs"/>
              </a:rPr>
              <a:t>Ukraine war as lab</a:t>
            </a:r>
          </a:p>
          <a:p>
            <a:r>
              <a:rPr lang="en-US" sz="1200" b="0" i="0" kern="1200">
                <a:solidFill>
                  <a:schemeClr val="tx1"/>
                </a:solidFill>
                <a:effectLst/>
                <a:latin typeface="+mn-lt"/>
                <a:ea typeface="+mn-ea"/>
                <a:cs typeface="+mn-cs"/>
              </a:rPr>
              <a:t>Election cycles = forcing function</a:t>
            </a:r>
          </a:p>
          <a:p>
            <a:r>
              <a:rPr lang="en-US" sz="1200" b="0" i="0" kern="1200">
                <a:solidFill>
                  <a:schemeClr val="tx1"/>
                </a:solidFill>
                <a:effectLst/>
                <a:latin typeface="+mn-lt"/>
                <a:ea typeface="+mn-ea"/>
                <a:cs typeface="+mn-cs"/>
              </a:rPr>
              <a:t>💸</a:t>
            </a:r>
          </a:p>
          <a:p>
            <a:r>
              <a:rPr lang="en-US" sz="1200" b="1" i="0" kern="1200" cap="all">
                <a:solidFill>
                  <a:schemeClr val="tx1"/>
                </a:solidFill>
                <a:effectLst/>
                <a:latin typeface="+mn-lt"/>
                <a:ea typeface="+mn-ea"/>
                <a:cs typeface="+mn-cs"/>
              </a:rPr>
              <a:t>Economic</a:t>
            </a:r>
          </a:p>
          <a:p>
            <a:r>
              <a:rPr lang="en-US" sz="1200" b="0" i="0" kern="1200">
                <a:solidFill>
                  <a:schemeClr val="tx1"/>
                </a:solidFill>
                <a:effectLst/>
                <a:latin typeface="+mn-lt"/>
                <a:ea typeface="+mn-ea"/>
                <a:cs typeface="+mn-cs"/>
              </a:rPr>
              <a:t>$10.5T annual cybercrime economy</a:t>
            </a:r>
          </a:p>
          <a:p>
            <a:r>
              <a:rPr lang="en-US" sz="1200" b="0" i="0" kern="1200">
                <a:solidFill>
                  <a:schemeClr val="tx1"/>
                </a:solidFill>
                <a:effectLst/>
                <a:latin typeface="+mn-lt"/>
                <a:ea typeface="+mn-ea"/>
                <a:cs typeface="+mn-cs"/>
              </a:rPr>
              <a:t>RaaS industrialised the attack</a:t>
            </a:r>
          </a:p>
          <a:p>
            <a:r>
              <a:rPr lang="en-US" sz="1200" b="0" i="0" kern="1200">
                <a:solidFill>
                  <a:schemeClr val="tx1"/>
                </a:solidFill>
                <a:effectLst/>
                <a:latin typeface="+mn-lt"/>
                <a:ea typeface="+mn-ea"/>
                <a:cs typeface="+mn-cs"/>
              </a:rPr>
              <a:t>Influence-as-a-service market</a:t>
            </a:r>
          </a:p>
          <a:p>
            <a:r>
              <a:rPr lang="en-US" sz="1200" b="0" i="0" kern="1200">
                <a:solidFill>
                  <a:schemeClr val="tx1"/>
                </a:solidFill>
                <a:effectLst/>
                <a:latin typeface="+mn-lt"/>
                <a:ea typeface="+mn-ea"/>
                <a:cs typeface="+mn-cs"/>
              </a:rPr>
              <a:t>Low-cost AI content generation</a:t>
            </a:r>
          </a:p>
          <a:p>
            <a:r>
              <a:rPr lang="en-US" sz="1200" b="0" i="0" kern="1200">
                <a:solidFill>
                  <a:schemeClr val="tx1"/>
                </a:solidFill>
                <a:effectLst/>
                <a:latin typeface="+mn-lt"/>
                <a:ea typeface="+mn-ea"/>
                <a:cs typeface="+mn-cs"/>
              </a:rPr>
              <a:t>Africa: high returns, low resilience</a:t>
            </a:r>
          </a:p>
          <a:p>
            <a:r>
              <a:rPr lang="en-US" sz="1200" b="0" i="0" kern="1200">
                <a:solidFill>
                  <a:schemeClr val="tx1"/>
                </a:solidFill>
                <a:effectLst/>
                <a:latin typeface="+mn-lt"/>
                <a:ea typeface="+mn-ea"/>
                <a:cs typeface="+mn-cs"/>
              </a:rPr>
              <a:t>⚙️</a:t>
            </a:r>
          </a:p>
          <a:p>
            <a:r>
              <a:rPr lang="en-US" sz="1200" b="1" i="0" kern="1200" cap="all">
                <a:solidFill>
                  <a:schemeClr val="tx1"/>
                </a:solidFill>
                <a:effectLst/>
                <a:latin typeface="+mn-lt"/>
                <a:ea typeface="+mn-ea"/>
                <a:cs typeface="+mn-cs"/>
              </a:rPr>
              <a:t>Technical</a:t>
            </a:r>
          </a:p>
          <a:p>
            <a:r>
              <a:rPr lang="en-US" sz="1200" b="0" i="0" kern="1200">
                <a:solidFill>
                  <a:schemeClr val="tx1"/>
                </a:solidFill>
                <a:effectLst/>
                <a:latin typeface="+mn-lt"/>
                <a:ea typeface="+mn-ea"/>
                <a:cs typeface="+mn-cs"/>
              </a:rPr>
              <a:t>GenAI: deepfakes, voice cloning</a:t>
            </a:r>
          </a:p>
          <a:p>
            <a:r>
              <a:rPr lang="en-US" sz="1200" b="0" i="0" kern="1200">
                <a:solidFill>
                  <a:schemeClr val="tx1"/>
                </a:solidFill>
                <a:effectLst/>
                <a:latin typeface="+mn-lt"/>
                <a:ea typeface="+mn-ea"/>
                <a:cs typeface="+mn-cs"/>
              </a:rPr>
              <a:t>Bulletproof hosting / Tor</a:t>
            </a:r>
          </a:p>
          <a:p>
            <a:r>
              <a:rPr lang="en-US" sz="1200" b="0" i="0" kern="1200">
                <a:solidFill>
                  <a:schemeClr val="tx1"/>
                </a:solidFill>
                <a:effectLst/>
                <a:latin typeface="+mn-lt"/>
                <a:ea typeface="+mn-ea"/>
                <a:cs typeface="+mn-cs"/>
              </a:rPr>
              <a:t>As-a-service ecosystems</a:t>
            </a:r>
          </a:p>
          <a:p>
            <a:r>
              <a:rPr lang="en-US" sz="1200" b="0" i="0" kern="1200">
                <a:solidFill>
                  <a:schemeClr val="tx1"/>
                </a:solidFill>
                <a:effectLst/>
                <a:latin typeface="+mn-lt"/>
                <a:ea typeface="+mn-ea"/>
                <a:cs typeface="+mn-cs"/>
              </a:rPr>
              <a:t>Closed platforms (WhatsApp)</a:t>
            </a:r>
          </a:p>
          <a:p>
            <a:r>
              <a:rPr lang="en-US" sz="1200" b="0" i="0" kern="1200">
                <a:solidFill>
                  <a:schemeClr val="tx1"/>
                </a:solidFill>
                <a:effectLst/>
                <a:latin typeface="+mn-lt"/>
                <a:ea typeface="+mn-ea"/>
                <a:cs typeface="+mn-cs"/>
              </a:rPr>
              <a:t>AI-accelerated CIB campaigns</a:t>
            </a:r>
          </a:p>
          <a:p>
            <a:r>
              <a:rPr lang="en-US" sz="1200" b="1" i="0" kern="1200">
                <a:solidFill>
                  <a:schemeClr val="tx1"/>
                </a:solidFill>
                <a:effectLst/>
                <a:latin typeface="+mn-lt"/>
                <a:ea typeface="+mn-ea"/>
                <a:cs typeface="+mn-cs"/>
              </a:rPr>
              <a:t>EEAS 4th FIMI Report (2025) Top 3 Trends:</a:t>
            </a:r>
            <a:r>
              <a:rPr lang="en-US" sz="1200" b="0" i="0" kern="1200">
                <a:solidFill>
                  <a:schemeClr val="tx1"/>
                </a:solidFill>
                <a:effectLst/>
                <a:latin typeface="+mn-lt"/>
                <a:ea typeface="+mn-ea"/>
                <a:cs typeface="+mn-cs"/>
              </a:rPr>
              <a:t> (1) Increased hybridisation · (2) Increased AI use · (3) Increased covertness</a:t>
            </a:r>
          </a:p>
          <a:p>
            <a:r>
              <a:rPr lang="en-US" sz="1200" b="0" i="0" kern="1200" cap="all">
                <a:solidFill>
                  <a:schemeClr val="tx1"/>
                </a:solidFill>
                <a:effectLst/>
                <a:latin typeface="+mn-lt"/>
                <a:ea typeface="+mn-ea"/>
                <a:cs typeface="+mn-cs"/>
              </a:rPr>
              <a:t>Emerging Threat</a:t>
            </a:r>
          </a:p>
          <a:p>
            <a:r>
              <a:rPr lang="en-US" sz="1200" b="1" i="0" kern="1200">
                <a:solidFill>
                  <a:schemeClr val="tx1"/>
                </a:solidFill>
                <a:effectLst/>
                <a:latin typeface="+mn-lt"/>
                <a:ea typeface="+mn-ea"/>
                <a:cs typeface="+mn-cs"/>
              </a:rPr>
              <a:t>AI is Supercharging the Hybrid Toolkit</a:t>
            </a:r>
          </a:p>
          <a:p>
            <a:r>
              <a:rPr lang="en-US" sz="1200" b="0" i="0" kern="1200">
                <a:solidFill>
                  <a:schemeClr val="tx1"/>
                </a:solidFill>
                <a:effectLst/>
                <a:latin typeface="+mn-lt"/>
                <a:ea typeface="+mn-ea"/>
                <a:cs typeface="+mn-cs"/>
              </a:rPr>
              <a:t>🎭</a:t>
            </a:r>
          </a:p>
          <a:p>
            <a:r>
              <a:rPr lang="en-US" sz="1200" b="1" i="0" kern="1200">
                <a:solidFill>
                  <a:schemeClr val="tx1"/>
                </a:solidFill>
                <a:effectLst/>
                <a:latin typeface="+mn-lt"/>
                <a:ea typeface="+mn-ea"/>
                <a:cs typeface="+mn-cs"/>
              </a:rPr>
              <a:t>Deepfake Fraud</a:t>
            </a:r>
          </a:p>
          <a:p>
            <a:r>
              <a:rPr lang="en-US" sz="1200" b="0" i="0" kern="1200">
                <a:solidFill>
                  <a:schemeClr val="tx1"/>
                </a:solidFill>
                <a:effectLst/>
                <a:latin typeface="+mn-lt"/>
                <a:ea typeface="+mn-ea"/>
                <a:cs typeface="+mn-cs"/>
              </a:rPr>
              <a:t>Arup: $25.6M stolen via live deepfake video call. Built from LinkedIn + YouTube. Zero intrusion. </a:t>
            </a:r>
            <a:r>
              <a:rPr lang="en-US" sz="1200" b="1" i="0" kern="1200">
                <a:solidFill>
                  <a:schemeClr val="tx1"/>
                </a:solidFill>
                <a:effectLst/>
                <a:latin typeface="+mn-lt"/>
                <a:ea typeface="+mn-ea"/>
                <a:cs typeface="+mn-cs"/>
              </a:rPr>
              <a:t>"I saw them on camera."</a:t>
            </a:r>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a:t>
            </a:r>
          </a:p>
          <a:p>
            <a:r>
              <a:rPr lang="en-US" sz="1200" b="1" i="0" kern="1200">
                <a:solidFill>
                  <a:schemeClr val="tx1"/>
                </a:solidFill>
                <a:effectLst/>
                <a:latin typeface="+mn-lt"/>
                <a:ea typeface="+mn-ea"/>
                <a:cs typeface="+mn-cs"/>
              </a:rPr>
              <a:t>Voice Cloning / Vishing</a:t>
            </a:r>
          </a:p>
          <a:p>
            <a:r>
              <a:rPr lang="en-US" sz="1200" b="0" i="0" kern="1200">
                <a:solidFill>
                  <a:schemeClr val="tx1"/>
                </a:solidFill>
                <a:effectLst/>
                <a:latin typeface="+mn-lt"/>
                <a:ea typeface="+mn-ea"/>
                <a:cs typeface="+mn-cs"/>
              </a:rPr>
              <a:t>3 seconds of audio = cloned voice. MGM Resorts: one vishing call defeated enterprise MFA and Okta SSO. </a:t>
            </a:r>
            <a:r>
              <a:rPr lang="en-US" sz="1200" b="1" i="0" kern="1200">
                <a:solidFill>
                  <a:schemeClr val="tx1"/>
                </a:solidFill>
                <a:effectLst/>
                <a:latin typeface="+mn-lt"/>
                <a:ea typeface="+mn-ea"/>
                <a:cs typeface="+mn-cs"/>
              </a:rPr>
              <a:t>$100M in losses.</a:t>
            </a:r>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a:t>
            </a:r>
          </a:p>
          <a:p>
            <a:r>
              <a:rPr lang="en-US" sz="1200" b="1" i="0" kern="1200">
                <a:solidFill>
                  <a:schemeClr val="tx1"/>
                </a:solidFill>
                <a:effectLst/>
                <a:latin typeface="+mn-lt"/>
                <a:ea typeface="+mn-ea"/>
                <a:cs typeface="+mn-cs"/>
              </a:rPr>
              <a:t>AI-Scaled CIB</a:t>
            </a:r>
          </a:p>
          <a:p>
            <a:r>
              <a:rPr lang="en-US" sz="1200" b="0" i="0" kern="1200">
                <a:solidFill>
                  <a:schemeClr val="tx1"/>
                </a:solidFill>
                <a:effectLst/>
                <a:latin typeface="+mn-lt"/>
                <a:ea typeface="+mn-ea"/>
                <a:cs typeface="+mn-cs"/>
              </a:rPr>
              <a:t>LLMs generate authentic-sounding content in any language. EEAS: AI enables simultaneous multi-language campaigns previously requiring native speakers.</a:t>
            </a:r>
          </a:p>
          <a:p>
            <a:r>
              <a:rPr lang="en-US" sz="1200" b="0" i="0" kern="1200">
                <a:solidFill>
                  <a:schemeClr val="tx1"/>
                </a:solidFill>
                <a:effectLst/>
                <a:latin typeface="+mn-lt"/>
                <a:ea typeface="+mn-ea"/>
                <a:cs typeface="+mn-cs"/>
              </a:rPr>
              <a:t>🎯</a:t>
            </a:r>
          </a:p>
          <a:p>
            <a:r>
              <a:rPr lang="en-US" sz="1200" b="1" i="0" kern="1200">
                <a:solidFill>
                  <a:schemeClr val="tx1"/>
                </a:solidFill>
                <a:effectLst/>
                <a:latin typeface="+mn-lt"/>
                <a:ea typeface="+mn-ea"/>
                <a:cs typeface="+mn-cs"/>
              </a:rPr>
              <a:t>AI-Personalised Spearphishing</a:t>
            </a:r>
          </a:p>
          <a:p>
            <a:r>
              <a:rPr lang="en-US" sz="1200" b="0" i="0" kern="1200">
                <a:solidFill>
                  <a:schemeClr val="tx1"/>
                </a:solidFill>
                <a:effectLst/>
                <a:latin typeface="+mn-lt"/>
                <a:ea typeface="+mn-ea"/>
                <a:cs typeface="+mn-cs"/>
              </a:rPr>
              <a:t>Previous detection heuristics (grammar errors, generic greetings) no longer reliable. LLMs write perfect contextual lures from scraped social data.</a:t>
            </a:r>
          </a:p>
          <a:p>
            <a:r>
              <a:rPr lang="en-US" sz="1200" b="0" i="0" kern="1200">
                <a:solidFill>
                  <a:schemeClr val="tx1"/>
                </a:solidFill>
                <a:effectLst/>
                <a:latin typeface="+mn-lt"/>
                <a:ea typeface="+mn-ea"/>
                <a:cs typeface="+mn-cs"/>
              </a:rPr>
              <a:t>Out-of-band verification remains the most reliable countermeasure to AI impersonation attacks</a:t>
            </a:r>
          </a:p>
          <a:p>
            <a:r>
              <a:rPr lang="en-US" sz="1200" b="0" i="0" kern="1200" cap="all">
                <a:solidFill>
                  <a:schemeClr val="tx1"/>
                </a:solidFill>
                <a:effectLst/>
                <a:latin typeface="+mn-lt"/>
                <a:ea typeface="+mn-ea"/>
                <a:cs typeface="+mn-cs"/>
              </a:rPr>
              <a:t>Continental Pivot</a:t>
            </a:r>
          </a:p>
          <a:p>
            <a:r>
              <a:rPr lang="en-US" sz="1200" b="1" i="0" kern="1200">
                <a:solidFill>
                  <a:schemeClr val="tx1"/>
                </a:solidFill>
                <a:effectLst/>
                <a:latin typeface="+mn-lt"/>
                <a:ea typeface="+mn-ea"/>
                <a:cs typeface="+mn-cs"/>
              </a:rPr>
              <a:t>Africa: A Different Operational Environment</a:t>
            </a:r>
          </a:p>
          <a:p>
            <a:r>
              <a:rPr lang="en-US" sz="1200" b="0" i="0" kern="1200">
                <a:solidFill>
                  <a:schemeClr val="tx1"/>
                </a:solidFill>
                <a:effectLst/>
                <a:latin typeface="+mn-lt"/>
                <a:ea typeface="+mn-ea"/>
                <a:cs typeface="+mn-cs"/>
              </a:rPr>
              <a:t>📱</a:t>
            </a:r>
            <a:r>
              <a:rPr lang="en-US" sz="1200" b="1" i="0" kern="1200">
                <a:solidFill>
                  <a:schemeClr val="tx1"/>
                </a:solidFill>
                <a:effectLst/>
                <a:latin typeface="+mn-lt"/>
                <a:ea typeface="+mn-ea"/>
                <a:cs typeface="+mn-cs"/>
              </a:rPr>
              <a:t>Mobile-First Information Ecosystem</a:t>
            </a:r>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WhatsApp IS the public sphere for most Africans. Closed-chain forwarding defeats platform moderation. No fact-checking layer at scale.</a:t>
            </a:r>
          </a:p>
          <a:p>
            <a:r>
              <a:rPr lang="en-US" sz="1200" b="0" i="0" kern="1200">
                <a:solidFill>
                  <a:schemeClr val="tx1"/>
                </a:solidFill>
                <a:effectLst/>
                <a:latin typeface="+mn-lt"/>
                <a:ea typeface="+mn-ea"/>
                <a:cs typeface="+mn-cs"/>
              </a:rPr>
              <a:t>🌐</a:t>
            </a:r>
            <a:r>
              <a:rPr lang="en-US" sz="1200" b="1" i="0" kern="1200">
                <a:solidFill>
                  <a:schemeClr val="tx1"/>
                </a:solidFill>
                <a:effectLst/>
                <a:latin typeface="+mn-lt"/>
                <a:ea typeface="+mn-ea"/>
                <a:cs typeface="+mn-cs"/>
              </a:rPr>
              <a:t>2,000+ Languages, Minimal Moderation</a:t>
            </a:r>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Content flagged in English in hours circulates in Zulu, Hausa, or Amharic for weeks. AI is now generating disinformation in these languages at scale.</a:t>
            </a:r>
          </a:p>
          <a:p>
            <a:r>
              <a:rPr lang="en-US" sz="1200" b="0" i="0" kern="1200">
                <a:solidFill>
                  <a:schemeClr val="tx1"/>
                </a:solidFill>
                <a:effectLst/>
                <a:latin typeface="+mn-lt"/>
                <a:ea typeface="+mn-ea"/>
                <a:cs typeface="+mn-cs"/>
              </a:rPr>
              <a:t>📈</a:t>
            </a:r>
            <a:r>
              <a:rPr lang="en-US" sz="1200" b="1" i="0" kern="1200">
                <a:solidFill>
                  <a:schemeClr val="tx1"/>
                </a:solidFill>
                <a:effectLst/>
                <a:latin typeface="+mn-lt"/>
                <a:ea typeface="+mn-ea"/>
                <a:cs typeface="+mn-cs"/>
              </a:rPr>
              <a:t>Rapid Digital Adoption + Low Resilience</a:t>
            </a:r>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World's fastest-growing mobile internet market. Security infrastructure not keeping pace. Password 'Password' on a credit-bureau server is a structural feature, not an outlier.</a:t>
            </a:r>
          </a:p>
          <a:p>
            <a:r>
              <a:rPr lang="en-US" sz="1200" b="0" i="0" kern="1200">
                <a:solidFill>
                  <a:schemeClr val="tx1"/>
                </a:solidFill>
                <a:effectLst/>
                <a:latin typeface="+mn-lt"/>
                <a:ea typeface="+mn-ea"/>
                <a:cs typeface="+mn-cs"/>
              </a:rPr>
              <a:t>🌍</a:t>
            </a:r>
            <a:r>
              <a:rPr lang="en-US" sz="1200" b="1" i="0" kern="1200">
                <a:solidFill>
                  <a:schemeClr val="tx1"/>
                </a:solidFill>
                <a:effectLst/>
                <a:latin typeface="+mn-lt"/>
                <a:ea typeface="+mn-ea"/>
                <a:cs typeface="+mn-cs"/>
              </a:rPr>
              <a:t>Geopolitical Contest</a:t>
            </a:r>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Russia–France contest in the Sahel. China's Belt and Road influence. US Africa Command. Each external actor runs both cyber and influence tracks simultaneously.</a:t>
            </a:r>
          </a:p>
          <a:p>
            <a:r>
              <a:rPr lang="en-US" sz="1200" b="0" i="0" kern="1200">
                <a:solidFill>
                  <a:schemeClr val="tx1"/>
                </a:solidFill>
                <a:effectLst/>
                <a:latin typeface="+mn-lt"/>
                <a:ea typeface="+mn-ea"/>
                <a:cs typeface="+mn-cs"/>
              </a:rPr>
              <a:t>💼</a:t>
            </a:r>
            <a:r>
              <a:rPr lang="en-US" sz="1200" b="1" i="0" kern="1200">
                <a:solidFill>
                  <a:schemeClr val="tx1"/>
                </a:solidFill>
                <a:effectLst/>
                <a:latin typeface="+mn-lt"/>
                <a:ea typeface="+mn-ea"/>
                <a:cs typeface="+mn-cs"/>
              </a:rPr>
              <a:t>Commercial Influence-as-a-Service</a:t>
            </a:r>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Team Jorge targeted Nigeria, Senegal, Togo, Angola, Niger, Tunisia. Archimedes Group ran Facebook CIB across 6 African countries. This is a functioning market.</a:t>
            </a:r>
          </a:p>
          <a:p>
            <a:r>
              <a:rPr lang="en-US" sz="1200" b="0" i="0" kern="1200">
                <a:solidFill>
                  <a:schemeClr val="tx1"/>
                </a:solidFill>
                <a:effectLst/>
                <a:latin typeface="+mn-lt"/>
                <a:ea typeface="+mn-ea"/>
                <a:cs typeface="+mn-cs"/>
              </a:rPr>
              <a:t>🏦</a:t>
            </a:r>
            <a:r>
              <a:rPr lang="en-US" sz="1200" b="1" i="0" kern="1200">
                <a:solidFill>
                  <a:schemeClr val="tx1"/>
                </a:solidFill>
                <a:effectLst/>
                <a:latin typeface="+mn-lt"/>
                <a:ea typeface="+mn-ea"/>
                <a:cs typeface="+mn-cs"/>
              </a:rPr>
              <a:t>High-Value, Under-Protected Targets</a:t>
            </a:r>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Telecoms (290M subscriber MTN breach), credit bureaux, ports, mining, aviation — all attacked by ransomware groups who see Africa as high-ROI and low-risk.</a:t>
            </a:r>
          </a:p>
          <a:p>
            <a:r>
              <a:rPr lang="en-US" sz="1200" b="0" i="0" kern="1200" cap="all">
                <a:solidFill>
                  <a:schemeClr val="tx1"/>
                </a:solidFill>
                <a:effectLst/>
                <a:latin typeface="+mn-lt"/>
                <a:ea typeface="+mn-ea"/>
                <a:cs typeface="+mn-cs"/>
              </a:rPr>
              <a:t>The Human Cost</a:t>
            </a:r>
          </a:p>
          <a:p>
            <a:r>
              <a:rPr lang="en-US" sz="1200" b="1" i="0" kern="1200">
                <a:solidFill>
                  <a:schemeClr val="tx1"/>
                </a:solidFill>
                <a:effectLst/>
                <a:latin typeface="+mn-lt"/>
                <a:ea typeface="+mn-ea"/>
                <a:cs typeface="+mn-cs"/>
              </a:rPr>
              <a:t>Real-World Harm to Ordinary Africans</a:t>
            </a:r>
          </a:p>
          <a:p>
            <a:r>
              <a:rPr lang="en-US" sz="1200" b="0" i="0" kern="1200">
                <a:solidFill>
                  <a:schemeClr val="tx1"/>
                </a:solidFill>
                <a:effectLst/>
                <a:latin typeface="+mn-lt"/>
                <a:ea typeface="+mn-ea"/>
                <a:cs typeface="+mn-cs"/>
              </a:rPr>
              <a:t>🗳️</a:t>
            </a:r>
          </a:p>
          <a:p>
            <a:r>
              <a:rPr lang="en-US" sz="1200" b="1" i="0" kern="1200">
                <a:solidFill>
                  <a:schemeClr val="tx1"/>
                </a:solidFill>
                <a:effectLst/>
                <a:latin typeface="+mn-lt"/>
                <a:ea typeface="+mn-ea"/>
                <a:cs typeface="+mn-cs"/>
              </a:rPr>
              <a:t>Electoral Harm</a:t>
            </a:r>
          </a:p>
          <a:p>
            <a:r>
              <a:rPr lang="en-US" sz="1200" b="0" i="0" kern="1200">
                <a:solidFill>
                  <a:schemeClr val="tx1"/>
                </a:solidFill>
                <a:effectLst/>
                <a:latin typeface="+mn-lt"/>
                <a:ea typeface="+mn-ea"/>
                <a:cs typeface="+mn-cs"/>
              </a:rPr>
              <a:t>CIB networks suppress opposition, fabricate crises, push false coup justifications. Citizens making electoral choices on manipulated information.</a:t>
            </a:r>
          </a:p>
          <a:p>
            <a:r>
              <a:rPr lang="en-US" sz="1200" b="0" i="0" kern="1200">
                <a:solidFill>
                  <a:schemeClr val="tx1"/>
                </a:solidFill>
                <a:effectLst/>
                <a:latin typeface="+mn-lt"/>
                <a:ea typeface="+mn-ea"/>
                <a:cs typeface="+mn-cs"/>
              </a:rPr>
              <a:t>💉</a:t>
            </a:r>
          </a:p>
          <a:p>
            <a:r>
              <a:rPr lang="en-US" sz="1200" b="1" i="0" kern="1200">
                <a:solidFill>
                  <a:schemeClr val="tx1"/>
                </a:solidFill>
                <a:effectLst/>
                <a:latin typeface="+mn-lt"/>
                <a:ea typeface="+mn-ea"/>
                <a:cs typeface="+mn-cs"/>
              </a:rPr>
              <a:t>Health Harm</a:t>
            </a:r>
          </a:p>
          <a:p>
            <a:r>
              <a:rPr lang="en-US" sz="1200" b="0" i="0" kern="1200">
                <a:solidFill>
                  <a:schemeClr val="tx1"/>
                </a:solidFill>
                <a:effectLst/>
                <a:latin typeface="+mn-lt"/>
                <a:ea typeface="+mn-ea"/>
                <a:cs typeface="+mn-cs"/>
              </a:rPr>
              <a:t>Vaccine disinformation (COVID, polio, HPV) via WhatsApp drives hesitancy. DRC measles epidemic 2019–20: 6,000+ deaths. </a:t>
            </a:r>
            <a:r>
              <a:rPr lang="en-US" sz="1200" b="1" i="0" kern="1200">
                <a:solidFill>
                  <a:schemeClr val="tx1"/>
                </a:solidFill>
                <a:effectLst/>
                <a:latin typeface="+mn-lt"/>
                <a:ea typeface="+mn-ea"/>
                <a:cs typeface="+mn-cs"/>
              </a:rPr>
              <a:t>Disinformation kills.</a:t>
            </a:r>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a:t>
            </a:r>
          </a:p>
          <a:p>
            <a:r>
              <a:rPr lang="en-US" sz="1200" b="1" i="0" kern="1200">
                <a:solidFill>
                  <a:schemeClr val="tx1"/>
                </a:solidFill>
                <a:effectLst/>
                <a:latin typeface="+mn-lt"/>
                <a:ea typeface="+mn-ea"/>
                <a:cs typeface="+mn-cs"/>
              </a:rPr>
              <a:t>Financial Harm to Individuals</a:t>
            </a:r>
          </a:p>
          <a:p>
            <a:r>
              <a:rPr lang="en-US" sz="1200" b="0" i="0" kern="1200">
                <a:solidFill>
                  <a:schemeClr val="tx1"/>
                </a:solidFill>
                <a:effectLst/>
                <a:latin typeface="+mn-lt"/>
                <a:ea typeface="+mn-ea"/>
                <a:cs typeface="+mn-cs"/>
              </a:rPr>
              <a:t>TransUnion: 3–54M SA credit records stolen → SIM-swap fraud, identity theft, denied loans. Cell C: 7.7M subscribers. MTN: 290M.</a:t>
            </a:r>
          </a:p>
          <a:p>
            <a:r>
              <a:rPr lang="en-US" sz="1200" b="0" i="0" kern="1200">
                <a:solidFill>
                  <a:schemeClr val="tx1"/>
                </a:solidFill>
                <a:effectLst/>
                <a:latin typeface="+mn-lt"/>
                <a:ea typeface="+mn-ea"/>
                <a:cs typeface="+mn-cs"/>
              </a:rPr>
              <a:t>🚢</a:t>
            </a:r>
          </a:p>
          <a:p>
            <a:r>
              <a:rPr lang="en-US" sz="1200" b="1" i="0" kern="1200">
                <a:solidFill>
                  <a:schemeClr val="tx1"/>
                </a:solidFill>
                <a:effectLst/>
                <a:latin typeface="+mn-lt"/>
                <a:ea typeface="+mn-ea"/>
                <a:cs typeface="+mn-cs"/>
              </a:rPr>
              <a:t>Supply Chain Harm</a:t>
            </a:r>
          </a:p>
          <a:p>
            <a:r>
              <a:rPr lang="en-US" sz="1200" b="0" i="0" kern="1200">
                <a:solidFill>
                  <a:schemeClr val="tx1"/>
                </a:solidFill>
                <a:effectLst/>
                <a:latin typeface="+mn-lt"/>
                <a:ea typeface="+mn-ea"/>
                <a:cs typeface="+mn-cs"/>
              </a:rPr>
              <a:t>Transnet: ports at 10% capacity → food + mining exports disrupted for landlocked neighbours. Astral Foods: chicken supply disrupted across SA.</a:t>
            </a:r>
          </a:p>
          <a:p>
            <a:r>
              <a:rPr lang="en-US" sz="1200" b="0" i="0" kern="1200">
                <a:solidFill>
                  <a:schemeClr val="tx1"/>
                </a:solidFill>
                <a:effectLst/>
                <a:latin typeface="+mn-lt"/>
                <a:ea typeface="+mn-ea"/>
                <a:cs typeface="+mn-cs"/>
              </a:rPr>
              <a:t>✊</a:t>
            </a:r>
          </a:p>
          <a:p>
            <a:r>
              <a:rPr lang="en-US" sz="1200" b="1" i="0" kern="1200">
                <a:solidFill>
                  <a:schemeClr val="tx1"/>
                </a:solidFill>
                <a:effectLst/>
                <a:latin typeface="+mn-lt"/>
                <a:ea typeface="+mn-ea"/>
                <a:cs typeface="+mn-cs"/>
              </a:rPr>
              <a:t>Civil Society Harm</a:t>
            </a:r>
          </a:p>
          <a:p>
            <a:r>
              <a:rPr lang="en-US" sz="1200" b="0" i="0" kern="1200">
                <a:solidFill>
                  <a:schemeClr val="tx1"/>
                </a:solidFill>
                <a:effectLst/>
                <a:latin typeface="+mn-lt"/>
                <a:ea typeface="+mn-ea"/>
                <a:cs typeface="+mn-cs"/>
              </a:rPr>
              <a:t>Activists doxxed, SIM-disabled, account-hijacked. Iranian cyber-repression model studied by African authoritarian governments. Chilling effect on speech.</a:t>
            </a:r>
          </a:p>
          <a:p>
            <a:r>
              <a:rPr lang="en-US" sz="1200" b="0" i="0" kern="1200">
                <a:solidFill>
                  <a:schemeClr val="tx1"/>
                </a:solidFill>
                <a:effectLst/>
                <a:latin typeface="+mn-lt"/>
                <a:ea typeface="+mn-ea"/>
                <a:cs typeface="+mn-cs"/>
              </a:rPr>
              <a:t>🏛️</a:t>
            </a:r>
          </a:p>
          <a:p>
            <a:r>
              <a:rPr lang="en-US" sz="1200" b="1" i="0" kern="1200">
                <a:solidFill>
                  <a:schemeClr val="tx1"/>
                </a:solidFill>
                <a:effectLst/>
                <a:latin typeface="+mn-lt"/>
                <a:ea typeface="+mn-ea"/>
                <a:cs typeface="+mn-cs"/>
              </a:rPr>
              <a:t>Institutional Trust Harm</a:t>
            </a:r>
          </a:p>
          <a:p>
            <a:r>
              <a:rPr lang="en-US" sz="1200" b="0" i="0" kern="1200">
                <a:solidFill>
                  <a:schemeClr val="tx1"/>
                </a:solidFill>
                <a:effectLst/>
                <a:latin typeface="+mn-lt"/>
                <a:ea typeface="+mn-ea"/>
                <a:cs typeface="+mn-cs"/>
              </a:rPr>
              <a:t>CIB fabricating government incompetence erodes the trust needed for democratic governance — often the attacker's primary goal.</a:t>
            </a:r>
          </a:p>
          <a:p>
            <a:r>
              <a:rPr lang="en-US" sz="1200" b="0" i="0" kern="1200" cap="all">
                <a:solidFill>
                  <a:schemeClr val="tx1"/>
                </a:solidFill>
                <a:effectLst/>
                <a:latin typeface="+mn-lt"/>
                <a:ea typeface="+mn-ea"/>
                <a:cs typeface="+mn-cs"/>
              </a:rPr>
              <a:t>Continental Lens</a:t>
            </a:r>
          </a:p>
          <a:p>
            <a:r>
              <a:rPr lang="en-US" sz="1200" b="1" i="0" kern="1200">
                <a:solidFill>
                  <a:schemeClr val="tx1"/>
                </a:solidFill>
                <a:effectLst/>
                <a:latin typeface="+mn-lt"/>
                <a:ea typeface="+mn-ea"/>
                <a:cs typeface="+mn-cs"/>
              </a:rPr>
              <a:t>Africa: Two Dominant Attack Patterns</a:t>
            </a:r>
          </a:p>
          <a:p>
            <a:r>
              <a:rPr lang="en-US" sz="1200" b="0" i="0" kern="1200">
                <a:solidFill>
                  <a:schemeClr val="tx1"/>
                </a:solidFill>
                <a:effectLst/>
                <a:latin typeface="+mn-lt"/>
                <a:ea typeface="+mn-ea"/>
                <a:cs typeface="+mn-cs"/>
              </a:rPr>
              <a:t>📣</a:t>
            </a:r>
            <a:r>
              <a:rPr lang="en-US" sz="1200" b="1" i="0" kern="1200">
                <a:solidFill>
                  <a:schemeClr val="tx1"/>
                </a:solidFill>
                <a:effectLst/>
                <a:latin typeface="+mn-lt"/>
                <a:ea typeface="+mn-ea"/>
                <a:cs typeface="+mn-cs"/>
              </a:rPr>
              <a:t>CIB / Fake Networks</a:t>
            </a:r>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Type 1c (broad). No intrusion. Wagner-linked IRA across Mali, Burkina Faso, Niger, CAR, Sudan, Madagascar. Sahel: geopolitical contest between Russia and France.</a:t>
            </a:r>
          </a:p>
          <a:p>
            <a:r>
              <a:rPr lang="en-US" sz="1200" b="1" i="0" kern="1200">
                <a:solidFill>
                  <a:schemeClr val="tx1"/>
                </a:solidFill>
                <a:effectLst/>
                <a:latin typeface="+mn-lt"/>
                <a:ea typeface="+mn-ea"/>
                <a:cs typeface="+mn-cs"/>
              </a:rPr>
              <a:t>Actors:</a:t>
            </a:r>
            <a:r>
              <a:rPr lang="en-US" sz="1200" b="0" i="0" kern="1200">
                <a:solidFill>
                  <a:schemeClr val="tx1"/>
                </a:solidFill>
                <a:effectLst/>
                <a:latin typeface="+mn-lt"/>
                <a:ea typeface="+mn-ea"/>
                <a:cs typeface="+mn-cs"/>
              </a:rPr>
              <a:t> Prigozhin/Wagner IRA, Team Jorge, Archimedes Group, domestic political-PR networks</a:t>
            </a:r>
          </a:p>
          <a:p>
            <a:r>
              <a:rPr lang="en-US" sz="1200" b="0" i="0" kern="1200">
                <a:solidFill>
                  <a:schemeClr val="tx1"/>
                </a:solidFill>
                <a:effectLst/>
                <a:latin typeface="+mn-lt"/>
                <a:ea typeface="+mn-ea"/>
                <a:cs typeface="+mn-cs"/>
              </a:rPr>
              <a:t>🔒</a:t>
            </a:r>
            <a:r>
              <a:rPr lang="en-US" sz="1200" b="1" i="0" kern="1200">
                <a:solidFill>
                  <a:schemeClr val="tx1"/>
                </a:solidFill>
                <a:effectLst/>
                <a:latin typeface="+mn-lt"/>
                <a:ea typeface="+mn-ea"/>
                <a:cs typeface="+mn-cs"/>
              </a:rPr>
              <a:t>Double-Extortion Ransomware</a:t>
            </a:r>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Type 2f. Telecoms (MTN, Cell C), aviation (Kenya Airways), credit bureaux, ports, mining, agriculture. Ransomware + leak-site psychological pressure = hybrid attack.</a:t>
            </a:r>
          </a:p>
          <a:p>
            <a:r>
              <a:rPr lang="en-US" sz="1200" b="1" i="0" kern="1200">
                <a:solidFill>
                  <a:schemeClr val="tx1"/>
                </a:solidFill>
                <a:effectLst/>
                <a:latin typeface="+mn-lt"/>
                <a:ea typeface="+mn-ea"/>
                <a:cs typeface="+mn-cs"/>
              </a:rPr>
              <a:t>Groups:</a:t>
            </a:r>
            <a:r>
              <a:rPr lang="en-US" sz="1200" b="0" i="0" kern="1200">
                <a:solidFill>
                  <a:schemeClr val="tx1"/>
                </a:solidFill>
                <a:effectLst/>
                <a:latin typeface="+mn-lt"/>
                <a:ea typeface="+mn-ea"/>
                <a:cs typeface="+mn-cs"/>
              </a:rPr>
              <a:t> RansomEXX, RansomHub, RansomHouse, BianLian, Death Kitty/HelloKitty, MeowLeaks</a:t>
            </a:r>
          </a:p>
          <a:p>
            <a:r>
              <a:rPr lang="en-US" sz="1200" b="1" i="0" kern="1200">
                <a:solidFill>
                  <a:schemeClr val="tx1"/>
                </a:solidFill>
                <a:effectLst/>
                <a:latin typeface="+mn-lt"/>
                <a:ea typeface="+mn-ea"/>
                <a:cs typeface="+mn-cs"/>
              </a:rPr>
              <a:t>9/20</a:t>
            </a:r>
          </a:p>
          <a:p>
            <a:r>
              <a:rPr lang="en-US" sz="1200" b="0" i="0" kern="1200">
                <a:solidFill>
                  <a:schemeClr val="tx1"/>
                </a:solidFill>
                <a:effectLst/>
                <a:latin typeface="+mn-lt"/>
                <a:ea typeface="+mn-ea"/>
                <a:cs typeface="+mn-cs"/>
              </a:rPr>
              <a:t>African incidents</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meeting ≥0.7 threshold</a:t>
            </a:r>
          </a:p>
          <a:p>
            <a:r>
              <a:rPr lang="en-US" sz="1200" b="1" i="0" kern="1200">
                <a:solidFill>
                  <a:schemeClr val="tx1"/>
                </a:solidFill>
                <a:effectLst/>
                <a:latin typeface="+mn-lt"/>
                <a:ea typeface="+mn-ea"/>
                <a:cs typeface="+mn-cs"/>
              </a:rPr>
              <a:t>30+</a:t>
            </a:r>
          </a:p>
          <a:p>
            <a:r>
              <a:rPr lang="en-US" sz="1200" b="0" i="0" kern="1200">
                <a:solidFill>
                  <a:schemeClr val="tx1"/>
                </a:solidFill>
                <a:effectLst/>
                <a:latin typeface="+mn-lt"/>
                <a:ea typeface="+mn-ea"/>
                <a:cs typeface="+mn-cs"/>
              </a:rPr>
              <a:t>elections targeted by</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Team Jorge globally</a:t>
            </a:r>
          </a:p>
          <a:p>
            <a:r>
              <a:rPr lang="en-US" sz="1200" b="1" i="0" kern="1200">
                <a:solidFill>
                  <a:schemeClr val="tx1"/>
                </a:solidFill>
                <a:effectLst/>
                <a:latin typeface="+mn-lt"/>
                <a:ea typeface="+mn-ea"/>
                <a:cs typeface="+mn-cs"/>
              </a:rPr>
              <a:t>6</a:t>
            </a:r>
          </a:p>
          <a:p>
            <a:r>
              <a:rPr lang="en-US" sz="1200" b="0" i="0" kern="1200">
                <a:solidFill>
                  <a:schemeClr val="tx1"/>
                </a:solidFill>
                <a:effectLst/>
                <a:latin typeface="+mn-lt"/>
                <a:ea typeface="+mn-ea"/>
                <a:cs typeface="+mn-cs"/>
              </a:rPr>
              <a:t>African countries targeted by</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Archimedes Group (Facebook 2019)</a:t>
            </a:r>
          </a:p>
          <a:p>
            <a:r>
              <a:rPr lang="en-US" sz="1200" b="0" i="0" kern="1200" cap="all">
                <a:solidFill>
                  <a:schemeClr val="tx1"/>
                </a:solidFill>
                <a:effectLst/>
                <a:latin typeface="+mn-lt"/>
                <a:ea typeface="+mn-ea"/>
                <a:cs typeface="+mn-cs"/>
              </a:rPr>
              <a:t>Home Ground</a:t>
            </a:r>
          </a:p>
          <a:p>
            <a:r>
              <a:rPr lang="en-US" sz="1200" b="1" i="0" kern="1200">
                <a:solidFill>
                  <a:schemeClr val="tx1"/>
                </a:solidFill>
                <a:effectLst/>
                <a:latin typeface="+mn-lt"/>
                <a:ea typeface="+mn-ea"/>
                <a:cs typeface="+mn-cs"/>
              </a:rPr>
              <a:t>South Africa: Three Simultaneous Attack Tracks</a:t>
            </a:r>
          </a:p>
          <a:p>
            <a:r>
              <a:rPr lang="en-US" sz="1200" b="1" i="0" kern="1200" cap="all">
                <a:solidFill>
                  <a:schemeClr val="tx1"/>
                </a:solidFill>
                <a:effectLst/>
                <a:latin typeface="+mn-lt"/>
                <a:ea typeface="+mn-ea"/>
                <a:cs typeface="+mn-cs"/>
              </a:rPr>
              <a:t>💀 Criminal Ransomware</a:t>
            </a:r>
          </a:p>
          <a:p>
            <a:r>
              <a:rPr lang="en-US" sz="1200" b="1" i="0" kern="1200">
                <a:solidFill>
                  <a:schemeClr val="tx1"/>
                </a:solidFill>
                <a:effectLst/>
                <a:latin typeface="+mn-lt"/>
                <a:ea typeface="+mn-ea"/>
                <a:cs typeface="+mn-cs"/>
              </a:rPr>
              <a:t>Transnet 2021</a:t>
            </a:r>
            <a:r>
              <a:rPr lang="en-US" sz="1200" b="0" i="0" kern="1200">
                <a:solidFill>
                  <a:schemeClr val="tx1"/>
                </a:solidFill>
                <a:effectLst/>
                <a:latin typeface="+mn-lt"/>
                <a:ea typeface="+mn-ea"/>
                <a:cs typeface="+mn-cs"/>
              </a:rPr>
              <a:t> — ports at 10%, 60%+ container traffic disrupted</a:t>
            </a:r>
          </a:p>
          <a:p>
            <a:r>
              <a:rPr lang="en-US" sz="1200" b="1" i="0" kern="1200">
                <a:solidFill>
                  <a:schemeClr val="tx1"/>
                </a:solidFill>
                <a:effectLst/>
                <a:latin typeface="+mn-lt"/>
                <a:ea typeface="+mn-ea"/>
                <a:cs typeface="+mn-cs"/>
              </a:rPr>
              <a:t>TransUnion 2022</a:t>
            </a:r>
            <a:r>
              <a:rPr lang="en-US" sz="1200" b="0" i="0" kern="1200">
                <a:solidFill>
                  <a:schemeClr val="tx1"/>
                </a:solidFill>
                <a:effectLst/>
                <a:latin typeface="+mn-lt"/>
                <a:ea typeface="+mn-ea"/>
                <a:cs typeface="+mn-cs"/>
              </a:rPr>
              <a:t> — 54M records; password was "Password"</a:t>
            </a:r>
          </a:p>
          <a:p>
            <a:r>
              <a:rPr lang="en-US" sz="1200" b="1" i="0" kern="1200">
                <a:solidFill>
                  <a:schemeClr val="tx1"/>
                </a:solidFill>
                <a:effectLst/>
                <a:latin typeface="+mn-lt"/>
                <a:ea typeface="+mn-ea"/>
                <a:cs typeface="+mn-cs"/>
              </a:rPr>
              <a:t>Cell C 2024</a:t>
            </a:r>
            <a:r>
              <a:rPr lang="en-US" sz="1200" b="0" i="0" kern="1200">
                <a:solidFill>
                  <a:schemeClr val="tx1"/>
                </a:solidFill>
                <a:effectLst/>
                <a:latin typeface="+mn-lt"/>
                <a:ea typeface="+mn-ea"/>
                <a:cs typeface="+mn-cs"/>
              </a:rPr>
              <a:t> — 7.7M subscribers; 2TB published</a:t>
            </a:r>
          </a:p>
          <a:p>
            <a:r>
              <a:rPr lang="en-US" sz="1200" b="1" i="0" kern="1200">
                <a:solidFill>
                  <a:schemeClr val="tx1"/>
                </a:solidFill>
                <a:effectLst/>
                <a:latin typeface="+mn-lt"/>
                <a:ea typeface="+mn-ea"/>
                <a:cs typeface="+mn-cs"/>
              </a:rPr>
              <a:t>MTN 2025</a:t>
            </a:r>
            <a:r>
              <a:rPr lang="en-US" sz="1200" b="0" i="0" kern="1200">
                <a:solidFill>
                  <a:schemeClr val="tx1"/>
                </a:solidFill>
                <a:effectLst/>
                <a:latin typeface="+mn-lt"/>
                <a:ea typeface="+mn-ea"/>
                <a:cs typeface="+mn-cs"/>
              </a:rPr>
              <a:t> — 290M subscribers, 18 countries</a:t>
            </a:r>
          </a:p>
          <a:p>
            <a:r>
              <a:rPr lang="en-US" sz="1200" b="1" i="0" kern="1200">
                <a:solidFill>
                  <a:schemeClr val="tx1"/>
                </a:solidFill>
                <a:effectLst/>
                <a:latin typeface="+mn-lt"/>
                <a:ea typeface="+mn-ea"/>
                <a:cs typeface="+mn-cs"/>
              </a:rPr>
              <a:t>Astral Foods 2025</a:t>
            </a:r>
            <a:r>
              <a:rPr lang="en-US" sz="1200" b="0" i="0" kern="1200">
                <a:solidFill>
                  <a:schemeClr val="tx1"/>
                </a:solidFill>
                <a:effectLst/>
                <a:latin typeface="+mn-lt"/>
                <a:ea typeface="+mn-ea"/>
                <a:cs typeface="+mn-cs"/>
              </a:rPr>
              <a:t> — R20M profit hit</a:t>
            </a:r>
          </a:p>
          <a:p>
            <a:r>
              <a:rPr lang="en-US" sz="1200" b="1" i="0" kern="1200" cap="all">
                <a:solidFill>
                  <a:schemeClr val="tx1"/>
                </a:solidFill>
                <a:effectLst/>
                <a:latin typeface="+mn-lt"/>
                <a:ea typeface="+mn-ea"/>
                <a:cs typeface="+mn-cs"/>
              </a:rPr>
              <a:t>🌐 Foreign State Influence</a:t>
            </a:r>
          </a:p>
          <a:p>
            <a:r>
              <a:rPr lang="en-US" sz="1200" b="0" i="0" kern="1200">
                <a:solidFill>
                  <a:schemeClr val="tx1"/>
                </a:solidFill>
                <a:effectLst/>
                <a:latin typeface="+mn-lt"/>
                <a:ea typeface="+mn-ea"/>
                <a:cs typeface="+mn-cs"/>
              </a:rPr>
              <a:t>Russian CIB targeting SA elections (2019, 2024)</a:t>
            </a:r>
          </a:p>
          <a:p>
            <a:r>
              <a:rPr lang="en-US" sz="1200" b="0" i="0" kern="1200">
                <a:solidFill>
                  <a:schemeClr val="tx1"/>
                </a:solidFill>
                <a:effectLst/>
                <a:latin typeface="+mn-lt"/>
                <a:ea typeface="+mn-ea"/>
                <a:cs typeface="+mn-cs"/>
              </a:rPr>
              <a:t>Israeli info ops post-ICJ genocide case</a:t>
            </a:r>
          </a:p>
          <a:p>
            <a:r>
              <a:rPr lang="en-US" sz="1200" b="0" i="0" kern="1200">
                <a:solidFill>
                  <a:schemeClr val="tx1"/>
                </a:solidFill>
                <a:effectLst/>
                <a:latin typeface="+mn-lt"/>
                <a:ea typeface="+mn-ea"/>
                <a:cs typeface="+mn-cs"/>
              </a:rPr>
              <a:t>Trump/AfriForum coercive narratives</a:t>
            </a:r>
          </a:p>
          <a:p>
            <a:r>
              <a:rPr lang="en-US" sz="1200" b="0" i="0" kern="1200">
                <a:solidFill>
                  <a:schemeClr val="tx1"/>
                </a:solidFill>
                <a:effectLst/>
                <a:latin typeface="+mn-lt"/>
                <a:ea typeface="+mn-ea"/>
                <a:cs typeface="+mn-cs"/>
              </a:rPr>
              <a:t>BRICS non-alignment = multiple competing foreign influence tracks</a:t>
            </a:r>
          </a:p>
          <a:p>
            <a:r>
              <a:rPr lang="en-US" sz="1200" b="1" i="0" kern="1200" cap="all">
                <a:solidFill>
                  <a:schemeClr val="tx1"/>
                </a:solidFill>
                <a:effectLst/>
                <a:latin typeface="+mn-lt"/>
                <a:ea typeface="+mn-ea"/>
                <a:cs typeface="+mn-cs"/>
              </a:rPr>
              <a:t>🏠 Domestic Political</a:t>
            </a:r>
          </a:p>
          <a:p>
            <a:r>
              <a:rPr lang="en-US" sz="1200" b="0" i="0" kern="1200">
                <a:solidFill>
                  <a:schemeClr val="tx1"/>
                </a:solidFill>
                <a:effectLst/>
                <a:latin typeface="+mn-lt"/>
                <a:ea typeface="+mn-ea"/>
                <a:cs typeface="+mn-cs"/>
              </a:rPr>
              <a:t>Bell Pottinger 'white monopoly capital' CIB for Guptas (2016–17)</a:t>
            </a:r>
          </a:p>
          <a:p>
            <a:r>
              <a:rPr lang="en-US" sz="1200" b="0" i="0" kern="1200">
                <a:solidFill>
                  <a:schemeClr val="tx1"/>
                </a:solidFill>
                <a:effectLst/>
                <a:latin typeface="+mn-lt"/>
                <a:ea typeface="+mn-ea"/>
                <a:cs typeface="+mn-cs"/>
              </a:rPr>
              <a:t>Paid influencer networks across political parties</a:t>
            </a:r>
          </a:p>
          <a:p>
            <a:r>
              <a:rPr lang="en-US" sz="1200" b="0" i="0" kern="1200">
                <a:solidFill>
                  <a:schemeClr val="tx1"/>
                </a:solidFill>
                <a:effectLst/>
                <a:latin typeface="+mn-lt"/>
                <a:ea typeface="+mn-ea"/>
                <a:cs typeface="+mn-cs"/>
              </a:rPr>
              <a:t>WhatsApp closed-chain amplification</a:t>
            </a:r>
          </a:p>
          <a:p>
            <a:r>
              <a:rPr lang="en-US" sz="1200" b="0" i="0" kern="1200">
                <a:solidFill>
                  <a:schemeClr val="tx1"/>
                </a:solidFill>
                <a:effectLst/>
                <a:latin typeface="+mn-lt"/>
                <a:ea typeface="+mn-ea"/>
                <a:cs typeface="+mn-cs"/>
              </a:rPr>
              <a:t>No moderation at African-language scale</a:t>
            </a:r>
          </a:p>
          <a:p>
            <a:r>
              <a:rPr lang="en-US" sz="1200" b="1" i="0" kern="1200">
                <a:solidFill>
                  <a:schemeClr val="tx1"/>
                </a:solidFill>
                <a:effectLst/>
                <a:latin typeface="+mn-lt"/>
                <a:ea typeface="+mn-ea"/>
                <a:cs typeface="+mn-cs"/>
              </a:rPr>
              <a:t>SA is unique:</a:t>
            </a:r>
            <a:r>
              <a:rPr lang="en-US" sz="1200" b="0" i="0" kern="1200">
                <a:solidFill>
                  <a:schemeClr val="tx1"/>
                </a:solidFill>
                <a:effectLst/>
                <a:latin typeface="+mn-lt"/>
                <a:ea typeface="+mn-ea"/>
                <a:cs typeface="+mn-cs"/>
              </a:rPr>
              <a:t> Only country simultaneously targeted by criminal ransomware, foreign state influence ops, AND domestic commercial CIB — each requiring a different institutional response.</a:t>
            </a:r>
          </a:p>
          <a:p>
            <a:r>
              <a:rPr lang="en-US" sz="1200" b="0" i="0" kern="1200" cap="all">
                <a:solidFill>
                  <a:schemeClr val="tx1"/>
                </a:solidFill>
                <a:effectLst/>
                <a:latin typeface="+mn-lt"/>
                <a:ea typeface="+mn-ea"/>
                <a:cs typeface="+mn-cs"/>
              </a:rPr>
              <a:t>Response Framework</a:t>
            </a:r>
          </a:p>
          <a:p>
            <a:r>
              <a:rPr lang="en-US" sz="1200" b="1" i="0" kern="1200">
                <a:solidFill>
                  <a:schemeClr val="tx1"/>
                </a:solidFill>
                <a:effectLst/>
                <a:latin typeface="+mn-lt"/>
                <a:ea typeface="+mn-ea"/>
                <a:cs typeface="+mn-cs"/>
              </a:rPr>
              <a:t>No One-Size-Fits-All Response</a:t>
            </a:r>
          </a:p>
          <a:p>
            <a:r>
              <a:rPr lang="en-US" sz="1200" b="0" i="0" kern="1200">
                <a:solidFill>
                  <a:schemeClr val="tx1"/>
                </a:solidFill>
                <a:effectLst/>
                <a:latin typeface="+mn-lt"/>
                <a:ea typeface="+mn-ea"/>
                <a:cs typeface="+mn-cs"/>
              </a:rPr>
              <a:t>Each hybrid attack track requires a different institutional response. Mismatching response to threat type wastes resources and leaves real vulnerabilities unaddressed.</a:t>
            </a:r>
          </a:p>
          <a:p>
            <a:r>
              <a:rPr lang="en-US" sz="1200" b="1" i="0" kern="1200" cap="all">
                <a:solidFill>
                  <a:schemeClr val="tx1"/>
                </a:solidFill>
                <a:effectLst/>
                <a:latin typeface="+mn-lt"/>
                <a:ea typeface="+mn-ea"/>
                <a:cs typeface="+mn-cs"/>
              </a:rPr>
              <a:t>💀 Criminal Ransomware</a:t>
            </a:r>
          </a:p>
          <a:p>
            <a:r>
              <a:rPr lang="en-US" sz="1200" b="1" i="0" kern="1200">
                <a:solidFill>
                  <a:schemeClr val="tx1"/>
                </a:solidFill>
                <a:effectLst/>
                <a:latin typeface="+mn-lt"/>
                <a:ea typeface="+mn-ea"/>
                <a:cs typeface="+mn-cs"/>
              </a:rPr>
              <a:t>Who responds:</a:t>
            </a:r>
            <a:r>
              <a:rPr lang="en-US" sz="1200" b="0" i="0" kern="1200">
                <a:solidFill>
                  <a:schemeClr val="tx1"/>
                </a:solidFill>
                <a:effectLst/>
                <a:latin typeface="+mn-lt"/>
                <a:ea typeface="+mn-ea"/>
                <a:cs typeface="+mn-cs"/>
              </a:rPr>
              <a:t> CISO, IR team, law enforcement (Hawks), Information Regulator</a:t>
            </a:r>
          </a:p>
          <a:p>
            <a:r>
              <a:rPr lang="en-US" sz="1200" b="1" i="0" kern="1200">
                <a:solidFill>
                  <a:schemeClr val="tx1"/>
                </a:solidFill>
                <a:effectLst/>
                <a:latin typeface="+mn-lt"/>
                <a:ea typeface="+mn-ea"/>
                <a:cs typeface="+mn-cs"/>
              </a:rPr>
              <a:t>Legal hook:</a:t>
            </a:r>
            <a:r>
              <a:rPr lang="en-US" sz="1200" b="0" i="0" kern="1200">
                <a:solidFill>
                  <a:schemeClr val="tx1"/>
                </a:solidFill>
                <a:effectLst/>
                <a:latin typeface="+mn-lt"/>
                <a:ea typeface="+mn-ea"/>
                <a:cs typeface="+mn-cs"/>
              </a:rPr>
              <a:t> POPIA s.22 — notify regulator within 72 hours</a:t>
            </a:r>
          </a:p>
          <a:p>
            <a:r>
              <a:rPr lang="en-US" sz="1200" b="1" i="0" kern="1200">
                <a:solidFill>
                  <a:schemeClr val="tx1"/>
                </a:solidFill>
                <a:effectLst/>
                <a:latin typeface="+mn-lt"/>
                <a:ea typeface="+mn-ea"/>
                <a:cs typeface="+mn-cs"/>
              </a:rPr>
              <a:t>Key tools:</a:t>
            </a:r>
            <a:r>
              <a:rPr lang="en-US" sz="1200" b="0" i="0" kern="1200">
                <a:solidFill>
                  <a:schemeClr val="tx1"/>
                </a:solidFill>
                <a:effectLst/>
                <a:latin typeface="+mn-lt"/>
                <a:ea typeface="+mn-ea"/>
                <a:cs typeface="+mn-cs"/>
              </a:rPr>
              <a:t> Offline backups, network segmentation, SABRIC, AfricaCERT</a:t>
            </a:r>
          </a:p>
          <a:p>
            <a:r>
              <a:rPr lang="en-US" sz="1200" b="1" i="0" kern="1200" cap="all">
                <a:solidFill>
                  <a:schemeClr val="tx1"/>
                </a:solidFill>
                <a:effectLst/>
                <a:latin typeface="+mn-lt"/>
                <a:ea typeface="+mn-ea"/>
                <a:cs typeface="+mn-cs"/>
              </a:rPr>
              <a:t>🌐 Foreign State Influence</a:t>
            </a:r>
          </a:p>
          <a:p>
            <a:r>
              <a:rPr lang="en-US" sz="1200" b="1" i="0" kern="1200">
                <a:solidFill>
                  <a:schemeClr val="tx1"/>
                </a:solidFill>
                <a:effectLst/>
                <a:latin typeface="+mn-lt"/>
                <a:ea typeface="+mn-ea"/>
                <a:cs typeface="+mn-cs"/>
              </a:rPr>
              <a:t>Who responds:</a:t>
            </a:r>
            <a:r>
              <a:rPr lang="en-US" sz="1200" b="0" i="0" kern="1200">
                <a:solidFill>
                  <a:schemeClr val="tx1"/>
                </a:solidFill>
                <a:effectLst/>
                <a:latin typeface="+mn-lt"/>
                <a:ea typeface="+mn-ea"/>
                <a:cs typeface="+mn-cs"/>
              </a:rPr>
              <a:t> DIRCO, SSA, Electoral Commission, media, civil society</a:t>
            </a:r>
          </a:p>
          <a:p>
            <a:r>
              <a:rPr lang="en-US" sz="1200" b="1" i="0" kern="1200">
                <a:solidFill>
                  <a:schemeClr val="tx1"/>
                </a:solidFill>
                <a:effectLst/>
                <a:latin typeface="+mn-lt"/>
                <a:ea typeface="+mn-ea"/>
                <a:cs typeface="+mn-cs"/>
              </a:rPr>
              <a:t>Legal hook:</a:t>
            </a:r>
            <a:r>
              <a:rPr lang="en-US" sz="1200" b="0" i="0" kern="1200">
                <a:solidFill>
                  <a:schemeClr val="tx1"/>
                </a:solidFill>
                <a:effectLst/>
                <a:latin typeface="+mn-lt"/>
                <a:ea typeface="+mn-ea"/>
                <a:cs typeface="+mn-cs"/>
              </a:rPr>
              <a:t> Electoral Act; RICA; proposed Online Safety Bill</a:t>
            </a:r>
          </a:p>
          <a:p>
            <a:r>
              <a:rPr lang="en-US" sz="1200" b="1" i="0" kern="1200">
                <a:solidFill>
                  <a:schemeClr val="tx1"/>
                </a:solidFill>
                <a:effectLst/>
                <a:latin typeface="+mn-lt"/>
                <a:ea typeface="+mn-ea"/>
                <a:cs typeface="+mn-cs"/>
              </a:rPr>
              <a:t>Key tools:</a:t>
            </a:r>
            <a:r>
              <a:rPr lang="en-US" sz="1200" b="0" i="0" kern="1200">
                <a:solidFill>
                  <a:schemeClr val="tx1"/>
                </a:solidFill>
                <a:effectLst/>
                <a:latin typeface="+mn-lt"/>
                <a:ea typeface="+mn-ea"/>
                <a:cs typeface="+mn-cs"/>
              </a:rPr>
              <a:t> Platform engagement, prebunking, diplomatic attribution</a:t>
            </a:r>
          </a:p>
          <a:p>
            <a:r>
              <a:rPr lang="en-US" sz="1200" b="1" i="0" kern="1200" cap="all">
                <a:solidFill>
                  <a:schemeClr val="tx1"/>
                </a:solidFill>
                <a:effectLst/>
                <a:latin typeface="+mn-lt"/>
                <a:ea typeface="+mn-ea"/>
                <a:cs typeface="+mn-cs"/>
              </a:rPr>
              <a:t>🏠 Domestic CIB</a:t>
            </a:r>
          </a:p>
          <a:p>
            <a:r>
              <a:rPr lang="en-US" sz="1200" b="1" i="0" kern="1200">
                <a:solidFill>
                  <a:schemeClr val="tx1"/>
                </a:solidFill>
                <a:effectLst/>
                <a:latin typeface="+mn-lt"/>
                <a:ea typeface="+mn-ea"/>
                <a:cs typeface="+mn-cs"/>
              </a:rPr>
              <a:t>Who responds:</a:t>
            </a:r>
            <a:r>
              <a:rPr lang="en-US" sz="1200" b="0" i="0" kern="1200">
                <a:solidFill>
                  <a:schemeClr val="tx1"/>
                </a:solidFill>
                <a:effectLst/>
                <a:latin typeface="+mn-lt"/>
                <a:ea typeface="+mn-ea"/>
                <a:cs typeface="+mn-cs"/>
              </a:rPr>
              <a:t> IEC, Press Ombudsman, SANEF, fact-checkers (Africa Check)</a:t>
            </a:r>
          </a:p>
          <a:p>
            <a:r>
              <a:rPr lang="en-US" sz="1200" b="1" i="0" kern="1200">
                <a:solidFill>
                  <a:schemeClr val="tx1"/>
                </a:solidFill>
                <a:effectLst/>
                <a:latin typeface="+mn-lt"/>
                <a:ea typeface="+mn-ea"/>
                <a:cs typeface="+mn-cs"/>
              </a:rPr>
              <a:t>Legal hook:</a:t>
            </a:r>
            <a:r>
              <a:rPr lang="en-US" sz="1200" b="0" i="0" kern="1200">
                <a:solidFill>
                  <a:schemeClr val="tx1"/>
                </a:solidFill>
                <a:effectLst/>
                <a:latin typeface="+mn-lt"/>
                <a:ea typeface="+mn-ea"/>
                <a:cs typeface="+mn-cs"/>
              </a:rPr>
              <a:t> Electoral Code; ICASA; party funding disclosure</a:t>
            </a:r>
          </a:p>
          <a:p>
            <a:r>
              <a:rPr lang="en-US" sz="1200" b="1" i="0" kern="1200">
                <a:solidFill>
                  <a:schemeClr val="tx1"/>
                </a:solidFill>
                <a:effectLst/>
                <a:latin typeface="+mn-lt"/>
                <a:ea typeface="+mn-ea"/>
                <a:cs typeface="+mn-cs"/>
              </a:rPr>
              <a:t>Key tools:</a:t>
            </a:r>
            <a:r>
              <a:rPr lang="en-US" sz="1200" b="0" i="0" kern="1200">
                <a:solidFill>
                  <a:schemeClr val="tx1"/>
                </a:solidFill>
                <a:effectLst/>
                <a:latin typeface="+mn-lt"/>
                <a:ea typeface="+mn-ea"/>
                <a:cs typeface="+mn-cs"/>
              </a:rPr>
              <a:t> Monitoring, media literacy, influencer transparency</a:t>
            </a:r>
          </a:p>
          <a:p>
            <a:r>
              <a:rPr lang="en-US" sz="1200" b="1" i="0" kern="1200">
                <a:solidFill>
                  <a:schemeClr val="tx1"/>
                </a:solidFill>
                <a:effectLst/>
                <a:latin typeface="+mn-lt"/>
                <a:ea typeface="+mn-ea"/>
                <a:cs typeface="+mn-cs"/>
              </a:rPr>
              <a:t>Key insight:</a:t>
            </a:r>
            <a:r>
              <a:rPr lang="en-US" sz="1200" b="0" i="0" kern="1200">
                <a:solidFill>
                  <a:schemeClr val="tx1"/>
                </a:solidFill>
                <a:effectLst/>
                <a:latin typeface="+mn-lt"/>
                <a:ea typeface="+mn-ea"/>
                <a:cs typeface="+mn-cs"/>
              </a:rPr>
              <a:t> SA is unique in facing all three tracks simultaneously — which means it needs all three response frameworks operating in parallel. Most organisations are only resourced for one.</a:t>
            </a:r>
          </a:p>
          <a:p>
            <a:r>
              <a:rPr lang="en-US" sz="1200" b="0" i="0" kern="1200" cap="all">
                <a:solidFill>
                  <a:schemeClr val="tx1"/>
                </a:solidFill>
                <a:effectLst/>
                <a:latin typeface="+mn-lt"/>
                <a:ea typeface="+mn-ea"/>
                <a:cs typeface="+mn-cs"/>
              </a:rPr>
              <a:t>Global Governance</a:t>
            </a:r>
          </a:p>
          <a:p>
            <a:r>
              <a:rPr lang="en-US" sz="1200" b="1" i="0" kern="1200">
                <a:solidFill>
                  <a:schemeClr val="tx1"/>
                </a:solidFill>
                <a:effectLst/>
                <a:latin typeface="+mn-lt"/>
                <a:ea typeface="+mn-ea"/>
                <a:cs typeface="+mn-cs"/>
              </a:rPr>
              <a:t>Multilateral Frameworks &amp; Gaps</a:t>
            </a:r>
          </a:p>
          <a:p>
            <a:r>
              <a:rPr lang="en-US" sz="1200" b="1" i="0" kern="1200">
                <a:solidFill>
                  <a:schemeClr val="tx1"/>
                </a:solidFill>
                <a:effectLst/>
                <a:latin typeface="+mn-lt"/>
                <a:ea typeface="+mn-ea"/>
                <a:cs typeface="+mn-cs"/>
              </a:rPr>
              <a:t>🇪🇺 EEAS / EDMO (EU)</a:t>
            </a:r>
          </a:p>
          <a:p>
            <a:r>
              <a:rPr lang="en-US" sz="1200" b="0" i="0" kern="1200">
                <a:solidFill>
                  <a:schemeClr val="tx1"/>
                </a:solidFill>
                <a:effectLst/>
                <a:latin typeface="+mn-lt"/>
                <a:ea typeface="+mn-ea"/>
                <a:cs typeface="+mn-cs"/>
              </a:rPr>
              <a:t>Annual FIMI reports; Rapid Alert System for near-real-time disinformation threat sharing; EU AI Act (2025) first regulatory framework for AI-generated content labelling.</a:t>
            </a:r>
          </a:p>
          <a:p>
            <a:r>
              <a:rPr lang="en-US" sz="1200" b="1" i="0" kern="1200">
                <a:solidFill>
                  <a:schemeClr val="tx1"/>
                </a:solidFill>
                <a:effectLst/>
                <a:latin typeface="+mn-lt"/>
                <a:ea typeface="+mn-ea"/>
                <a:cs typeface="+mn-cs"/>
              </a:rPr>
              <a:t>🌐 ITU / ITU-IMPACT</a:t>
            </a:r>
          </a:p>
          <a:p>
            <a:r>
              <a:rPr lang="en-US" sz="1200" b="0" i="0" kern="1200">
                <a:solidFill>
                  <a:schemeClr val="tx1"/>
                </a:solidFill>
                <a:effectLst/>
                <a:latin typeface="+mn-lt"/>
                <a:ea typeface="+mn-ea"/>
                <a:cs typeface="+mn-cs"/>
              </a:rPr>
              <a:t>157 member countries. Provides threat intelligence, training, and incident response to developing nations. SA is a member. Global Cybersecurity Agenda framework.</a:t>
            </a:r>
          </a:p>
          <a:p>
            <a:r>
              <a:rPr lang="en-US" sz="1200" b="1" i="0" kern="1200">
                <a:solidFill>
                  <a:schemeClr val="tx1"/>
                </a:solidFill>
                <a:effectLst/>
                <a:latin typeface="+mn-lt"/>
                <a:ea typeface="+mn-ea"/>
                <a:cs typeface="+mn-cs"/>
              </a:rPr>
              <a:t>🌍 African Union</a:t>
            </a:r>
          </a:p>
          <a:p>
            <a:r>
              <a:rPr lang="en-US" sz="1200" b="0" i="0" kern="1200">
                <a:solidFill>
                  <a:schemeClr val="tx1"/>
                </a:solidFill>
                <a:effectLst/>
                <a:latin typeface="+mn-lt"/>
                <a:ea typeface="+mn-ea"/>
                <a:cs typeface="+mn-cs"/>
              </a:rPr>
              <a:t>Malabo Convention (2014): only </a:t>
            </a:r>
            <a:r>
              <a:rPr lang="en-US" sz="1200" b="1" i="0" kern="1200">
                <a:solidFill>
                  <a:schemeClr val="tx1"/>
                </a:solidFill>
                <a:effectLst/>
                <a:latin typeface="+mn-lt"/>
                <a:ea typeface="+mn-ea"/>
                <a:cs typeface="+mn-cs"/>
              </a:rPr>
              <a:t>14 of 55 AU members ratified</a:t>
            </a:r>
            <a:r>
              <a:rPr lang="en-US" sz="1200" b="0" i="0" kern="1200">
                <a:solidFill>
                  <a:schemeClr val="tx1"/>
                </a:solidFill>
                <a:effectLst/>
                <a:latin typeface="+mn-lt"/>
                <a:ea typeface="+mn-ea"/>
                <a:cs typeface="+mn-cs"/>
              </a:rPr>
              <a:t> as of 2025. AU-CIRT established 2020. Major governance gap — continental framework exists but enforcement doesn't.</a:t>
            </a:r>
          </a:p>
          <a:p>
            <a:r>
              <a:rPr lang="en-US" sz="1200" b="1" i="0" kern="1200">
                <a:solidFill>
                  <a:schemeClr val="tx1"/>
                </a:solidFill>
                <a:effectLst/>
                <a:latin typeface="+mn-lt"/>
                <a:ea typeface="+mn-ea"/>
                <a:cs typeface="+mn-cs"/>
              </a:rPr>
              <a:t>🔬 OASIS / STIX + FIRST</a:t>
            </a:r>
          </a:p>
          <a:p>
            <a:r>
              <a:rPr lang="en-US" sz="1200" b="0" i="0" kern="1200">
                <a:solidFill>
                  <a:schemeClr val="tx1"/>
                </a:solidFill>
                <a:effectLst/>
                <a:latin typeface="+mn-lt"/>
                <a:ea typeface="+mn-ea"/>
                <a:cs typeface="+mn-cs"/>
              </a:rPr>
              <a:t>OASIS developing STIX extensions to model FIMI alongside traditional cyber threats. FIRST: 700+ global CERTs including AfricaCERT for regional incident coordination.</a:t>
            </a:r>
          </a:p>
          <a:p>
            <a:r>
              <a:rPr lang="en-US" sz="1200" b="1" i="0" kern="1200">
                <a:solidFill>
                  <a:schemeClr val="tx1"/>
                </a:solidFill>
                <a:effectLst/>
                <a:latin typeface="+mn-lt"/>
                <a:ea typeface="+mn-ea"/>
                <a:cs typeface="+mn-cs"/>
              </a:rPr>
              <a:t>The gap:</a:t>
            </a:r>
            <a:r>
              <a:rPr lang="en-US" sz="1200" b="0" i="0" kern="1200">
                <a:solidFill>
                  <a:schemeClr val="tx1"/>
                </a:solidFill>
                <a:effectLst/>
                <a:latin typeface="+mn-lt"/>
                <a:ea typeface="+mn-ea"/>
                <a:cs typeface="+mn-cs"/>
              </a:rPr>
              <a:t> All major frameworks are primarily designed by Global North actors. African civil society (Paradigm Initiative, Research ICT Africa, CIPESA) is building continental capacity — but severely under-resourced relative to the threat scale.</a:t>
            </a:r>
          </a:p>
          <a:p>
            <a:r>
              <a:rPr lang="en-US" sz="1200" b="0" i="0" kern="1200" cap="all">
                <a:solidFill>
                  <a:schemeClr val="tx1"/>
                </a:solidFill>
                <a:effectLst/>
                <a:latin typeface="+mn-lt"/>
                <a:ea typeface="+mn-ea"/>
                <a:cs typeface="+mn-cs"/>
              </a:rPr>
              <a:t>For Security Leaders</a:t>
            </a:r>
          </a:p>
          <a:p>
            <a:r>
              <a:rPr lang="en-US" sz="1200" b="1" i="0" kern="1200">
                <a:solidFill>
                  <a:schemeClr val="tx1"/>
                </a:solidFill>
                <a:effectLst/>
                <a:latin typeface="+mn-lt"/>
                <a:ea typeface="+mn-ea"/>
                <a:cs typeface="+mn-cs"/>
              </a:rPr>
              <a:t>What Firms Can Do</a:t>
            </a:r>
          </a:p>
          <a:p>
            <a:r>
              <a:rPr lang="en-US" sz="1200" b="1" i="0" kern="1200">
                <a:solidFill>
                  <a:schemeClr val="tx1"/>
                </a:solidFill>
                <a:effectLst/>
                <a:latin typeface="+mn-lt"/>
                <a:ea typeface="+mn-ea"/>
                <a:cs typeface="+mn-cs"/>
              </a:rPr>
              <a:t>🔭 Detect the Hybrid</a:t>
            </a:r>
          </a:p>
          <a:p>
            <a:r>
              <a:rPr lang="en-US" sz="1200" b="0" i="0" kern="1200">
                <a:solidFill>
                  <a:schemeClr val="tx1"/>
                </a:solidFill>
                <a:effectLst/>
                <a:latin typeface="+mn-lt"/>
                <a:ea typeface="+mn-ea"/>
                <a:cs typeface="+mn-cs"/>
              </a:rPr>
              <a:t>Wire SOC for narrative threats, not just technical IoCs</a:t>
            </a:r>
          </a:p>
          <a:p>
            <a:r>
              <a:rPr lang="en-US" sz="1200" b="0" i="0" kern="1200">
                <a:solidFill>
                  <a:schemeClr val="tx1"/>
                </a:solidFill>
                <a:effectLst/>
                <a:latin typeface="+mn-lt"/>
                <a:ea typeface="+mn-ea"/>
                <a:cs typeface="+mn-cs"/>
              </a:rPr>
              <a:t>Monitor leak sites &amp; dark web for brand/exec mentions</a:t>
            </a:r>
          </a:p>
          <a:p>
            <a:r>
              <a:rPr lang="en-US" sz="1200" b="0" i="0" kern="1200">
                <a:solidFill>
                  <a:schemeClr val="tx1"/>
                </a:solidFill>
                <a:effectLst/>
                <a:latin typeface="+mn-lt"/>
                <a:ea typeface="+mn-ea"/>
                <a:cs typeface="+mn-cs"/>
              </a:rPr>
              <a:t>Track social media for executive impersonation</a:t>
            </a:r>
          </a:p>
          <a:p>
            <a:r>
              <a:rPr lang="en-US" sz="1200" b="1" i="0" kern="1200">
                <a:solidFill>
                  <a:schemeClr val="tx1"/>
                </a:solidFill>
                <a:effectLst/>
                <a:latin typeface="+mn-lt"/>
                <a:ea typeface="+mn-ea"/>
                <a:cs typeface="+mn-cs"/>
              </a:rPr>
              <a:t>🛡️ Defend the Human Layer</a:t>
            </a:r>
          </a:p>
          <a:p>
            <a:r>
              <a:rPr lang="en-US" sz="1200" b="0" i="0" kern="1200">
                <a:solidFill>
                  <a:schemeClr val="tx1"/>
                </a:solidFill>
                <a:effectLst/>
                <a:latin typeface="+mn-lt"/>
                <a:ea typeface="+mn-ea"/>
                <a:cs typeface="+mn-cs"/>
              </a:rPr>
              <a:t>Help desk: callback on known number + manager approval</a:t>
            </a:r>
          </a:p>
          <a:p>
            <a:r>
              <a:rPr lang="en-US" sz="1200" b="0" i="0" kern="1200">
                <a:solidFill>
                  <a:schemeClr val="tx1"/>
                </a:solidFill>
                <a:effectLst/>
                <a:latin typeface="+mn-lt"/>
                <a:ea typeface="+mn-ea"/>
                <a:cs typeface="+mn-cs"/>
              </a:rPr>
              <a:t>Finance: multi-channel out-of-band for large transfers</a:t>
            </a:r>
          </a:p>
          <a:p>
            <a:r>
              <a:rPr lang="en-US" sz="1200" b="0" i="0" kern="1200">
                <a:solidFill>
                  <a:schemeClr val="tx1"/>
                </a:solidFill>
                <a:effectLst/>
                <a:latin typeface="+mn-lt"/>
                <a:ea typeface="+mn-ea"/>
                <a:cs typeface="+mn-cs"/>
              </a:rPr>
              <a:t>Train staff: one call to a known number saves millions</a:t>
            </a:r>
          </a:p>
          <a:p>
            <a:r>
              <a:rPr lang="en-US" sz="1200" b="1" i="0" kern="1200">
                <a:solidFill>
                  <a:schemeClr val="tx1"/>
                </a:solidFill>
                <a:effectLst/>
                <a:latin typeface="+mn-lt"/>
                <a:ea typeface="+mn-ea"/>
                <a:cs typeface="+mn-cs"/>
              </a:rPr>
              <a:t>💪 Build Resilience</a:t>
            </a:r>
          </a:p>
          <a:p>
            <a:r>
              <a:rPr lang="en-US" sz="1200" b="0" i="0" kern="1200">
                <a:solidFill>
                  <a:schemeClr val="tx1"/>
                </a:solidFill>
                <a:effectLst/>
                <a:latin typeface="+mn-lt"/>
                <a:ea typeface="+mn-ea"/>
                <a:cs typeface="+mn-cs"/>
              </a:rPr>
              <a:t>Offline backups + tested DR plan (Transnet model)</a:t>
            </a:r>
          </a:p>
          <a:p>
            <a:r>
              <a:rPr lang="en-US" sz="1200" b="0" i="0" kern="1200">
                <a:solidFill>
                  <a:schemeClr val="tx1"/>
                </a:solidFill>
                <a:effectLst/>
                <a:latin typeface="+mn-lt"/>
                <a:ea typeface="+mn-ea"/>
                <a:cs typeface="+mn-cs"/>
              </a:rPr>
              <a:t>Segment OT/IT networks</a:t>
            </a:r>
          </a:p>
          <a:p>
            <a:r>
              <a:rPr lang="en-US" sz="1200" b="0" i="0" kern="1200">
                <a:solidFill>
                  <a:schemeClr val="tx1"/>
                </a:solidFill>
                <a:effectLst/>
                <a:latin typeface="+mn-lt"/>
                <a:ea typeface="+mn-ea"/>
                <a:cs typeface="+mn-cs"/>
              </a:rPr>
              <a:t>Annual ransomware tabletop exercises</a:t>
            </a:r>
          </a:p>
          <a:p>
            <a:r>
              <a:rPr lang="en-US" sz="1200" b="1" i="0" kern="1200">
                <a:solidFill>
                  <a:schemeClr val="tx1"/>
                </a:solidFill>
                <a:effectLst/>
                <a:latin typeface="+mn-lt"/>
                <a:ea typeface="+mn-ea"/>
                <a:cs typeface="+mn-cs"/>
              </a:rPr>
              <a:t>🤝 Engage the Ecosystem</a:t>
            </a:r>
          </a:p>
          <a:p>
            <a:r>
              <a:rPr lang="en-US" sz="1200" b="0" i="0" kern="1200">
                <a:solidFill>
                  <a:schemeClr val="tx1"/>
                </a:solidFill>
                <a:effectLst/>
                <a:latin typeface="+mn-lt"/>
                <a:ea typeface="+mn-ea"/>
                <a:cs typeface="+mn-cs"/>
              </a:rPr>
              <a:t>Notify Information Regulator within 72h (POPIA s.22)</a:t>
            </a:r>
          </a:p>
          <a:p>
            <a:r>
              <a:rPr lang="en-US" sz="1200" b="0" i="0" kern="1200">
                <a:solidFill>
                  <a:schemeClr val="tx1"/>
                </a:solidFill>
                <a:effectLst/>
                <a:latin typeface="+mn-lt"/>
                <a:ea typeface="+mn-ea"/>
                <a:cs typeface="+mn-cs"/>
              </a:rPr>
              <a:t>Engage SABRIC, Hawks, AfricaCERT, SAFPS</a:t>
            </a:r>
          </a:p>
          <a:p>
            <a:r>
              <a:rPr lang="en-US" sz="1200" b="0" i="0" kern="1200">
                <a:solidFill>
                  <a:schemeClr val="tx1"/>
                </a:solidFill>
                <a:effectLst/>
                <a:latin typeface="+mn-lt"/>
                <a:ea typeface="+mn-ea"/>
                <a:cs typeface="+mn-cs"/>
              </a:rPr>
              <a:t>Plan crisis comms for the leak-site narrative threat</a:t>
            </a:r>
          </a:p>
          <a:p>
            <a:r>
              <a:rPr lang="en-US" sz="1200" b="0" i="0" kern="1200">
                <a:solidFill>
                  <a:schemeClr val="tx1"/>
                </a:solidFill>
                <a:effectLst/>
                <a:latin typeface="+mn-lt"/>
                <a:ea typeface="+mn-ea"/>
                <a:cs typeface="+mn-cs"/>
              </a:rPr>
              <a:t>Ransomware extortion is simultaneously a technical breach AND a psychological influence operation — your IR plan must address both tracks</a:t>
            </a:r>
          </a:p>
          <a:p>
            <a:r>
              <a:rPr lang="en-US" sz="1200" b="0" i="0" kern="1200" cap="all">
                <a:solidFill>
                  <a:schemeClr val="tx1"/>
                </a:solidFill>
                <a:effectLst/>
                <a:latin typeface="+mn-lt"/>
                <a:ea typeface="+mn-ea"/>
                <a:cs typeface="+mn-cs"/>
              </a:rPr>
              <a:t>Civil Society &amp; Citizens</a:t>
            </a:r>
          </a:p>
          <a:p>
            <a:r>
              <a:rPr lang="en-US" sz="1200" b="1" i="0" kern="1200">
                <a:solidFill>
                  <a:schemeClr val="tx1"/>
                </a:solidFill>
                <a:effectLst/>
                <a:latin typeface="+mn-lt"/>
                <a:ea typeface="+mn-ea"/>
                <a:cs typeface="+mn-cs"/>
              </a:rPr>
              <a:t>What Communities Can Do</a:t>
            </a:r>
          </a:p>
          <a:p>
            <a:r>
              <a:rPr lang="en-US" sz="1200" b="0" i="0" kern="1200">
                <a:solidFill>
                  <a:schemeClr val="tx1"/>
                </a:solidFill>
                <a:effectLst/>
                <a:latin typeface="+mn-lt"/>
                <a:ea typeface="+mn-ea"/>
                <a:cs typeface="+mn-cs"/>
              </a:rPr>
              <a:t>🧠</a:t>
            </a:r>
          </a:p>
          <a:p>
            <a:r>
              <a:rPr lang="en-US" sz="1200" b="1" i="0" kern="1200">
                <a:solidFill>
                  <a:schemeClr val="tx1"/>
                </a:solidFill>
                <a:effectLst/>
                <a:latin typeface="+mn-lt"/>
                <a:ea typeface="+mn-ea"/>
                <a:cs typeface="+mn-cs"/>
              </a:rPr>
              <a:t>Prebunking &gt; Fact-Checking</a:t>
            </a:r>
          </a:p>
          <a:p>
            <a:r>
              <a:rPr lang="en-US" sz="1200" b="0" i="0" kern="1200">
                <a:solidFill>
                  <a:schemeClr val="tx1"/>
                </a:solidFill>
                <a:effectLst/>
                <a:latin typeface="+mn-lt"/>
                <a:ea typeface="+mn-ea"/>
                <a:cs typeface="+mn-cs"/>
              </a:rPr>
              <a:t>Inoculation reduces susceptibility by 20–30%. Must be in local languages: Zulu, Xhosa, Sotho, Hausa, Swahili — not English only.</a:t>
            </a:r>
          </a:p>
          <a:p>
            <a:r>
              <a:rPr lang="en-US" sz="1200" b="0" i="0" kern="1200">
                <a:solidFill>
                  <a:schemeClr val="tx1"/>
                </a:solidFill>
                <a:effectLst/>
                <a:latin typeface="+mn-lt"/>
                <a:ea typeface="+mn-ea"/>
                <a:cs typeface="+mn-cs"/>
              </a:rPr>
              <a:t>👥</a:t>
            </a:r>
          </a:p>
          <a:p>
            <a:r>
              <a:rPr lang="en-US" sz="1200" b="1" i="0" kern="1200">
                <a:solidFill>
                  <a:schemeClr val="tx1"/>
                </a:solidFill>
                <a:effectLst/>
                <a:latin typeface="+mn-lt"/>
                <a:ea typeface="+mn-ea"/>
                <a:cs typeface="+mn-cs"/>
              </a:rPr>
              <a:t>Trusted Community Messengers</a:t>
            </a:r>
          </a:p>
          <a:p>
            <a:r>
              <a:rPr lang="en-US" sz="1200" b="0" i="0" kern="1200">
                <a:solidFill>
                  <a:schemeClr val="tx1"/>
                </a:solidFill>
                <a:effectLst/>
                <a:latin typeface="+mn-lt"/>
                <a:ea typeface="+mn-ea"/>
                <a:cs typeface="+mn-cs"/>
              </a:rPr>
              <a:t>Health disinformation (COVID, polio) countered most effectively by religious leaders and community health workers — not government spokespeople. Same for political disinformation.</a:t>
            </a:r>
          </a:p>
          <a:p>
            <a:r>
              <a:rPr lang="en-US" sz="1200" b="0" i="0" kern="1200">
                <a:solidFill>
                  <a:schemeClr val="tx1"/>
                </a:solidFill>
                <a:effectLst/>
                <a:latin typeface="+mn-lt"/>
                <a:ea typeface="+mn-ea"/>
                <a:cs typeface="+mn-cs"/>
              </a:rPr>
              <a:t>📱</a:t>
            </a:r>
          </a:p>
          <a:p>
            <a:r>
              <a:rPr lang="en-US" sz="1200" b="1" i="0" kern="1200">
                <a:solidFill>
                  <a:schemeClr val="tx1"/>
                </a:solidFill>
                <a:effectLst/>
                <a:latin typeface="+mn-lt"/>
                <a:ea typeface="+mn-ea"/>
                <a:cs typeface="+mn-cs"/>
              </a:rPr>
              <a:t>Platform Accountability</a:t>
            </a:r>
          </a:p>
          <a:p>
            <a:r>
              <a:rPr lang="en-US" sz="1200" b="0" i="0" kern="1200">
                <a:solidFill>
                  <a:schemeClr val="tx1"/>
                </a:solidFill>
                <a:effectLst/>
                <a:latin typeface="+mn-lt"/>
                <a:ea typeface="+mn-ea"/>
                <a:cs typeface="+mn-cs"/>
              </a:rPr>
              <a:t>Media Monitoring Africa, Right2Know successfully pressured platforms. Meta ending 3rd-party fact-checking affects Africa Check (SA-headquartered). Advocate for African-language moderation investment.</a:t>
            </a:r>
          </a:p>
          <a:p>
            <a:r>
              <a:rPr lang="en-US" sz="1200" b="0" i="0" kern="1200">
                <a:solidFill>
                  <a:schemeClr val="tx1"/>
                </a:solidFill>
                <a:effectLst/>
                <a:latin typeface="+mn-lt"/>
                <a:ea typeface="+mn-ea"/>
                <a:cs typeface="+mn-cs"/>
              </a:rPr>
              <a:t>🔐</a:t>
            </a:r>
          </a:p>
          <a:p>
            <a:r>
              <a:rPr lang="en-US" sz="1200" b="1" i="0" kern="1200">
                <a:solidFill>
                  <a:schemeClr val="tx1"/>
                </a:solidFill>
                <a:effectLst/>
                <a:latin typeface="+mn-lt"/>
                <a:ea typeface="+mn-ea"/>
                <a:cs typeface="+mn-cs"/>
              </a:rPr>
              <a:t>Digital Rights &amp; Privacy</a:t>
            </a:r>
          </a:p>
          <a:p>
            <a:r>
              <a:rPr lang="en-US" sz="1200" b="0" i="0" kern="1200">
                <a:solidFill>
                  <a:schemeClr val="tx1"/>
                </a:solidFill>
                <a:effectLst/>
                <a:latin typeface="+mn-lt"/>
                <a:ea typeface="+mn-ea"/>
                <a:cs typeface="+mn-cs"/>
              </a:rPr>
              <a:t>Register with SAFPS if data breached. Teach communities: what to do if your ID is in a breach. SIM-swap fraud is a direct consequence of ransomware group data sales.</a:t>
            </a:r>
          </a:p>
          <a:p>
            <a:r>
              <a:rPr lang="en-US" sz="1200" b="0" i="0" kern="1200">
                <a:solidFill>
                  <a:schemeClr val="tx1"/>
                </a:solidFill>
                <a:effectLst/>
                <a:latin typeface="+mn-lt"/>
                <a:ea typeface="+mn-ea"/>
                <a:cs typeface="+mn-cs"/>
              </a:rPr>
              <a:t>🗳️</a:t>
            </a:r>
          </a:p>
          <a:p>
            <a:r>
              <a:rPr lang="en-US" sz="1200" b="1" i="0" kern="1200">
                <a:solidFill>
                  <a:schemeClr val="tx1"/>
                </a:solidFill>
                <a:effectLst/>
                <a:latin typeface="+mn-lt"/>
                <a:ea typeface="+mn-ea"/>
                <a:cs typeface="+mn-cs"/>
              </a:rPr>
              <a:t>Election Integrity Monitoring</a:t>
            </a:r>
          </a:p>
          <a:p>
            <a:r>
              <a:rPr lang="en-US" sz="1200" b="0" i="0" kern="1200">
                <a:solidFill>
                  <a:schemeClr val="tx1"/>
                </a:solidFill>
                <a:effectLst/>
                <a:latin typeface="+mn-lt"/>
                <a:ea typeface="+mn-ea"/>
                <a:cs typeface="+mn-cs"/>
              </a:rPr>
              <a:t>EISA, SADC Election Support Network, IEC need digital/cyber threat monitoring integrated with traditional election observation. Report CIB activity to platforms and IEC.</a:t>
            </a:r>
          </a:p>
          <a:p>
            <a:r>
              <a:rPr lang="en-US" sz="1200" b="0" i="0" kern="1200">
                <a:solidFill>
                  <a:schemeClr val="tx1"/>
                </a:solidFill>
                <a:effectLst/>
                <a:latin typeface="+mn-lt"/>
                <a:ea typeface="+mn-ea"/>
                <a:cs typeface="+mn-cs"/>
              </a:rPr>
              <a:t>🔬</a:t>
            </a:r>
          </a:p>
          <a:p>
            <a:r>
              <a:rPr lang="en-US" sz="1200" b="1" i="0" kern="1200">
                <a:solidFill>
                  <a:schemeClr val="tx1"/>
                </a:solidFill>
                <a:effectLst/>
                <a:latin typeface="+mn-lt"/>
                <a:ea typeface="+mn-ea"/>
                <a:cs typeface="+mn-cs"/>
              </a:rPr>
              <a:t>Build Local Research Capacity</a:t>
            </a:r>
          </a:p>
          <a:p>
            <a:r>
              <a:rPr lang="en-US" sz="1200" b="0" i="0" kern="1200">
                <a:solidFill>
                  <a:schemeClr val="tx1"/>
                </a:solidFill>
                <a:effectLst/>
                <a:latin typeface="+mn-lt"/>
                <a:ea typeface="+mn-ea"/>
                <a:cs typeface="+mn-cs"/>
              </a:rPr>
              <a:t>Paradigm Initiative, CIPESA, Research ICT Africa building continental capacity. Under-resourced relative to the threat. Support and fund African researchers studying African hybrid threats.</a:t>
            </a:r>
          </a:p>
          <a:p>
            <a:r>
              <a:rPr lang="en-US" sz="1200" b="0" i="0" kern="1200" cap="all">
                <a:solidFill>
                  <a:schemeClr val="tx1"/>
                </a:solidFill>
                <a:effectLst/>
                <a:latin typeface="+mn-lt"/>
                <a:ea typeface="+mn-ea"/>
                <a:cs typeface="+mn-cs"/>
              </a:rPr>
              <a:t>Closing</a:t>
            </a:r>
          </a:p>
          <a:p>
            <a:r>
              <a:rPr lang="en-US" sz="1200" b="1" i="0" kern="1200">
                <a:solidFill>
                  <a:schemeClr val="tx1"/>
                </a:solidFill>
                <a:effectLst/>
                <a:latin typeface="+mn-lt"/>
                <a:ea typeface="+mn-ea"/>
                <a:cs typeface="+mn-cs"/>
              </a:rPr>
              <a:t>Let Freedom Reign</a:t>
            </a:r>
          </a:p>
          <a:p>
            <a:r>
              <a:rPr lang="en-US" sz="1200" b="0" i="1" kern="1200">
                <a:solidFill>
                  <a:schemeClr val="tx1"/>
                </a:solidFill>
                <a:effectLst/>
                <a:latin typeface="+mn-lt"/>
                <a:ea typeface="+mn-ea"/>
                <a:cs typeface="+mn-cs"/>
              </a:rPr>
              <a:t>"Let freedom reign. The sun shall never set on so glorious a human achievement."</a:t>
            </a:r>
          </a:p>
          <a:p>
            <a:r>
              <a:rPr lang="en-US" sz="1200" b="0" i="1" kern="1200">
                <a:solidFill>
                  <a:schemeClr val="tx1"/>
                </a:solidFill>
                <a:effectLst/>
                <a:latin typeface="+mn-lt"/>
                <a:ea typeface="+mn-ea"/>
                <a:cs typeface="+mn-cs"/>
              </a:rPr>
              <a:t>— Nelson Mandela, Inauguration, Pretoria, 10 May 1994</a:t>
            </a:r>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That freedom must extend to the digital age — not just freedom from </a:t>
            </a:r>
            <a:r>
              <a:rPr lang="en-US" sz="1200" b="1" i="0" kern="1200">
                <a:solidFill>
                  <a:schemeClr val="tx1"/>
                </a:solidFill>
                <a:effectLst/>
                <a:latin typeface="+mn-lt"/>
                <a:ea typeface="+mn-ea"/>
                <a:cs typeface="+mn-cs"/>
              </a:rPr>
              <a:t>intrusion</a:t>
            </a:r>
            <a:r>
              <a:rPr lang="en-US" sz="1200" b="0" i="0" kern="1200">
                <a:solidFill>
                  <a:schemeClr val="tx1"/>
                </a:solidFill>
                <a:effectLst/>
                <a:latin typeface="+mn-lt"/>
                <a:ea typeface="+mn-ea"/>
                <a:cs typeface="+mn-cs"/>
              </a:rPr>
              <a:t>, but freedom from </a:t>
            </a:r>
            <a:r>
              <a:rPr lang="en-US" sz="1200" b="1" i="0" kern="1200">
                <a:solidFill>
                  <a:schemeClr val="tx1"/>
                </a:solidFill>
                <a:effectLst/>
                <a:latin typeface="+mn-lt"/>
                <a:ea typeface="+mn-ea"/>
                <a:cs typeface="+mn-cs"/>
              </a:rPr>
              <a:t>manipulation</a:t>
            </a:r>
            <a:r>
              <a:rPr lang="en-US" sz="1200" b="0" i="0" kern="1200">
                <a:solidFill>
                  <a:schemeClr val="tx1"/>
                </a:solidFill>
                <a:effectLst/>
                <a:latin typeface="+mn-lt"/>
                <a:ea typeface="+mn-ea"/>
                <a:cs typeface="+mn-cs"/>
              </a:rPr>
              <a:t>, freedom from </a:t>
            </a:r>
            <a:r>
              <a:rPr lang="en-US" sz="1200" b="1" i="0" kern="1200">
                <a:solidFill>
                  <a:schemeClr val="tx1"/>
                </a:solidFill>
                <a:effectLst/>
                <a:latin typeface="+mn-lt"/>
                <a:ea typeface="+mn-ea"/>
                <a:cs typeface="+mn-cs"/>
              </a:rPr>
              <a:t>abuse</a:t>
            </a:r>
            <a:r>
              <a:rPr lang="en-US" sz="1200" b="0" i="0" kern="1200">
                <a:solidFill>
                  <a:schemeClr val="tx1"/>
                </a:solidFill>
                <a:effectLst/>
                <a:latin typeface="+mn-lt"/>
                <a:ea typeface="+mn-ea"/>
                <a:cs typeface="+mn-cs"/>
              </a:rPr>
              <a:t>, and freedom from </a:t>
            </a:r>
            <a:r>
              <a:rPr lang="en-US" sz="1200" b="1" i="0" kern="1200">
                <a:solidFill>
                  <a:schemeClr val="tx1"/>
                </a:solidFill>
                <a:effectLst/>
                <a:latin typeface="+mn-lt"/>
                <a:ea typeface="+mn-ea"/>
                <a:cs typeface="+mn-cs"/>
              </a:rPr>
              <a:t>exploitation</a:t>
            </a:r>
            <a:r>
              <a:rPr lang="en-US" sz="1200" b="0" i="0" kern="1200">
                <a:solidFill>
                  <a:schemeClr val="tx1"/>
                </a:solidFill>
                <a:effectLst/>
                <a:latin typeface="+mn-lt"/>
                <a:ea typeface="+mn-ea"/>
                <a:cs typeface="+mn-cs"/>
              </a:rPr>
              <a:t>.</a:t>
            </a:r>
          </a:p>
          <a:p>
            <a:r>
              <a:rPr lang="en-US" sz="1200" b="0" i="1" kern="1200">
                <a:solidFill>
                  <a:schemeClr val="tx1"/>
                </a:solidFill>
                <a:effectLst/>
                <a:latin typeface="+mn-lt"/>
                <a:ea typeface="+mn-ea"/>
                <a:cs typeface="+mn-cs"/>
              </a:rPr>
              <a:t>"Freedom in the digital age requires us to defend all four quadrants — not just the one our job title assigns us to."</a:t>
            </a:r>
          </a:p>
          <a:p>
            <a:r>
              <a:rPr lang="en-US" sz="1200" b="0" i="0" kern="1200">
                <a:solidFill>
                  <a:schemeClr val="tx1"/>
                </a:solidFill>
                <a:effectLst/>
                <a:latin typeface="+mn-lt"/>
                <a:ea typeface="+mn-ea"/>
                <a:cs typeface="+mn-cs"/>
              </a:rPr>
              <a:t>INTRUSIONTheft · SabotageMANIPULATIONDisinfo · PropagandaABUSEHate · DoxxingEXPLOITATIONFraud · RansomwareICTWeapon</a:t>
            </a:r>
          </a:p>
          <a:p>
            <a:r>
              <a:rPr lang="en-US" sz="1200" b="0" i="0" kern="1200">
                <a:solidFill>
                  <a:schemeClr val="tx1"/>
                </a:solidFill>
                <a:effectLst/>
                <a:latin typeface="+mn-lt"/>
                <a:ea typeface="+mn-ea"/>
                <a:cs typeface="+mn-cs"/>
              </a:rPr>
              <a:t>‹</a:t>
            </a:r>
          </a:p>
          <a:p>
            <a:r>
              <a:rPr lang="en-US" sz="1200" b="0" i="0" kern="1200">
                <a:solidFill>
                  <a:schemeClr val="tx1"/>
                </a:solidFill>
                <a:effectLst/>
                <a:latin typeface="+mn-lt"/>
                <a:ea typeface="+mn-ea"/>
                <a:cs typeface="+mn-cs"/>
              </a:rPr>
              <a:t>›11 / 19</a:t>
            </a:r>
          </a:p>
          <a:p>
            <a:endParaRPr lang="en-US"/>
          </a:p>
        </p:txBody>
      </p:sp>
      <p:sp>
        <p:nvSpPr>
          <p:cNvPr id="4" name="Slide Number Placeholder 3"/>
          <p:cNvSpPr>
            <a:spLocks noGrp="1"/>
          </p:cNvSpPr>
          <p:nvPr>
            <p:ph type="sldNum" sz="quarter" idx="5"/>
          </p:nvPr>
        </p:nvSpPr>
        <p:spPr/>
        <p:txBody>
          <a:bodyPr/>
          <a:lstStyle/>
          <a:p>
            <a:fld id="{E390A6D5-5873-48D6-B940-43DCCBB5F1C5}" type="slidenum">
              <a:rPr lang="en-US" smtClean="0"/>
              <a:t>11</a:t>
            </a:fld>
            <a:endParaRPr lang="en-US"/>
          </a:p>
        </p:txBody>
      </p:sp>
    </p:spTree>
    <p:extLst>
      <p:ext uri="{BB962C8B-B14F-4D97-AF65-F5344CB8AC3E}">
        <p14:creationId xmlns:p14="http://schemas.microsoft.com/office/powerpoint/2010/main" val="2679594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a:solidFill>
                  <a:schemeClr val="tx1"/>
                </a:solidFill>
                <a:effectLst/>
                <a:latin typeface="+mn-lt"/>
                <a:ea typeface="+mn-ea"/>
                <a:cs typeface="+mn-cs"/>
              </a:rPr>
              <a:t>This is the moral core of the talk — the pivot from abstraction to human consequence.</a:t>
            </a:r>
            <a:r>
              <a:rPr lang="en-US" sz="1200" b="0" i="0" kern="1200">
                <a:solidFill>
                  <a:schemeClr val="tx1"/>
                </a:solidFill>
                <a:effectLst/>
                <a:latin typeface="+mn-lt"/>
                <a:ea typeface="+mn-ea"/>
                <a:cs typeface="+mn-cs"/>
              </a:rPr>
              <a:t> Hybrid operations are not geopolitical chess games. They cause cascading harm to ordinary people who never appear in a threat-intelligence report. | </a:t>
            </a:r>
            <a:r>
              <a:rPr lang="en-US" sz="1200" b="1" i="0" kern="1200">
                <a:solidFill>
                  <a:schemeClr val="tx1"/>
                </a:solidFill>
                <a:effectLst/>
                <a:latin typeface="+mn-lt"/>
                <a:ea typeface="+mn-ea"/>
                <a:cs typeface="+mn-cs"/>
              </a:rPr>
              <a:t>DEADLIEST HARMS (ranked by evidence of mortality):</a:t>
            </a:r>
            <a:r>
              <a:rPr lang="en-US" sz="1200" b="0" i="0" kern="1200">
                <a:solidFill>
                  <a:schemeClr val="tx1"/>
                </a:solidFill>
                <a:effectLst/>
                <a:latin typeface="+mn-lt"/>
                <a:ea typeface="+mn-ea"/>
                <a:cs typeface="+mn-cs"/>
              </a:rPr>
              <a:t> (1) Health disinformation — the single highest-mortality harm category. COVID vaccine disinformation circulated via WhatsApp in SA, Nigeria, Ethiopia, and DRC reduced uptake. But the starkest documented case is the DRC: the 2019–2020 measles epidemic killed 6,000+ people — the deadliest measles outbreak in the world that year — while documented anti-vaccine disinformation campaigns ran simultaneously on WhatsApp. WHO Afro has linked vaccine hesitancy disinformation to preventable child deaths across the continent. (2) Election manipulation → conflict. CIB-enabled false coup justifications and ethnic incitement (Mali, CAR, Ethiopia) have preceded violence. The link between disinformation and ethnic violence has a well-documented history in sub-Saharan Africa. (3) Supply chain disruption. Transnet port shutdown reduced SA container throughput by 60%+. For landlocked countries — Zimbabwe, Zambia, Botswana, Eswatini — whose food and pharmaceutical imports come through SA ports, a week-long shutdown has food-security consequences. | </a:t>
            </a:r>
            <a:r>
              <a:rPr lang="en-US" sz="1200" b="1" i="0" kern="1200">
                <a:solidFill>
                  <a:schemeClr val="tx1"/>
                </a:solidFill>
                <a:effectLst/>
                <a:latin typeface="+mn-lt"/>
                <a:ea typeface="+mn-ea"/>
                <a:cs typeface="+mn-cs"/>
              </a:rPr>
              <a:t>STARK HEALTH EXAMPLE (speak to this directly):</a:t>
            </a:r>
            <a:r>
              <a:rPr lang="en-US" sz="1200" b="0" i="0" kern="1200">
                <a:solidFill>
                  <a:schemeClr val="tx1"/>
                </a:solidFill>
                <a:effectLst/>
                <a:latin typeface="+mn-lt"/>
                <a:ea typeface="+mn-ea"/>
                <a:cs typeface="+mn-cs"/>
              </a:rPr>
              <a:t> The DRC measles case is the one example the audience should leave remembering. A child in Kinshasa or Goma doesn't know they were killed by a disinformation campaign. Their parents were told by a WhatsApp message that the vaccine contains a tracking chip, or causes infertility. That message was created, amplified, and targeted by a network — possibly foreign, possibly domestic, possibly a combination. The platform couldn't moderate it in Lingala or Swahili. The public health system couldn't reach the family in time. 6,000 children. This is what 'information operations' means on this continent. | </a:t>
            </a:r>
            <a:r>
              <a:rPr lang="en-US" sz="1200" b="1" i="0" kern="1200">
                <a:solidFill>
                  <a:schemeClr val="tx1"/>
                </a:solidFill>
                <a:effectLst/>
                <a:latin typeface="+mn-lt"/>
                <a:ea typeface="+mn-ea"/>
                <a:cs typeface="+mn-cs"/>
              </a:rPr>
              <a:t>Financial harm to individuals:</a:t>
            </a:r>
            <a:r>
              <a:rPr lang="en-US" sz="1200" b="0" i="0" kern="1200">
                <a:solidFill>
                  <a:schemeClr val="tx1"/>
                </a:solidFill>
                <a:effectLst/>
                <a:latin typeface="+mn-lt"/>
                <a:ea typeface="+mn-ea"/>
                <a:cs typeface="+mn-cs"/>
              </a:rPr>
              <a:t> TransUnion SA: 3–54M credit records. Enables SIM-swap fraud — a bank account drained overnight, a loan application rejected, a SIM card silenced. Cell C: 7.7M subscribers, 2TB published. MTN: 290M subscribers across 18 countries. | </a:t>
            </a:r>
            <a:r>
              <a:rPr lang="en-US" sz="1200" b="1" i="0" kern="1200">
                <a:solidFill>
                  <a:schemeClr val="tx1"/>
                </a:solidFill>
                <a:effectLst/>
                <a:latin typeface="+mn-lt"/>
                <a:ea typeface="+mn-ea"/>
                <a:cs typeface="+mn-cs"/>
              </a:rPr>
              <a:t>Institutional trust harm:</a:t>
            </a:r>
            <a:r>
              <a:rPr lang="en-US" sz="1200" b="0" i="0" kern="1200">
                <a:solidFill>
                  <a:schemeClr val="tx1"/>
                </a:solidFill>
                <a:effectLst/>
                <a:latin typeface="+mn-lt"/>
                <a:ea typeface="+mn-ea"/>
                <a:cs typeface="+mn-cs"/>
              </a:rPr>
              <a:t> Often the primary goal — not the data, not the ransom, but the erosion of trust in democratic institutions. When citizens believe the government is incompetent or corrupt based on fabricated evidence, the attacker has succeeded even if the intrusion is detected and the ransomware decrypted.</a:t>
            </a:r>
            <a:endParaRPr lang="en-US"/>
          </a:p>
        </p:txBody>
      </p:sp>
      <p:sp>
        <p:nvSpPr>
          <p:cNvPr id="4" name="Slide Number Placeholder 3"/>
          <p:cNvSpPr>
            <a:spLocks noGrp="1"/>
          </p:cNvSpPr>
          <p:nvPr>
            <p:ph type="sldNum" sz="quarter" idx="5"/>
          </p:nvPr>
        </p:nvSpPr>
        <p:spPr/>
        <p:txBody>
          <a:bodyPr/>
          <a:lstStyle/>
          <a:p>
            <a:fld id="{E390A6D5-5873-48D6-B940-43DCCBB5F1C5}" type="slidenum">
              <a:rPr lang="en-US" smtClean="0"/>
              <a:t>12</a:t>
            </a:fld>
            <a:endParaRPr lang="en-US"/>
          </a:p>
        </p:txBody>
      </p:sp>
    </p:spTree>
    <p:extLst>
      <p:ext uri="{BB962C8B-B14F-4D97-AF65-F5344CB8AC3E}">
        <p14:creationId xmlns:p14="http://schemas.microsoft.com/office/powerpoint/2010/main" val="15055360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a:solidFill>
                  <a:schemeClr val="tx1"/>
                </a:solidFill>
                <a:effectLst/>
                <a:latin typeface="+mn-lt"/>
                <a:ea typeface="+mn-ea"/>
                <a:cs typeface="+mn-cs"/>
              </a:rPr>
              <a:t>Africa-specific context:</a:t>
            </a:r>
            <a:r>
              <a:rPr lang="en-US" sz="1200" b="0" i="0" kern="1200">
                <a:solidFill>
                  <a:schemeClr val="tx1"/>
                </a:solidFill>
                <a:effectLst/>
                <a:latin typeface="+mn-lt"/>
                <a:ea typeface="+mn-ea"/>
                <a:cs typeface="+mn-cs"/>
              </a:rPr>
              <a:t> The research dataset contains 20 African incidents; 9 of 20 meet the ≥0.7 fit threshold. The dataset is subject to English-language and Global North reporting bias — incidents in Francophone Africa, Ethiopia, DRC are under-reported. | </a:t>
            </a:r>
            <a:r>
              <a:rPr lang="en-US" sz="1200" b="1" i="0" kern="1200">
                <a:solidFill>
                  <a:schemeClr val="tx1"/>
                </a:solidFill>
                <a:effectLst/>
                <a:latin typeface="+mn-lt"/>
                <a:ea typeface="+mn-ea"/>
                <a:cs typeface="+mn-cs"/>
              </a:rPr>
              <a:t>Two dominant patterns:</a:t>
            </a:r>
            <a:r>
              <a:rPr lang="en-US" sz="1200" b="0" i="0" kern="1200">
                <a:solidFill>
                  <a:schemeClr val="tx1"/>
                </a:solidFill>
                <a:effectLst/>
                <a:latin typeface="+mn-lt"/>
                <a:ea typeface="+mn-ea"/>
                <a:cs typeface="+mn-cs"/>
              </a:rPr>
              <a:t> (1) CIB/fake-account networks — predominantly Russian-linked (Wagner/IRA) running influence operations in Sahel countries (Mali, Burkina Faso, Niger, CAR, Sudan, Madagascar, Mozambique). Type 1c (broad) — no intrusion. Stanford Internet Observatory and EU DisinfoLab have documented these. (2) Double-extortion ransomware against private-sector corporate targets — Type 2f. | </a:t>
            </a:r>
            <a:r>
              <a:rPr lang="en-US" sz="1200" b="1" i="0" kern="1200">
                <a:solidFill>
                  <a:schemeClr val="tx1"/>
                </a:solidFill>
                <a:effectLst/>
                <a:latin typeface="+mn-lt"/>
                <a:ea typeface="+mn-ea"/>
                <a:cs typeface="+mn-cs"/>
              </a:rPr>
              <a:t>Wagner / IRA in Africa:</a:t>
            </a:r>
            <a:r>
              <a:rPr lang="en-US" sz="1200" b="0" i="0" kern="1200">
                <a:solidFill>
                  <a:schemeClr val="tx1"/>
                </a:solidFill>
                <a:effectLst/>
                <a:latin typeface="+mn-lt"/>
                <a:ea typeface="+mn-ea"/>
                <a:cs typeface="+mn-cs"/>
              </a:rPr>
              <a:t> Wagner Group (now 'Africa Corps' post-Prigozhin, August 2023) uses information operations to: legitimise military deployments, delegitimise French/Western presence, protect concession agreements. Stanford Internet Observatory exposed IRA African operations in 2019. | </a:t>
            </a:r>
            <a:r>
              <a:rPr lang="en-US" sz="1200" b="1" i="0" kern="1200">
                <a:solidFill>
                  <a:schemeClr val="tx1"/>
                </a:solidFill>
                <a:effectLst/>
                <a:latin typeface="+mn-lt"/>
                <a:ea typeface="+mn-ea"/>
                <a:cs typeface="+mn-cs"/>
              </a:rPr>
              <a:t>Kenya Airways (AF-9):</a:t>
            </a:r>
            <a:r>
              <a:rPr lang="en-US" sz="1200" b="0" i="0" kern="1200">
                <a:solidFill>
                  <a:schemeClr val="tx1"/>
                </a:solidFill>
                <a:effectLst/>
                <a:latin typeface="+mn-lt"/>
                <a:ea typeface="+mn-ea"/>
                <a:cs typeface="+mn-cs"/>
              </a:rPr>
              <a:t> RansomEXX extorted Kenya Airways Dec 2023–Jan 2024. Passport copies, police reports, accident records published. KQ declined to pay. | </a:t>
            </a:r>
            <a:r>
              <a:rPr lang="en-US" sz="1200" b="1" i="0" kern="1200">
                <a:solidFill>
                  <a:schemeClr val="tx1"/>
                </a:solidFill>
                <a:effectLst/>
                <a:latin typeface="+mn-lt"/>
                <a:ea typeface="+mn-ea"/>
                <a:cs typeface="+mn-cs"/>
              </a:rPr>
              <a:t>South Africa accounts for 9 of 20 African cases</a:t>
            </a:r>
            <a:r>
              <a:rPr lang="en-US" sz="1200" b="0" i="0" kern="1200">
                <a:solidFill>
                  <a:schemeClr val="tx1"/>
                </a:solidFill>
                <a:effectLst/>
                <a:latin typeface="+mn-lt"/>
                <a:ea typeface="+mn-ea"/>
                <a:cs typeface="+mn-cs"/>
              </a:rPr>
              <a:t> — the most of any African country. See next slide for the three SA attack tracks.</a:t>
            </a:r>
            <a:endParaRPr lang="en-US"/>
          </a:p>
        </p:txBody>
      </p:sp>
      <p:sp>
        <p:nvSpPr>
          <p:cNvPr id="4" name="Slide Number Placeholder 3"/>
          <p:cNvSpPr>
            <a:spLocks noGrp="1"/>
          </p:cNvSpPr>
          <p:nvPr>
            <p:ph type="sldNum" sz="quarter" idx="5"/>
          </p:nvPr>
        </p:nvSpPr>
        <p:spPr/>
        <p:txBody>
          <a:bodyPr/>
          <a:lstStyle/>
          <a:p>
            <a:fld id="{E390A6D5-5873-48D6-B940-43DCCBB5F1C5}" type="slidenum">
              <a:rPr lang="en-US" smtClean="0"/>
              <a:t>13</a:t>
            </a:fld>
            <a:endParaRPr lang="en-US"/>
          </a:p>
        </p:txBody>
      </p:sp>
    </p:spTree>
    <p:extLst>
      <p:ext uri="{BB962C8B-B14F-4D97-AF65-F5344CB8AC3E}">
        <p14:creationId xmlns:p14="http://schemas.microsoft.com/office/powerpoint/2010/main" val="2967377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a:solidFill>
                  <a:schemeClr val="tx1"/>
                </a:solidFill>
                <a:effectLst/>
                <a:latin typeface="+mn-lt"/>
                <a:ea typeface="+mn-ea"/>
                <a:cs typeface="+mn-cs"/>
              </a:rPr>
              <a:t>South Africa accounts for 9 of 20 African cases in the dataset</a:t>
            </a:r>
            <a:r>
              <a:rPr lang="en-US" sz="1200" b="0" i="0" kern="1200">
                <a:solidFill>
                  <a:schemeClr val="tx1"/>
                </a:solidFill>
                <a:effectLst/>
                <a:latin typeface="+mn-lt"/>
                <a:ea typeface="+mn-ea"/>
                <a:cs typeface="+mn-cs"/>
              </a:rPr>
              <a:t> — the most of any African country. It is at the intersection of three distinct attack tracks. | </a:t>
            </a:r>
            <a:r>
              <a:rPr lang="en-US" sz="1200" b="1" i="0" kern="1200">
                <a:solidFill>
                  <a:schemeClr val="tx1"/>
                </a:solidFill>
                <a:effectLst/>
                <a:latin typeface="+mn-lt"/>
                <a:ea typeface="+mn-ea"/>
                <a:cs typeface="+mn-cs"/>
              </a:rPr>
              <a:t>Track 1 — Criminal ransomware:</a:t>
            </a:r>
            <a:r>
              <a:rPr lang="en-US" sz="1200" b="0" i="0" kern="1200">
                <a:solidFill>
                  <a:schemeClr val="tx1"/>
                </a:solidFill>
                <a:effectLst/>
                <a:latin typeface="+mn-lt"/>
                <a:ea typeface="+mn-ea"/>
                <a:cs typeface="+mn-cs"/>
              </a:rPr>
              <a:t> Transnet (July 2021): Death Kitty/HelloKitty. Ports at 10% capacity. 60%+ of SA container traffic disrupted. Force majeure declared. No ransom paid. Active Directory rebuilt. TransUnion (March 2022): brute-forced with 'Password'. 54M records claimed, 3M confirmed. Banks approached for 'insurance fees'. Cell C (2024): RansomHouse. 7.7M subscribers, 2TB published. MTN (April 2025): 290M subscribers across 18 countries. Astral Foods (March 2025): R20M profit hit. | </a:t>
            </a:r>
            <a:r>
              <a:rPr lang="en-US" sz="1200" b="1" i="0" kern="1200">
                <a:solidFill>
                  <a:schemeClr val="tx1"/>
                </a:solidFill>
                <a:effectLst/>
                <a:latin typeface="+mn-lt"/>
                <a:ea typeface="+mn-ea"/>
                <a:cs typeface="+mn-cs"/>
              </a:rPr>
              <a:t>Track 2 — Foreign state influence:</a:t>
            </a:r>
            <a:r>
              <a:rPr lang="en-US" sz="1200" b="0" i="0" kern="1200">
                <a:solidFill>
                  <a:schemeClr val="tx1"/>
                </a:solidFill>
                <a:effectLst/>
                <a:latin typeface="+mn-lt"/>
                <a:ea typeface="+mn-ea"/>
                <a:cs typeface="+mn-cs"/>
              </a:rPr>
              <a:t> Russian-linked CIB targeting SA elections (2019, 2024). SA's ICJ genocide case against Israel triggered Israeli information operations (DFRLab documented). Trump/AfriForum coercive narrative amplified on social media. BRICS non-alignment makes SA a target for multiple competing influence tracks. | </a:t>
            </a:r>
            <a:r>
              <a:rPr lang="en-US" sz="1200" b="1" i="0" kern="1200">
                <a:solidFill>
                  <a:schemeClr val="tx1"/>
                </a:solidFill>
                <a:effectLst/>
                <a:latin typeface="+mn-lt"/>
                <a:ea typeface="+mn-ea"/>
                <a:cs typeface="+mn-cs"/>
              </a:rPr>
              <a:t>Track 3 — Domestic political:</a:t>
            </a:r>
            <a:r>
              <a:rPr lang="en-US" sz="1200" b="0" i="0" kern="1200">
                <a:solidFill>
                  <a:schemeClr val="tx1"/>
                </a:solidFill>
                <a:effectLst/>
                <a:latin typeface="+mn-lt"/>
                <a:ea typeface="+mn-ea"/>
                <a:cs typeface="+mn-cs"/>
              </a:rPr>
              <a:t> Bell Pottinger's 'white monopoly capital' CIB campaign for the Guptas (2016–17) — textbook domestic influence-as-a-service. Exposed by PRCA 2017; Bell Pottinger expelled and dissolved. Paid influencer networks across political parties today. WhatsApp closed-chain amplification. | </a:t>
            </a:r>
            <a:r>
              <a:rPr lang="en-US" sz="1200" b="1" i="0" kern="1200">
                <a:solidFill>
                  <a:schemeClr val="tx1"/>
                </a:solidFill>
                <a:effectLst/>
                <a:latin typeface="+mn-lt"/>
                <a:ea typeface="+mn-ea"/>
                <a:cs typeface="+mn-cs"/>
              </a:rPr>
              <a:t>SA is unique:</a:t>
            </a:r>
            <a:r>
              <a:rPr lang="en-US" sz="1200" b="0" i="0" kern="1200">
                <a:solidFill>
                  <a:schemeClr val="tx1"/>
                </a:solidFill>
                <a:effectLst/>
                <a:latin typeface="+mn-lt"/>
                <a:ea typeface="+mn-ea"/>
                <a:cs typeface="+mn-cs"/>
              </a:rPr>
              <a:t> Only country in this analysis simultaneously targeted by all three tracks — requiring three different institutional responses.</a:t>
            </a:r>
            <a:endParaRPr lang="en-US"/>
          </a:p>
        </p:txBody>
      </p:sp>
      <p:sp>
        <p:nvSpPr>
          <p:cNvPr id="4" name="Slide Number Placeholder 3"/>
          <p:cNvSpPr>
            <a:spLocks noGrp="1"/>
          </p:cNvSpPr>
          <p:nvPr>
            <p:ph type="sldNum" sz="quarter" idx="5"/>
          </p:nvPr>
        </p:nvSpPr>
        <p:spPr/>
        <p:txBody>
          <a:bodyPr/>
          <a:lstStyle/>
          <a:p>
            <a:fld id="{E390A6D5-5873-48D6-B940-43DCCBB5F1C5}" type="slidenum">
              <a:rPr lang="en-US" smtClean="0"/>
              <a:t>14</a:t>
            </a:fld>
            <a:endParaRPr lang="en-US"/>
          </a:p>
        </p:txBody>
      </p:sp>
    </p:spTree>
    <p:extLst>
      <p:ext uri="{BB962C8B-B14F-4D97-AF65-F5344CB8AC3E}">
        <p14:creationId xmlns:p14="http://schemas.microsoft.com/office/powerpoint/2010/main" val="23613111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a:solidFill>
                  <a:schemeClr val="tx1"/>
                </a:solidFill>
                <a:effectLst/>
                <a:latin typeface="+mn-lt"/>
                <a:ea typeface="+mn-ea"/>
                <a:cs typeface="+mn-cs"/>
              </a:rPr>
              <a:t>The critical framing for the response section — and the hardest thing for audiences to internalise.</a:t>
            </a:r>
            <a:r>
              <a:rPr lang="en-US" sz="1200" b="0" i="0" kern="1200">
                <a:solidFill>
                  <a:schemeClr val="tx1"/>
                </a:solidFill>
                <a:effectLst/>
                <a:latin typeface="+mn-lt"/>
                <a:ea typeface="+mn-ea"/>
                <a:cs typeface="+mn-cs"/>
              </a:rPr>
              <a:t> One of the most common mistakes in policy response to hybrid threats is treating them as a single problem requiring a single solution. They are not. | </a:t>
            </a:r>
            <a:r>
              <a:rPr lang="en-US" sz="1200" b="1" i="0" kern="1200">
                <a:solidFill>
                  <a:schemeClr val="tx1"/>
                </a:solidFill>
                <a:effectLst/>
                <a:latin typeface="+mn-lt"/>
                <a:ea typeface="+mn-ea"/>
                <a:cs typeface="+mn-cs"/>
              </a:rPr>
              <a:t>The three-track, three-response model:</a:t>
            </a:r>
            <a:r>
              <a:rPr lang="en-US" sz="1200" b="0" i="0" kern="1200">
                <a:solidFill>
                  <a:schemeClr val="tx1"/>
                </a:solidFill>
                <a:effectLst/>
                <a:latin typeface="+mn-lt"/>
                <a:ea typeface="+mn-ea"/>
                <a:cs typeface="+mn-cs"/>
              </a:rPr>
              <a:t> Criminal ransomware is primarily a cybersecurity, law-enforcement, and business-continuity problem — it needs SOC analysts, incident responders, the Hawks (DPCI cybercrime unit), and the Information Regulator. Foreign state influence is a geopolitical, diplomatic, and societal resilience problem — it needs DIRCO, SSA, the Electoral Commission (IEC), civil-society fact-checkers, and platform-policy engagement. Domestic commercial disinformation is a media-freedom, electoral-regulation, and platform-governance problem — it needs the IEC, Press Ombudsman, SANEF, Africa Check, and ICASA. | </a:t>
            </a:r>
            <a:r>
              <a:rPr lang="en-US" sz="1200" b="1" i="0" kern="1200">
                <a:solidFill>
                  <a:schemeClr val="tx1"/>
                </a:solidFill>
                <a:effectLst/>
                <a:latin typeface="+mn-lt"/>
                <a:ea typeface="+mn-ea"/>
                <a:cs typeface="+mn-cs"/>
              </a:rPr>
              <a:t>The risk of mismatched responses:</a:t>
            </a:r>
            <a:r>
              <a:rPr lang="en-US" sz="1200" b="0" i="0" kern="1200">
                <a:solidFill>
                  <a:schemeClr val="tx1"/>
                </a:solidFill>
                <a:effectLst/>
                <a:latin typeface="+mn-lt"/>
                <a:ea typeface="+mn-ea"/>
                <a:cs typeface="+mn-cs"/>
              </a:rPr>
              <a:t> A cybersecurity tool deployed against a CIB influence campaign achieves nothing — you cannot firewall a WhatsApp narrative. A fact-checking response against ransomware achieves nothing. A diplomatic demarche against a criminal RaaS affiliate achieves nothing. Matching response to threat type is the fundamental discipline. | </a:t>
            </a:r>
            <a:r>
              <a:rPr lang="en-US" sz="1200" b="1" i="0" kern="1200">
                <a:solidFill>
                  <a:schemeClr val="tx1"/>
                </a:solidFill>
                <a:effectLst/>
                <a:latin typeface="+mn-lt"/>
                <a:ea typeface="+mn-ea"/>
                <a:cs typeface="+mn-cs"/>
              </a:rPr>
              <a:t>SA is unique — and this is both a burden and an opportunity:</a:t>
            </a:r>
            <a:r>
              <a:rPr lang="en-US" sz="1200" b="0" i="0" kern="1200">
                <a:solidFill>
                  <a:schemeClr val="tx1"/>
                </a:solidFill>
                <a:effectLst/>
                <a:latin typeface="+mn-lt"/>
                <a:ea typeface="+mn-ea"/>
                <a:cs typeface="+mn-cs"/>
              </a:rPr>
              <a:t> South Africa is the only country in this analysis facing all three tracks simultaneously. That means it needs all three response frameworks running in parallel — and most organisations are only resourced for one. But it also means SA has the motivation, the expertise, and the scale to build the institutional frameworks that the rest of Africa can learn from. | </a:t>
            </a:r>
            <a:r>
              <a:rPr lang="en-US" sz="1200" b="1" i="0" kern="1200">
                <a:solidFill>
                  <a:schemeClr val="tx1"/>
                </a:solidFill>
                <a:effectLst/>
                <a:latin typeface="+mn-lt"/>
                <a:ea typeface="+mn-ea"/>
                <a:cs typeface="+mn-cs"/>
              </a:rPr>
              <a:t>Practical action for this audience:</a:t>
            </a:r>
            <a:r>
              <a:rPr lang="en-US" sz="1200" b="0" i="0" kern="1200">
                <a:solidFill>
                  <a:schemeClr val="tx1"/>
                </a:solidFill>
                <a:effectLst/>
                <a:latin typeface="+mn-lt"/>
                <a:ea typeface="+mn-ea"/>
                <a:cs typeface="+mn-cs"/>
              </a:rPr>
              <a:t> Step 1: map which of the three tracks your organisation faces. Step 2: ensure your IR plan spans technical (SOC/IR), legal (POPIA s.22, SABRIC, Hawks), and strategic (crisis comms, stakeholder management) dimensions. Step 3: engage the wider ecosystem — you cannot win alone. | </a:t>
            </a:r>
            <a:r>
              <a:rPr lang="en-US" sz="1200" b="1" i="0" kern="1200">
                <a:solidFill>
                  <a:schemeClr val="tx1"/>
                </a:solidFill>
                <a:effectLst/>
                <a:latin typeface="+mn-lt"/>
                <a:ea typeface="+mn-ea"/>
                <a:cs typeface="+mn-cs"/>
              </a:rPr>
              <a:t>Key SA institutions:</a:t>
            </a:r>
            <a:r>
              <a:rPr lang="en-US" sz="1200" b="0" i="0" kern="1200">
                <a:solidFill>
                  <a:schemeClr val="tx1"/>
                </a:solidFill>
                <a:effectLst/>
                <a:latin typeface="+mn-lt"/>
                <a:ea typeface="+mn-ea"/>
                <a:cs typeface="+mn-cs"/>
              </a:rPr>
              <a:t> POPIA s.22 = 72-hour notification obligation to Information Regulator. SABRIC = South African Banking Risk Centre. AfricaCERT = regional CERT coordination. SAFPS = Southern Africa Fraud Prevention Service — free consumer protective registration for identity-fraud victims.</a:t>
            </a:r>
            <a:endParaRPr lang="en-US"/>
          </a:p>
        </p:txBody>
      </p:sp>
      <p:sp>
        <p:nvSpPr>
          <p:cNvPr id="4" name="Slide Number Placeholder 3"/>
          <p:cNvSpPr>
            <a:spLocks noGrp="1"/>
          </p:cNvSpPr>
          <p:nvPr>
            <p:ph type="sldNum" sz="quarter" idx="5"/>
          </p:nvPr>
        </p:nvSpPr>
        <p:spPr/>
        <p:txBody>
          <a:bodyPr/>
          <a:lstStyle/>
          <a:p>
            <a:fld id="{E390A6D5-5873-48D6-B940-43DCCBB5F1C5}" type="slidenum">
              <a:rPr lang="en-US" smtClean="0"/>
              <a:t>15</a:t>
            </a:fld>
            <a:endParaRPr lang="en-US"/>
          </a:p>
        </p:txBody>
      </p:sp>
    </p:spTree>
    <p:extLst>
      <p:ext uri="{BB962C8B-B14F-4D97-AF65-F5344CB8AC3E}">
        <p14:creationId xmlns:p14="http://schemas.microsoft.com/office/powerpoint/2010/main" val="39368658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a:solidFill>
                  <a:schemeClr val="tx1"/>
                </a:solidFill>
                <a:effectLst/>
                <a:latin typeface="+mn-lt"/>
                <a:ea typeface="+mn-ea"/>
                <a:cs typeface="+mn-cs"/>
              </a:rPr>
              <a:t>Multilateral frameworks — what exists and what it delivers:</a:t>
            </a:r>
            <a:r>
              <a:rPr lang="en-US" sz="1200" b="0" i="0" kern="1200">
                <a:solidFill>
                  <a:schemeClr val="tx1"/>
                </a:solidFill>
                <a:effectLst/>
                <a:latin typeface="+mn-lt"/>
                <a:ea typeface="+mn-ea"/>
                <a:cs typeface="+mn-cs"/>
              </a:rPr>
              <a:t> | </a:t>
            </a:r>
            <a:r>
              <a:rPr lang="en-US" sz="1200" b="1" i="0" kern="1200">
                <a:solidFill>
                  <a:schemeClr val="tx1"/>
                </a:solidFill>
                <a:effectLst/>
                <a:latin typeface="+mn-lt"/>
                <a:ea typeface="+mn-ea"/>
                <a:cs typeface="+mn-cs"/>
              </a:rPr>
              <a:t>EEAS / EDMO (EU):</a:t>
            </a:r>
            <a:r>
              <a:rPr lang="en-US" sz="1200" b="0" i="0" kern="1200">
                <a:solidFill>
                  <a:schemeClr val="tx1"/>
                </a:solidFill>
                <a:effectLst/>
                <a:latin typeface="+mn-lt"/>
                <a:ea typeface="+mn-ea"/>
                <a:cs typeface="+mn-cs"/>
              </a:rPr>
              <a:t> European External Action Service publishes annual FIMI reports. European Digital Media Observatory coordinates fact-checkers across EU. Rapid Alert System (RAS) enables member states to share disinformation threat intelligence in near-real time. EU AI Act (2025) includes provisions on AI-generated content labelling — first major regulatory framework. | </a:t>
            </a:r>
            <a:r>
              <a:rPr lang="en-US" sz="1200" b="1" i="0" kern="1200">
                <a:solidFill>
                  <a:schemeClr val="tx1"/>
                </a:solidFill>
                <a:effectLst/>
                <a:latin typeface="+mn-lt"/>
                <a:ea typeface="+mn-ea"/>
                <a:cs typeface="+mn-cs"/>
              </a:rPr>
              <a:t>ITU (UN):</a:t>
            </a:r>
            <a:r>
              <a:rPr lang="en-US" sz="1200" b="0" i="0" kern="1200">
                <a:solidFill>
                  <a:schemeClr val="tx1"/>
                </a:solidFill>
                <a:effectLst/>
                <a:latin typeface="+mn-lt"/>
                <a:ea typeface="+mn-ea"/>
                <a:cs typeface="+mn-cs"/>
              </a:rPr>
              <a:t> International Telecommunication Union's Global Cybersecurity Agenda. ITU-IMPACT (International Multilateral Partnership Against Cyber Threats) — 157 member countries. Provides threat intelligence, training, and incident response support to developing nations. SA is a member. | </a:t>
            </a:r>
            <a:r>
              <a:rPr lang="en-US" sz="1200" b="1" i="0" kern="1200">
                <a:solidFill>
                  <a:schemeClr val="tx1"/>
                </a:solidFill>
                <a:effectLst/>
                <a:latin typeface="+mn-lt"/>
                <a:ea typeface="+mn-ea"/>
                <a:cs typeface="+mn-cs"/>
              </a:rPr>
              <a:t>African Union:</a:t>
            </a:r>
            <a:r>
              <a:rPr lang="en-US" sz="1200" b="0" i="0" kern="1200">
                <a:solidFill>
                  <a:schemeClr val="tx1"/>
                </a:solidFill>
                <a:effectLst/>
                <a:latin typeface="+mn-lt"/>
                <a:ea typeface="+mn-ea"/>
                <a:cs typeface="+mn-cs"/>
              </a:rPr>
              <a:t> Malabo Convention (AU Convention on Cybersecurity and Personal Data Protection, 2014) — only 14 of 55 AU members have ratified as of 2025. This is a significant governance gap. The AU's Computer Incident Response Team (AU-CIRT) was established in 2020. | </a:t>
            </a:r>
            <a:r>
              <a:rPr lang="en-US" sz="1200" b="1" i="0" kern="1200">
                <a:solidFill>
                  <a:schemeClr val="tx1"/>
                </a:solidFill>
                <a:effectLst/>
                <a:latin typeface="+mn-lt"/>
                <a:ea typeface="+mn-ea"/>
                <a:cs typeface="+mn-cs"/>
              </a:rPr>
              <a:t>OASIS Open:</a:t>
            </a:r>
            <a:r>
              <a:rPr lang="en-US" sz="1200" b="0" i="0" kern="1200">
                <a:solidFill>
                  <a:schemeClr val="tx1"/>
                </a:solidFill>
                <a:effectLst/>
                <a:latin typeface="+mn-lt"/>
                <a:ea typeface="+mn-ea"/>
                <a:cs typeface="+mn-cs"/>
              </a:rPr>
              <a:t> The STIX/TAXII standards used to share cyber threat intelligence globally. OASIS is now developing STIX extensions to model FIMI/influence operations alongside traditional cyber threats — directly relevant to this audience. | </a:t>
            </a:r>
            <a:r>
              <a:rPr lang="en-US" sz="1200" b="1" i="0" kern="1200">
                <a:solidFill>
                  <a:schemeClr val="tx1"/>
                </a:solidFill>
                <a:effectLst/>
                <a:latin typeface="+mn-lt"/>
                <a:ea typeface="+mn-ea"/>
                <a:cs typeface="+mn-cs"/>
              </a:rPr>
              <a:t>FIRST (Forum of Incident Response and Security Teams):</a:t>
            </a:r>
            <a:r>
              <a:rPr lang="en-US" sz="1200" b="0" i="0" kern="1200">
                <a:solidFill>
                  <a:schemeClr val="tx1"/>
                </a:solidFill>
                <a:effectLst/>
                <a:latin typeface="+mn-lt"/>
                <a:ea typeface="+mn-ea"/>
                <a:cs typeface="+mn-cs"/>
              </a:rPr>
              <a:t> Global network of 700+ CERTs and IRTs. Provides protocols for coordinated disclosure and incident sharing. AfricaCERT is affiliated. | </a:t>
            </a:r>
            <a:r>
              <a:rPr lang="en-US" sz="1200" b="1" i="0" kern="1200">
                <a:solidFill>
                  <a:schemeClr val="tx1"/>
                </a:solidFill>
                <a:effectLst/>
                <a:latin typeface="+mn-lt"/>
                <a:ea typeface="+mn-ea"/>
                <a:cs typeface="+mn-cs"/>
              </a:rPr>
              <a:t>G7 Rapid Response Mechanism:</a:t>
            </a:r>
            <a:r>
              <a:rPr lang="en-US" sz="1200" b="0" i="0" kern="1200">
                <a:solidFill>
                  <a:schemeClr val="tx1"/>
                </a:solidFill>
                <a:effectLst/>
                <a:latin typeface="+mn-lt"/>
                <a:ea typeface="+mn-ea"/>
                <a:cs typeface="+mn-cs"/>
              </a:rPr>
              <a:t> Shares election-integrity threat intelligence among G7 governments. SA is not G7 but benefits from shared frameworks via bilateral relationships. | </a:t>
            </a:r>
            <a:r>
              <a:rPr lang="en-US" sz="1200" b="1" i="0" kern="1200">
                <a:solidFill>
                  <a:schemeClr val="tx1"/>
                </a:solidFill>
                <a:effectLst/>
                <a:latin typeface="+mn-lt"/>
                <a:ea typeface="+mn-ea"/>
                <a:cs typeface="+mn-cs"/>
              </a:rPr>
              <a:t>The gap:</a:t>
            </a:r>
            <a:r>
              <a:rPr lang="en-US" sz="1200" b="0" i="0" kern="1200">
                <a:solidFill>
                  <a:schemeClr val="tx1"/>
                </a:solidFill>
                <a:effectLst/>
                <a:latin typeface="+mn-lt"/>
                <a:ea typeface="+mn-ea"/>
                <a:cs typeface="+mn-cs"/>
              </a:rPr>
              <a:t> All these frameworks are primarily designed for and by Global North actors. African civil society organisations like Paradigm Initiative, Research ICT Africa, and CIPESA (Collaboration on International ICT Policy for East and Southern Africa) are building continental capacity — but under-resourced relative to the threat.</a:t>
            </a:r>
            <a:endParaRPr lang="en-US"/>
          </a:p>
        </p:txBody>
      </p:sp>
      <p:sp>
        <p:nvSpPr>
          <p:cNvPr id="4" name="Slide Number Placeholder 3"/>
          <p:cNvSpPr>
            <a:spLocks noGrp="1"/>
          </p:cNvSpPr>
          <p:nvPr>
            <p:ph type="sldNum" sz="quarter" idx="5"/>
          </p:nvPr>
        </p:nvSpPr>
        <p:spPr/>
        <p:txBody>
          <a:bodyPr/>
          <a:lstStyle/>
          <a:p>
            <a:fld id="{E390A6D5-5873-48D6-B940-43DCCBB5F1C5}" type="slidenum">
              <a:rPr lang="en-US" smtClean="0"/>
              <a:t>16</a:t>
            </a:fld>
            <a:endParaRPr lang="en-US"/>
          </a:p>
        </p:txBody>
      </p:sp>
    </p:spTree>
    <p:extLst>
      <p:ext uri="{BB962C8B-B14F-4D97-AF65-F5344CB8AC3E}">
        <p14:creationId xmlns:p14="http://schemas.microsoft.com/office/powerpoint/2010/main" val="32724734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a:solidFill>
                  <a:schemeClr val="tx1"/>
                </a:solidFill>
                <a:effectLst/>
                <a:latin typeface="+mn-lt"/>
                <a:ea typeface="+mn-ea"/>
                <a:cs typeface="+mn-cs"/>
              </a:rPr>
              <a:t>Practical steps for security leaders at the firm level.</a:t>
            </a:r>
            <a:r>
              <a:rPr lang="en-US" sz="1200" b="0" i="0" kern="1200">
                <a:solidFill>
                  <a:schemeClr val="tx1"/>
                </a:solidFill>
                <a:effectLst/>
                <a:latin typeface="+mn-lt"/>
                <a:ea typeface="+mn-ea"/>
                <a:cs typeface="+mn-cs"/>
              </a:rPr>
              <a:t> This slide is designed for the CISO/CSO/security practitioner audience. | </a:t>
            </a:r>
            <a:r>
              <a:rPr lang="en-US" sz="1200" b="1" i="0" kern="1200">
                <a:solidFill>
                  <a:schemeClr val="tx1"/>
                </a:solidFill>
                <a:effectLst/>
                <a:latin typeface="+mn-lt"/>
                <a:ea typeface="+mn-ea"/>
                <a:cs typeface="+mn-cs"/>
              </a:rPr>
              <a:t>Detect the hybrid:</a:t>
            </a:r>
            <a:r>
              <a:rPr lang="en-US" sz="1200" b="0" i="0" kern="1200">
                <a:solidFill>
                  <a:schemeClr val="tx1"/>
                </a:solidFill>
                <a:effectLst/>
                <a:latin typeface="+mn-lt"/>
                <a:ea typeface="+mn-ea"/>
                <a:cs typeface="+mn-cs"/>
              </a:rPr>
              <a:t> Most SOCs are wired to detect technical indicators — malware signatures, network anomalies. They are NOT wired to detect influence operations or social engineering precursors. You need to instrument your threat intelligence for narrative threats, not just technical IoCs. Monitor leak sites, dark web forums, and social media for brand and executive mentions. | </a:t>
            </a:r>
            <a:r>
              <a:rPr lang="en-US" sz="1200" b="1" i="0" kern="1200">
                <a:solidFill>
                  <a:schemeClr val="tx1"/>
                </a:solidFill>
                <a:effectLst/>
                <a:latin typeface="+mn-lt"/>
                <a:ea typeface="+mn-ea"/>
                <a:cs typeface="+mn-cs"/>
              </a:rPr>
              <a:t>Defend the human layer:</a:t>
            </a:r>
            <a:r>
              <a:rPr lang="en-US" sz="1200" b="0" i="0" kern="1200">
                <a:solidFill>
                  <a:schemeClr val="tx1"/>
                </a:solidFill>
                <a:effectLst/>
                <a:latin typeface="+mn-lt"/>
                <a:ea typeface="+mn-ea"/>
                <a:cs typeface="+mn-cs"/>
              </a:rPr>
              <a:t> MGM and Arup both show that the human was the vulnerability, not the technology. Help-desk authentication: require a manager callback on a known number + a second factor for any credential reset. Financial authorisation: multi-channel out-of-band verification for large transfers (Arup's lesson). Train staff to verify video calls independently — one callback to a known mobile number would have saved $25.6M. | </a:t>
            </a:r>
            <a:r>
              <a:rPr lang="en-US" sz="1200" b="1" i="0" kern="1200">
                <a:solidFill>
                  <a:schemeClr val="tx1"/>
                </a:solidFill>
                <a:effectLst/>
                <a:latin typeface="+mn-lt"/>
                <a:ea typeface="+mn-ea"/>
                <a:cs typeface="+mn-cs"/>
              </a:rPr>
              <a:t>Build resilience:</a:t>
            </a:r>
            <a:r>
              <a:rPr lang="en-US" sz="1200" b="0" i="0" kern="1200">
                <a:solidFill>
                  <a:schemeClr val="tx1"/>
                </a:solidFill>
                <a:effectLst/>
                <a:latin typeface="+mn-lt"/>
                <a:ea typeface="+mn-ea"/>
                <a:cs typeface="+mn-cs"/>
              </a:rPr>
              <a:t> Transnet recovered without paying ransom because they had and executed a disaster-recovery plan. Active Directory rebuild in 2 weeks. Offline backups, OT/IT segmentation, annual tabletop exercises. | </a:t>
            </a:r>
            <a:r>
              <a:rPr lang="en-US" sz="1200" b="1" i="0" kern="1200">
                <a:solidFill>
                  <a:schemeClr val="tx1"/>
                </a:solidFill>
                <a:effectLst/>
                <a:latin typeface="+mn-lt"/>
                <a:ea typeface="+mn-ea"/>
                <a:cs typeface="+mn-cs"/>
              </a:rPr>
              <a:t>Engage the ecosystem:</a:t>
            </a:r>
            <a:r>
              <a:rPr lang="en-US" sz="1200" b="0" i="0" kern="1200">
                <a:solidFill>
                  <a:schemeClr val="tx1"/>
                </a:solidFill>
                <a:effectLst/>
                <a:latin typeface="+mn-lt"/>
                <a:ea typeface="+mn-ea"/>
                <a:cs typeface="+mn-cs"/>
              </a:rPr>
              <a:t> POPIA Section 22: notify the Information Regulator within 72 hours. Engage SABRIC (South African Banking Risk Centre), the Hawks (DPCI cybercrime unit), AfricaCERT. Register consumers with SAFPS for SIM-swap and identity-fraud protection. | </a:t>
            </a:r>
            <a:r>
              <a:rPr lang="en-US" sz="1200" b="1" i="0" kern="1200">
                <a:solidFill>
                  <a:schemeClr val="tx1"/>
                </a:solidFill>
                <a:effectLst/>
                <a:latin typeface="+mn-lt"/>
                <a:ea typeface="+mn-ea"/>
                <a:cs typeface="+mn-cs"/>
              </a:rPr>
              <a:t>Reputation and communications planning:</a:t>
            </a:r>
            <a:r>
              <a:rPr lang="en-US" sz="1200" b="0" i="0" kern="1200">
                <a:solidFill>
                  <a:schemeClr val="tx1"/>
                </a:solidFill>
                <a:effectLst/>
                <a:latin typeface="+mn-lt"/>
                <a:ea typeface="+mn-ea"/>
                <a:cs typeface="+mn-cs"/>
              </a:rPr>
              <a:t> The leak-site threat is a communications crisis as well as a technical incident. Have a crisis comms plan that addresses: what do we say to customers whose data was exposed? How do we counter false ransomware-group narratives about our security posture? Transnet's public communications were praised for transparency.</a:t>
            </a:r>
            <a:endParaRPr lang="en-US"/>
          </a:p>
        </p:txBody>
      </p:sp>
      <p:sp>
        <p:nvSpPr>
          <p:cNvPr id="4" name="Slide Number Placeholder 3"/>
          <p:cNvSpPr>
            <a:spLocks noGrp="1"/>
          </p:cNvSpPr>
          <p:nvPr>
            <p:ph type="sldNum" sz="quarter" idx="5"/>
          </p:nvPr>
        </p:nvSpPr>
        <p:spPr/>
        <p:txBody>
          <a:bodyPr/>
          <a:lstStyle/>
          <a:p>
            <a:fld id="{E390A6D5-5873-48D6-B940-43DCCBB5F1C5}" type="slidenum">
              <a:rPr lang="en-US" smtClean="0"/>
              <a:t>17</a:t>
            </a:fld>
            <a:endParaRPr lang="en-US"/>
          </a:p>
        </p:txBody>
      </p:sp>
    </p:spTree>
    <p:extLst>
      <p:ext uri="{BB962C8B-B14F-4D97-AF65-F5344CB8AC3E}">
        <p14:creationId xmlns:p14="http://schemas.microsoft.com/office/powerpoint/2010/main" val="3678455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a:solidFill>
                  <a:schemeClr val="tx1"/>
                </a:solidFill>
                <a:effectLst/>
                <a:latin typeface="+mn-lt"/>
                <a:ea typeface="+mn-ea"/>
                <a:cs typeface="+mn-cs"/>
              </a:rPr>
              <a:t>Community-level response — the most under-resourced but essential layer.</a:t>
            </a:r>
            <a:r>
              <a:rPr lang="en-US" sz="1200" b="0" i="0" kern="1200">
                <a:solidFill>
                  <a:schemeClr val="tx1"/>
                </a:solidFill>
                <a:effectLst/>
                <a:latin typeface="+mn-lt"/>
                <a:ea typeface="+mn-ea"/>
                <a:cs typeface="+mn-cs"/>
              </a:rPr>
              <a:t> Cybersecurity practitioners tend to focus on the firm and the technical. But hybrid operations targeting public opinion, elections, and community trust require community-level defences that no CISO can deliver alone. | </a:t>
            </a:r>
            <a:r>
              <a:rPr lang="en-US" sz="1200" b="1" i="0" kern="1200">
                <a:solidFill>
                  <a:schemeClr val="tx1"/>
                </a:solidFill>
                <a:effectLst/>
                <a:latin typeface="+mn-lt"/>
                <a:ea typeface="+mn-ea"/>
                <a:cs typeface="+mn-cs"/>
              </a:rPr>
              <a:t>Media literacy and prebunking:</a:t>
            </a:r>
            <a:r>
              <a:rPr lang="en-US" sz="1200" b="0" i="0" kern="1200">
                <a:solidFill>
                  <a:schemeClr val="tx1"/>
                </a:solidFill>
                <a:effectLst/>
                <a:latin typeface="+mn-lt"/>
                <a:ea typeface="+mn-ea"/>
                <a:cs typeface="+mn-cs"/>
              </a:rPr>
              <a:t> Prebunking (inoculation theory) is evidenced to be more effective than fact-checking — exposing people to a weakened form of a manipulation technique before they encounter it. Studies show prebunking reduces susceptibility to disinformation by 20–30%. The problem: prebunking requires investment in local language content production. In SA, this means Zulu, Xhosa, Sotho, Afrikaans — not just English. | </a:t>
            </a:r>
            <a:r>
              <a:rPr lang="en-US" sz="1200" b="1" i="0" kern="1200">
                <a:solidFill>
                  <a:schemeClr val="tx1"/>
                </a:solidFill>
                <a:effectLst/>
                <a:latin typeface="+mn-lt"/>
                <a:ea typeface="+mn-ea"/>
                <a:cs typeface="+mn-cs"/>
              </a:rPr>
              <a:t>Trusted community messengers:</a:t>
            </a:r>
            <a:r>
              <a:rPr lang="en-US" sz="1200" b="0" i="0" kern="1200">
                <a:solidFill>
                  <a:schemeClr val="tx1"/>
                </a:solidFill>
                <a:effectLst/>
                <a:latin typeface="+mn-lt"/>
                <a:ea typeface="+mn-ea"/>
                <a:cs typeface="+mn-cs"/>
              </a:rPr>
              <a:t> Public health research (COVID, Ebola) shows that vaccine hesitancy disinformation is most effectively countered by trusted community leaders — religious figures, traditional healers, community health workers — not government spokespeople or fact-checking websites. The same principle applies to political disinformation. | </a:t>
            </a:r>
            <a:r>
              <a:rPr lang="en-US" sz="1200" b="1" i="0" kern="1200">
                <a:solidFill>
                  <a:schemeClr val="tx1"/>
                </a:solidFill>
                <a:effectLst/>
                <a:latin typeface="+mn-lt"/>
                <a:ea typeface="+mn-ea"/>
                <a:cs typeface="+mn-cs"/>
              </a:rPr>
              <a:t>Platform accountability:</a:t>
            </a:r>
            <a:r>
              <a:rPr lang="en-US" sz="1200" b="0" i="0" kern="1200">
                <a:solidFill>
                  <a:schemeClr val="tx1"/>
                </a:solidFill>
                <a:effectLst/>
                <a:latin typeface="+mn-lt"/>
                <a:ea typeface="+mn-ea"/>
                <a:cs typeface="+mn-cs"/>
              </a:rPr>
              <a:t> Civil society organisations in SA (Media Monitoring Africa, Right2Know Campaign) have successfully pressured platforms on content moderation failures. The Meta decision to end third-party fact-checking in the US (January 2025) is a concern — Africa Check (headquartered in SA) is one of the affected fact-checking partners. | </a:t>
            </a:r>
            <a:r>
              <a:rPr lang="en-US" sz="1200" b="1" i="0" kern="1200">
                <a:solidFill>
                  <a:schemeClr val="tx1"/>
                </a:solidFill>
                <a:effectLst/>
                <a:latin typeface="+mn-lt"/>
                <a:ea typeface="+mn-ea"/>
                <a:cs typeface="+mn-cs"/>
              </a:rPr>
              <a:t>Digital rights and privacy:</a:t>
            </a:r>
            <a:r>
              <a:rPr lang="en-US" sz="1200" b="0" i="0" kern="1200">
                <a:solidFill>
                  <a:schemeClr val="tx1"/>
                </a:solidFill>
                <a:effectLst/>
                <a:latin typeface="+mn-lt"/>
                <a:ea typeface="+mn-ea"/>
                <a:cs typeface="+mn-cs"/>
              </a:rPr>
              <a:t> SIM-swap fraud and identity theft (enabled by data breaches like TransUnion) harm ordinary citizens. Community-level SAFPS registration is a practical tool. Consumer education about what to do if your data has been breached. | </a:t>
            </a:r>
            <a:r>
              <a:rPr lang="en-US" sz="1200" b="1" i="0" kern="1200">
                <a:solidFill>
                  <a:schemeClr val="tx1"/>
                </a:solidFill>
                <a:effectLst/>
                <a:latin typeface="+mn-lt"/>
                <a:ea typeface="+mn-ea"/>
                <a:cs typeface="+mn-cs"/>
              </a:rPr>
              <a:t>Election observation and monitoring:</a:t>
            </a:r>
            <a:r>
              <a:rPr lang="en-US" sz="1200" b="0" i="0" kern="1200">
                <a:solidFill>
                  <a:schemeClr val="tx1"/>
                </a:solidFill>
                <a:effectLst/>
                <a:latin typeface="+mn-lt"/>
                <a:ea typeface="+mn-ea"/>
                <a:cs typeface="+mn-cs"/>
              </a:rPr>
              <a:t> EISA (Electoral Institute for Sustainable Democracy in Africa), SADC Election Support Network, and domestic bodies like the IEC provide election integrity frameworks. But they need to integrate digital/cyber threat monitoring alongside traditional election observation.</a:t>
            </a:r>
            <a:endParaRPr lang="en-US"/>
          </a:p>
        </p:txBody>
      </p:sp>
      <p:sp>
        <p:nvSpPr>
          <p:cNvPr id="4" name="Slide Number Placeholder 3"/>
          <p:cNvSpPr>
            <a:spLocks noGrp="1"/>
          </p:cNvSpPr>
          <p:nvPr>
            <p:ph type="sldNum" sz="quarter" idx="5"/>
          </p:nvPr>
        </p:nvSpPr>
        <p:spPr/>
        <p:txBody>
          <a:bodyPr/>
          <a:lstStyle/>
          <a:p>
            <a:fld id="{E390A6D5-5873-48D6-B940-43DCCBB5F1C5}" type="slidenum">
              <a:rPr lang="en-US" smtClean="0"/>
              <a:t>18</a:t>
            </a:fld>
            <a:endParaRPr lang="en-US"/>
          </a:p>
        </p:txBody>
      </p:sp>
    </p:spTree>
    <p:extLst>
      <p:ext uri="{BB962C8B-B14F-4D97-AF65-F5344CB8AC3E}">
        <p14:creationId xmlns:p14="http://schemas.microsoft.com/office/powerpoint/2010/main" val="30794590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a:solidFill>
                  <a:schemeClr val="tx1"/>
                </a:solidFill>
                <a:effectLst/>
                <a:latin typeface="+mn-lt"/>
                <a:ea typeface="+mn-ea"/>
                <a:cs typeface="+mn-cs"/>
              </a:rPr>
              <a:t>Closing slide — speaker notes.</a:t>
            </a:r>
            <a:r>
              <a:rPr lang="en-US" sz="1200" b="0" i="0" kern="1200">
                <a:solidFill>
                  <a:schemeClr val="tx1"/>
                </a:solidFill>
                <a:effectLst/>
                <a:latin typeface="+mn-lt"/>
                <a:ea typeface="+mn-ea"/>
                <a:cs typeface="+mn-cs"/>
              </a:rPr>
              <a:t> Return to the 4-quadrant model. The argument: we began our security work focused on intrusion (the classic CIA triad). Over time we added exploitation as a recognised threat category (ransomware, fraud). But abuse and manipulation have been treated as 'not our problem' by security teams — left to content moderators, journalists, and civil society. The hybridisation of operations means this separation is no longer tenable. | </a:t>
            </a:r>
            <a:r>
              <a:rPr lang="en-US" sz="1200" b="1" i="0" kern="1200">
                <a:solidFill>
                  <a:schemeClr val="tx1"/>
                </a:solidFill>
                <a:effectLst/>
                <a:latin typeface="+mn-lt"/>
                <a:ea typeface="+mn-ea"/>
                <a:cs typeface="+mn-cs"/>
              </a:rPr>
              <a:t>Nelson Mandela quote:</a:t>
            </a:r>
            <a:r>
              <a:rPr lang="en-US" sz="1200" b="0" i="0" kern="1200">
                <a:solidFill>
                  <a:schemeClr val="tx1"/>
                </a:solidFill>
                <a:effectLst/>
                <a:latin typeface="+mn-lt"/>
                <a:ea typeface="+mn-ea"/>
                <a:cs typeface="+mn-cs"/>
              </a:rPr>
              <a:t> 'Let freedom reign' — spoken at his inauguration on 10 May 1994 at the Union Buildings, Pretoria. Full context: 'Let freedom reign. The sun shall never set on so glorious a human achievement.' | </a:t>
            </a:r>
            <a:r>
              <a:rPr lang="en-US" sz="1200" b="1" i="0" kern="1200">
                <a:solidFill>
                  <a:schemeClr val="tx1"/>
                </a:solidFill>
                <a:effectLst/>
                <a:latin typeface="+mn-lt"/>
                <a:ea typeface="+mn-ea"/>
                <a:cs typeface="+mn-cs"/>
              </a:rPr>
              <a:t>The OASIS argument:</a:t>
            </a:r>
            <a:r>
              <a:rPr lang="en-US" sz="1200" b="0" i="0" kern="1200">
                <a:solidFill>
                  <a:schemeClr val="tx1"/>
                </a:solidFill>
                <a:effectLst/>
                <a:latin typeface="+mn-lt"/>
                <a:ea typeface="+mn-ea"/>
                <a:cs typeface="+mn-cs"/>
              </a:rPr>
              <a:t> If we are to extend Mandela's vision of freedom to the digital age, we must protect: freedom from intrusion (traditional cybersecurity); freedom from manipulation (fact-checking, prebunking, platform accountability — but NOT only veracity-based tools); freedom from abuse (platform governance, hate speech law, content moderation); freedom from exploitation (cybercrime law, ransomware response, consumer protection). | </a:t>
            </a:r>
            <a:r>
              <a:rPr lang="en-US" sz="1200" b="1" i="0" kern="1200">
                <a:solidFill>
                  <a:schemeClr val="tx1"/>
                </a:solidFill>
                <a:effectLst/>
                <a:latin typeface="+mn-lt"/>
                <a:ea typeface="+mn-ea"/>
                <a:cs typeface="+mn-cs"/>
              </a:rPr>
              <a:t>Call to action for this audience:</a:t>
            </a:r>
            <a:r>
              <a:rPr lang="en-US" sz="1200" b="0" i="0" kern="1200">
                <a:solidFill>
                  <a:schemeClr val="tx1"/>
                </a:solidFill>
                <a:effectLst/>
                <a:latin typeface="+mn-lt"/>
                <a:ea typeface="+mn-ea"/>
                <a:cs typeface="+mn-cs"/>
              </a:rPr>
              <a:t> The STIX/OASIS standards extension work is open to participation. The EEAS, ITU, AU Malabo Convention, and AU-CIRT all provide frameworks — but technical communities must drive the implementation. South Africa has a unique role: as a country simultaneously facing all four quadrant threats, it has both the motivation and the expertise to lead African responses. | </a:t>
            </a:r>
            <a:r>
              <a:rPr lang="en-US" sz="1200" b="1" i="0" kern="1200">
                <a:solidFill>
                  <a:schemeClr val="tx1"/>
                </a:solidFill>
                <a:effectLst/>
                <a:latin typeface="+mn-lt"/>
                <a:ea typeface="+mn-ea"/>
                <a:cs typeface="+mn-cs"/>
              </a:rPr>
              <a:t>Final line for the talk:</a:t>
            </a:r>
            <a:r>
              <a:rPr lang="en-US" sz="1200" b="0" i="0" kern="1200">
                <a:solidFill>
                  <a:schemeClr val="tx1"/>
                </a:solidFill>
                <a:effectLst/>
                <a:latin typeface="+mn-lt"/>
                <a:ea typeface="+mn-ea"/>
                <a:cs typeface="+mn-cs"/>
              </a:rPr>
              <a:t> 'Freedom in the digital age requires us to defend all four quadrants — not just the one our job title assigns us to.'</a:t>
            </a:r>
            <a:endParaRPr lang="en-US"/>
          </a:p>
        </p:txBody>
      </p:sp>
      <p:sp>
        <p:nvSpPr>
          <p:cNvPr id="4" name="Slide Number Placeholder 3"/>
          <p:cNvSpPr>
            <a:spLocks noGrp="1"/>
          </p:cNvSpPr>
          <p:nvPr>
            <p:ph type="sldNum" sz="quarter" idx="5"/>
          </p:nvPr>
        </p:nvSpPr>
        <p:spPr/>
        <p:txBody>
          <a:bodyPr/>
          <a:lstStyle/>
          <a:p>
            <a:fld id="{E390A6D5-5873-48D6-B940-43DCCBB5F1C5}" type="slidenum">
              <a:rPr lang="en-US" smtClean="0"/>
              <a:t>19</a:t>
            </a:fld>
            <a:endParaRPr lang="en-US"/>
          </a:p>
        </p:txBody>
      </p:sp>
    </p:spTree>
    <p:extLst>
      <p:ext uri="{BB962C8B-B14F-4D97-AF65-F5344CB8AC3E}">
        <p14:creationId xmlns:p14="http://schemas.microsoft.com/office/powerpoint/2010/main" val="344574025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246CC31-C596-2DE7-053B-5B4B7BF70F4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500060"/>
            <a:ext cx="9144000" cy="643440"/>
          </a:xfrm>
          <a:prstGeom prst="rect">
            <a:avLst/>
          </a:prstGeom>
        </p:spPr>
      </p:pic>
      <p:pic>
        <p:nvPicPr>
          <p:cNvPr id="7" name="Picture 6">
            <a:extLst>
              <a:ext uri="{FF2B5EF4-FFF2-40B4-BE49-F238E27FC236}">
                <a16:creationId xmlns:a16="http://schemas.microsoft.com/office/drawing/2014/main" id="{D21B0C23-2911-9095-92AC-3CDA30D7C5B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9144000" cy="1072400"/>
          </a:xfrm>
          <a:prstGeom prst="rect">
            <a:avLst/>
          </a:prstGeom>
        </p:spPr>
      </p:pic>
    </p:spTree>
    <p:extLst>
      <p:ext uri="{BB962C8B-B14F-4D97-AF65-F5344CB8AC3E}">
        <p14:creationId xmlns:p14="http://schemas.microsoft.com/office/powerpoint/2010/main" val="36930840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1C125B-A93B-5FCD-1355-C676333245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500060"/>
            <a:ext cx="9144000" cy="643440"/>
          </a:xfrm>
          <a:prstGeom prst="rect">
            <a:avLst/>
          </a:prstGeom>
        </p:spPr>
      </p:pic>
    </p:spTree>
    <p:extLst>
      <p:ext uri="{BB962C8B-B14F-4D97-AF65-F5344CB8AC3E}">
        <p14:creationId xmlns:p14="http://schemas.microsoft.com/office/powerpoint/2010/main" val="1759977499"/>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99BD31-CA8C-435D-2D42-A5DBA44F965E}"/>
              </a:ext>
            </a:extLst>
          </p:cNvPr>
          <p:cNvSpPr>
            <a:spLocks noGrp="1"/>
          </p:cNvSpPr>
          <p:nvPr>
            <p:ph type="dt" sz="half" idx="10"/>
          </p:nvPr>
        </p:nvSpPr>
        <p:spPr/>
        <p:txBody>
          <a:bodyPr/>
          <a:lstStyle>
            <a:lvl1pPr>
              <a:defRPr/>
            </a:lvl1pPr>
          </a:lstStyle>
          <a:p>
            <a:pPr>
              <a:defRPr/>
            </a:pPr>
            <a:fld id="{829E3733-E8D4-F149-A162-0949DB623391}" type="datetimeFigureOut">
              <a:rPr lang="en-US"/>
              <a:pPr>
                <a:defRPr/>
              </a:pPr>
              <a:t>5/21/2026</a:t>
            </a:fld>
            <a:endParaRPr lang="en-US"/>
          </a:p>
        </p:txBody>
      </p:sp>
      <p:sp>
        <p:nvSpPr>
          <p:cNvPr id="5" name="Footer Placeholder 4">
            <a:extLst>
              <a:ext uri="{FF2B5EF4-FFF2-40B4-BE49-F238E27FC236}">
                <a16:creationId xmlns:a16="http://schemas.microsoft.com/office/drawing/2014/main" id="{60A3899C-67B3-FAE3-5533-4D0F4A305B5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3A0AE26-FF81-6D7F-5A92-3D465FBE70F8}"/>
              </a:ext>
            </a:extLst>
          </p:cNvPr>
          <p:cNvSpPr>
            <a:spLocks noGrp="1"/>
          </p:cNvSpPr>
          <p:nvPr>
            <p:ph type="sldNum" sz="quarter" idx="12"/>
          </p:nvPr>
        </p:nvSpPr>
        <p:spPr/>
        <p:txBody>
          <a:bodyPr/>
          <a:lstStyle>
            <a:lvl1pPr>
              <a:defRPr/>
            </a:lvl1pPr>
          </a:lstStyle>
          <a:p>
            <a:pPr>
              <a:defRPr/>
            </a:pPr>
            <a:fld id="{D0C7186F-D7F1-FD40-B265-55FCF13C4400}" type="slidenum">
              <a:rPr lang="en-US" altLang="en-US"/>
              <a:pPr>
                <a:defRPr/>
              </a:pPr>
              <a:t>‹#›</a:t>
            </a:fld>
            <a:endParaRPr lang="en-US" altLang="en-US"/>
          </a:p>
        </p:txBody>
      </p:sp>
    </p:spTree>
    <p:extLst>
      <p:ext uri="{BB962C8B-B14F-4D97-AF65-F5344CB8AC3E}">
        <p14:creationId xmlns:p14="http://schemas.microsoft.com/office/powerpoint/2010/main" val="562331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80AD40-8B15-EA74-FD29-D6AA6ED76B2D}"/>
              </a:ext>
            </a:extLst>
          </p:cNvPr>
          <p:cNvSpPr>
            <a:spLocks noGrp="1"/>
          </p:cNvSpPr>
          <p:nvPr>
            <p:ph type="dt" sz="half" idx="10"/>
          </p:nvPr>
        </p:nvSpPr>
        <p:spPr/>
        <p:txBody>
          <a:bodyPr/>
          <a:lstStyle>
            <a:lvl1pPr>
              <a:defRPr/>
            </a:lvl1pPr>
          </a:lstStyle>
          <a:p>
            <a:pPr>
              <a:defRPr/>
            </a:pPr>
            <a:fld id="{B1424E98-2961-BF45-81C0-8DCE89841AEE}" type="datetimeFigureOut">
              <a:rPr lang="en-US"/>
              <a:pPr>
                <a:defRPr/>
              </a:pPr>
              <a:t>5/21/2026</a:t>
            </a:fld>
            <a:endParaRPr lang="en-US"/>
          </a:p>
        </p:txBody>
      </p:sp>
      <p:sp>
        <p:nvSpPr>
          <p:cNvPr id="5" name="Footer Placeholder 4">
            <a:extLst>
              <a:ext uri="{FF2B5EF4-FFF2-40B4-BE49-F238E27FC236}">
                <a16:creationId xmlns:a16="http://schemas.microsoft.com/office/drawing/2014/main" id="{3EF1019C-B410-F130-8CEE-DCE71D77DEB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C8D49D7-720A-F745-8B63-E2EED5B4E61B}"/>
              </a:ext>
            </a:extLst>
          </p:cNvPr>
          <p:cNvSpPr>
            <a:spLocks noGrp="1"/>
          </p:cNvSpPr>
          <p:nvPr>
            <p:ph type="sldNum" sz="quarter" idx="12"/>
          </p:nvPr>
        </p:nvSpPr>
        <p:spPr/>
        <p:txBody>
          <a:bodyPr/>
          <a:lstStyle>
            <a:lvl1pPr>
              <a:defRPr/>
            </a:lvl1pPr>
          </a:lstStyle>
          <a:p>
            <a:pPr>
              <a:defRPr/>
            </a:pPr>
            <a:fld id="{EF66F4B0-A341-DD44-A674-28D31C741E9D}" type="slidenum">
              <a:rPr lang="en-US" altLang="en-US"/>
              <a:pPr>
                <a:defRPr/>
              </a:pPr>
              <a:t>‹#›</a:t>
            </a:fld>
            <a:endParaRPr lang="en-US" altLang="en-US"/>
          </a:p>
        </p:txBody>
      </p:sp>
    </p:spTree>
    <p:extLst>
      <p:ext uri="{BB962C8B-B14F-4D97-AF65-F5344CB8AC3E}">
        <p14:creationId xmlns:p14="http://schemas.microsoft.com/office/powerpoint/2010/main" val="28019491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15F85637-CC8F-A475-5A1E-801073C2CA2C}"/>
              </a:ext>
            </a:extLst>
          </p:cNvPr>
          <p:cNvSpPr>
            <a:spLocks noGrp="1"/>
          </p:cNvSpPr>
          <p:nvPr>
            <p:ph type="dt" sz="half" idx="10"/>
          </p:nvPr>
        </p:nvSpPr>
        <p:spPr/>
        <p:txBody>
          <a:bodyPr/>
          <a:lstStyle>
            <a:lvl1pPr>
              <a:defRPr/>
            </a:lvl1pPr>
          </a:lstStyle>
          <a:p>
            <a:pPr>
              <a:defRPr/>
            </a:pPr>
            <a:fld id="{39AE07DF-2FBB-9142-9DC6-F284464F6EA0}" type="datetimeFigureOut">
              <a:rPr lang="en-US"/>
              <a:pPr>
                <a:defRPr/>
              </a:pPr>
              <a:t>5/21/2026</a:t>
            </a:fld>
            <a:endParaRPr lang="en-US"/>
          </a:p>
        </p:txBody>
      </p:sp>
      <p:sp>
        <p:nvSpPr>
          <p:cNvPr id="6" name="Footer Placeholder 4">
            <a:extLst>
              <a:ext uri="{FF2B5EF4-FFF2-40B4-BE49-F238E27FC236}">
                <a16:creationId xmlns:a16="http://schemas.microsoft.com/office/drawing/2014/main" id="{45023C2E-893B-0890-95D6-3661A2656E8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F518F2F9-7EFD-D26A-FDAB-A154EA4499BF}"/>
              </a:ext>
            </a:extLst>
          </p:cNvPr>
          <p:cNvSpPr>
            <a:spLocks noGrp="1"/>
          </p:cNvSpPr>
          <p:nvPr>
            <p:ph type="sldNum" sz="quarter" idx="12"/>
          </p:nvPr>
        </p:nvSpPr>
        <p:spPr/>
        <p:txBody>
          <a:bodyPr/>
          <a:lstStyle>
            <a:lvl1pPr>
              <a:defRPr/>
            </a:lvl1pPr>
          </a:lstStyle>
          <a:p>
            <a:pPr>
              <a:defRPr/>
            </a:pPr>
            <a:fld id="{94E4C1D6-7498-E640-902F-3C99AFAB108B}" type="slidenum">
              <a:rPr lang="en-US" altLang="en-US"/>
              <a:pPr>
                <a:defRPr/>
              </a:pPr>
              <a:t>‹#›</a:t>
            </a:fld>
            <a:endParaRPr lang="en-US" altLang="en-US"/>
          </a:p>
        </p:txBody>
      </p:sp>
    </p:spTree>
    <p:extLst>
      <p:ext uri="{BB962C8B-B14F-4D97-AF65-F5344CB8AC3E}">
        <p14:creationId xmlns:p14="http://schemas.microsoft.com/office/powerpoint/2010/main" val="33269544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241C2761-9423-1112-3709-7D12FEE13784}"/>
              </a:ext>
            </a:extLst>
          </p:cNvPr>
          <p:cNvSpPr>
            <a:spLocks noGrp="1"/>
          </p:cNvSpPr>
          <p:nvPr>
            <p:ph type="dt" sz="half" idx="10"/>
          </p:nvPr>
        </p:nvSpPr>
        <p:spPr/>
        <p:txBody>
          <a:bodyPr/>
          <a:lstStyle>
            <a:lvl1pPr>
              <a:defRPr/>
            </a:lvl1pPr>
          </a:lstStyle>
          <a:p>
            <a:pPr>
              <a:defRPr/>
            </a:pPr>
            <a:fld id="{34D4AABD-2C6A-5B45-A3EA-B325CD5EA08B}" type="datetimeFigureOut">
              <a:rPr lang="en-US"/>
              <a:pPr>
                <a:defRPr/>
              </a:pPr>
              <a:t>5/21/2026</a:t>
            </a:fld>
            <a:endParaRPr lang="en-US"/>
          </a:p>
        </p:txBody>
      </p:sp>
      <p:sp>
        <p:nvSpPr>
          <p:cNvPr id="8" name="Footer Placeholder 4">
            <a:extLst>
              <a:ext uri="{FF2B5EF4-FFF2-40B4-BE49-F238E27FC236}">
                <a16:creationId xmlns:a16="http://schemas.microsoft.com/office/drawing/2014/main" id="{3A69F686-0FC7-49B4-1305-AF38EE11F3F3}"/>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7A52E30F-198F-9EFA-5A8F-1212E1C468F8}"/>
              </a:ext>
            </a:extLst>
          </p:cNvPr>
          <p:cNvSpPr>
            <a:spLocks noGrp="1"/>
          </p:cNvSpPr>
          <p:nvPr>
            <p:ph type="sldNum" sz="quarter" idx="12"/>
          </p:nvPr>
        </p:nvSpPr>
        <p:spPr/>
        <p:txBody>
          <a:bodyPr/>
          <a:lstStyle>
            <a:lvl1pPr>
              <a:defRPr/>
            </a:lvl1pPr>
          </a:lstStyle>
          <a:p>
            <a:pPr>
              <a:defRPr/>
            </a:pPr>
            <a:fld id="{3B677B63-6C3D-2649-A5F8-CBD86555525C}" type="slidenum">
              <a:rPr lang="en-US" altLang="en-US"/>
              <a:pPr>
                <a:defRPr/>
              </a:pPr>
              <a:t>‹#›</a:t>
            </a:fld>
            <a:endParaRPr lang="en-US" altLang="en-US"/>
          </a:p>
        </p:txBody>
      </p:sp>
    </p:spTree>
    <p:extLst>
      <p:ext uri="{BB962C8B-B14F-4D97-AF65-F5344CB8AC3E}">
        <p14:creationId xmlns:p14="http://schemas.microsoft.com/office/powerpoint/2010/main" val="14605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9D0BF16B-F33C-F3CA-8694-BC931D771699}"/>
              </a:ext>
            </a:extLst>
          </p:cNvPr>
          <p:cNvSpPr>
            <a:spLocks noGrp="1"/>
          </p:cNvSpPr>
          <p:nvPr>
            <p:ph type="dt" sz="half" idx="10"/>
          </p:nvPr>
        </p:nvSpPr>
        <p:spPr/>
        <p:txBody>
          <a:bodyPr/>
          <a:lstStyle>
            <a:lvl1pPr>
              <a:defRPr/>
            </a:lvl1pPr>
          </a:lstStyle>
          <a:p>
            <a:pPr>
              <a:defRPr/>
            </a:pPr>
            <a:fld id="{66A866CD-AB3B-384F-A2AD-2B32A3F37AFE}" type="datetimeFigureOut">
              <a:rPr lang="en-US"/>
              <a:pPr>
                <a:defRPr/>
              </a:pPr>
              <a:t>5/21/2026</a:t>
            </a:fld>
            <a:endParaRPr lang="en-US"/>
          </a:p>
        </p:txBody>
      </p:sp>
      <p:sp>
        <p:nvSpPr>
          <p:cNvPr id="4" name="Footer Placeholder 4">
            <a:extLst>
              <a:ext uri="{FF2B5EF4-FFF2-40B4-BE49-F238E27FC236}">
                <a16:creationId xmlns:a16="http://schemas.microsoft.com/office/drawing/2014/main" id="{DF8C9327-BA90-01C3-FBBA-D972618920E4}"/>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51521B8A-DF0D-81B8-0F02-3A8B1C4C98E9}"/>
              </a:ext>
            </a:extLst>
          </p:cNvPr>
          <p:cNvSpPr>
            <a:spLocks noGrp="1"/>
          </p:cNvSpPr>
          <p:nvPr>
            <p:ph type="sldNum" sz="quarter" idx="12"/>
          </p:nvPr>
        </p:nvSpPr>
        <p:spPr/>
        <p:txBody>
          <a:bodyPr/>
          <a:lstStyle>
            <a:lvl1pPr>
              <a:defRPr/>
            </a:lvl1pPr>
          </a:lstStyle>
          <a:p>
            <a:pPr>
              <a:defRPr/>
            </a:pPr>
            <a:fld id="{80B7FCB9-FD4F-B947-A171-6E2F47B2AC61}" type="slidenum">
              <a:rPr lang="en-US" altLang="en-US"/>
              <a:pPr>
                <a:defRPr/>
              </a:pPr>
              <a:t>‹#›</a:t>
            </a:fld>
            <a:endParaRPr lang="en-US" altLang="en-US"/>
          </a:p>
        </p:txBody>
      </p:sp>
    </p:spTree>
    <p:extLst>
      <p:ext uri="{BB962C8B-B14F-4D97-AF65-F5344CB8AC3E}">
        <p14:creationId xmlns:p14="http://schemas.microsoft.com/office/powerpoint/2010/main" val="2909295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810B72F3-119F-CC76-9F4A-178D4DD020E7}"/>
              </a:ext>
            </a:extLst>
          </p:cNvPr>
          <p:cNvSpPr>
            <a:spLocks noGrp="1"/>
          </p:cNvSpPr>
          <p:nvPr>
            <p:ph type="dt" sz="half" idx="10"/>
          </p:nvPr>
        </p:nvSpPr>
        <p:spPr/>
        <p:txBody>
          <a:bodyPr/>
          <a:lstStyle>
            <a:lvl1pPr>
              <a:defRPr/>
            </a:lvl1pPr>
          </a:lstStyle>
          <a:p>
            <a:pPr>
              <a:defRPr/>
            </a:pPr>
            <a:fld id="{BD8FF876-A424-7D40-A549-565EEA35425B}" type="datetimeFigureOut">
              <a:rPr lang="en-US"/>
              <a:pPr>
                <a:defRPr/>
              </a:pPr>
              <a:t>5/21/2026</a:t>
            </a:fld>
            <a:endParaRPr lang="en-US"/>
          </a:p>
        </p:txBody>
      </p:sp>
      <p:sp>
        <p:nvSpPr>
          <p:cNvPr id="3" name="Footer Placeholder 4">
            <a:extLst>
              <a:ext uri="{FF2B5EF4-FFF2-40B4-BE49-F238E27FC236}">
                <a16:creationId xmlns:a16="http://schemas.microsoft.com/office/drawing/2014/main" id="{689568F6-2718-9E56-7188-F4793498EB6D}"/>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5D8B4C37-4A30-2C9A-E10F-B6C30CABD6E7}"/>
              </a:ext>
            </a:extLst>
          </p:cNvPr>
          <p:cNvSpPr>
            <a:spLocks noGrp="1"/>
          </p:cNvSpPr>
          <p:nvPr>
            <p:ph type="sldNum" sz="quarter" idx="12"/>
          </p:nvPr>
        </p:nvSpPr>
        <p:spPr/>
        <p:txBody>
          <a:bodyPr/>
          <a:lstStyle>
            <a:lvl1pPr>
              <a:defRPr/>
            </a:lvl1pPr>
          </a:lstStyle>
          <a:p>
            <a:pPr>
              <a:defRPr/>
            </a:pPr>
            <a:fld id="{B2A3FDC3-1458-7244-BC6B-C89F05CEE6A0}" type="slidenum">
              <a:rPr lang="en-US" altLang="en-US"/>
              <a:pPr>
                <a:defRPr/>
              </a:pPr>
              <a:t>‹#›</a:t>
            </a:fld>
            <a:endParaRPr lang="en-US" altLang="en-US"/>
          </a:p>
        </p:txBody>
      </p:sp>
    </p:spTree>
    <p:extLst>
      <p:ext uri="{BB962C8B-B14F-4D97-AF65-F5344CB8AC3E}">
        <p14:creationId xmlns:p14="http://schemas.microsoft.com/office/powerpoint/2010/main" val="33831437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E7CEF538-284F-BF4E-2BF0-D1B8BFFCBBB0}"/>
              </a:ext>
            </a:extLst>
          </p:cNvPr>
          <p:cNvSpPr>
            <a:spLocks noGrp="1"/>
          </p:cNvSpPr>
          <p:nvPr>
            <p:ph type="dt" sz="half" idx="10"/>
          </p:nvPr>
        </p:nvSpPr>
        <p:spPr/>
        <p:txBody>
          <a:bodyPr/>
          <a:lstStyle>
            <a:lvl1pPr>
              <a:defRPr/>
            </a:lvl1pPr>
          </a:lstStyle>
          <a:p>
            <a:pPr>
              <a:defRPr/>
            </a:pPr>
            <a:fld id="{5ED3729B-77CE-7343-926A-4BAE503920CE}" type="datetimeFigureOut">
              <a:rPr lang="en-US"/>
              <a:pPr>
                <a:defRPr/>
              </a:pPr>
              <a:t>5/21/2026</a:t>
            </a:fld>
            <a:endParaRPr lang="en-US"/>
          </a:p>
        </p:txBody>
      </p:sp>
      <p:sp>
        <p:nvSpPr>
          <p:cNvPr id="6" name="Footer Placeholder 4">
            <a:extLst>
              <a:ext uri="{FF2B5EF4-FFF2-40B4-BE49-F238E27FC236}">
                <a16:creationId xmlns:a16="http://schemas.microsoft.com/office/drawing/2014/main" id="{7E22C5B5-4ADF-6BBB-3EB9-6734470E47C1}"/>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A751274E-A1AB-9832-F051-3E845534BC0F}"/>
              </a:ext>
            </a:extLst>
          </p:cNvPr>
          <p:cNvSpPr>
            <a:spLocks noGrp="1"/>
          </p:cNvSpPr>
          <p:nvPr>
            <p:ph type="sldNum" sz="quarter" idx="12"/>
          </p:nvPr>
        </p:nvSpPr>
        <p:spPr/>
        <p:txBody>
          <a:bodyPr/>
          <a:lstStyle>
            <a:lvl1pPr>
              <a:defRPr/>
            </a:lvl1pPr>
          </a:lstStyle>
          <a:p>
            <a:pPr>
              <a:defRPr/>
            </a:pPr>
            <a:fld id="{8D35ABD1-C1D4-C942-9829-0BD8DD1B0D69}" type="slidenum">
              <a:rPr lang="en-US" altLang="en-US"/>
              <a:pPr>
                <a:defRPr/>
              </a:pPr>
              <a:t>‹#›</a:t>
            </a:fld>
            <a:endParaRPr lang="en-US" altLang="en-US"/>
          </a:p>
        </p:txBody>
      </p:sp>
    </p:spTree>
    <p:extLst>
      <p:ext uri="{BB962C8B-B14F-4D97-AF65-F5344CB8AC3E}">
        <p14:creationId xmlns:p14="http://schemas.microsoft.com/office/powerpoint/2010/main" val="3464232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B70FDE43-729C-B9EC-66A3-9AFC9970C998}"/>
              </a:ext>
            </a:extLst>
          </p:cNvPr>
          <p:cNvSpPr>
            <a:spLocks noGrp="1"/>
          </p:cNvSpPr>
          <p:nvPr>
            <p:ph type="dt" sz="half" idx="10"/>
          </p:nvPr>
        </p:nvSpPr>
        <p:spPr/>
        <p:txBody>
          <a:bodyPr/>
          <a:lstStyle>
            <a:lvl1pPr>
              <a:defRPr/>
            </a:lvl1pPr>
          </a:lstStyle>
          <a:p>
            <a:pPr>
              <a:defRPr/>
            </a:pPr>
            <a:fld id="{E5EEC7DD-7DB4-A945-829D-CE83EE3A5748}" type="datetimeFigureOut">
              <a:rPr lang="en-US"/>
              <a:pPr>
                <a:defRPr/>
              </a:pPr>
              <a:t>5/21/2026</a:t>
            </a:fld>
            <a:endParaRPr lang="en-US"/>
          </a:p>
        </p:txBody>
      </p:sp>
      <p:sp>
        <p:nvSpPr>
          <p:cNvPr id="6" name="Footer Placeholder 4">
            <a:extLst>
              <a:ext uri="{FF2B5EF4-FFF2-40B4-BE49-F238E27FC236}">
                <a16:creationId xmlns:a16="http://schemas.microsoft.com/office/drawing/2014/main" id="{D2F05D1D-3F87-A679-0EB8-E245B3864EC2}"/>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37693A3-FD35-4F8B-4B60-5EB56945208E}"/>
              </a:ext>
            </a:extLst>
          </p:cNvPr>
          <p:cNvSpPr>
            <a:spLocks noGrp="1"/>
          </p:cNvSpPr>
          <p:nvPr>
            <p:ph type="sldNum" sz="quarter" idx="12"/>
          </p:nvPr>
        </p:nvSpPr>
        <p:spPr/>
        <p:txBody>
          <a:bodyPr/>
          <a:lstStyle>
            <a:lvl1pPr>
              <a:defRPr/>
            </a:lvl1pPr>
          </a:lstStyle>
          <a:p>
            <a:pPr>
              <a:defRPr/>
            </a:pPr>
            <a:fld id="{4786969E-D943-4042-AAC5-FCB9D27190B3}" type="slidenum">
              <a:rPr lang="en-US" altLang="en-US"/>
              <a:pPr>
                <a:defRPr/>
              </a:pPr>
              <a:t>‹#›</a:t>
            </a:fld>
            <a:endParaRPr lang="en-US" altLang="en-US"/>
          </a:p>
        </p:txBody>
      </p:sp>
    </p:spTree>
    <p:extLst>
      <p:ext uri="{BB962C8B-B14F-4D97-AF65-F5344CB8AC3E}">
        <p14:creationId xmlns:p14="http://schemas.microsoft.com/office/powerpoint/2010/main" val="17873094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937A98-3361-C923-E29E-12FDCD22A74C}"/>
              </a:ext>
            </a:extLst>
          </p:cNvPr>
          <p:cNvSpPr>
            <a:spLocks noGrp="1"/>
          </p:cNvSpPr>
          <p:nvPr>
            <p:ph type="dt" sz="half" idx="10"/>
          </p:nvPr>
        </p:nvSpPr>
        <p:spPr/>
        <p:txBody>
          <a:bodyPr/>
          <a:lstStyle>
            <a:lvl1pPr>
              <a:defRPr/>
            </a:lvl1pPr>
          </a:lstStyle>
          <a:p>
            <a:pPr>
              <a:defRPr/>
            </a:pPr>
            <a:fld id="{4F2BB736-B475-0342-8337-06037FA5AFBC}" type="datetimeFigureOut">
              <a:rPr lang="en-US"/>
              <a:pPr>
                <a:defRPr/>
              </a:pPr>
              <a:t>5/21/2026</a:t>
            </a:fld>
            <a:endParaRPr lang="en-US"/>
          </a:p>
        </p:txBody>
      </p:sp>
      <p:sp>
        <p:nvSpPr>
          <p:cNvPr id="5" name="Footer Placeholder 4">
            <a:extLst>
              <a:ext uri="{FF2B5EF4-FFF2-40B4-BE49-F238E27FC236}">
                <a16:creationId xmlns:a16="http://schemas.microsoft.com/office/drawing/2014/main" id="{911B3BED-B439-261E-2077-DE25250479A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E7B2EB0-401F-ECC6-7F6D-CB4C5CE0F862}"/>
              </a:ext>
            </a:extLst>
          </p:cNvPr>
          <p:cNvSpPr>
            <a:spLocks noGrp="1"/>
          </p:cNvSpPr>
          <p:nvPr>
            <p:ph type="sldNum" sz="quarter" idx="12"/>
          </p:nvPr>
        </p:nvSpPr>
        <p:spPr/>
        <p:txBody>
          <a:bodyPr/>
          <a:lstStyle>
            <a:lvl1pPr>
              <a:defRPr/>
            </a:lvl1pPr>
          </a:lstStyle>
          <a:p>
            <a:pPr>
              <a:defRPr/>
            </a:pPr>
            <a:fld id="{ED5F1821-B462-5D4A-A50F-5558D93C100E}" type="slidenum">
              <a:rPr lang="en-US" altLang="en-US"/>
              <a:pPr>
                <a:defRPr/>
              </a:pPr>
              <a:t>‹#›</a:t>
            </a:fld>
            <a:endParaRPr lang="en-US" altLang="en-US"/>
          </a:p>
        </p:txBody>
      </p:sp>
    </p:spTree>
    <p:extLst>
      <p:ext uri="{BB962C8B-B14F-4D97-AF65-F5344CB8AC3E}">
        <p14:creationId xmlns:p14="http://schemas.microsoft.com/office/powerpoint/2010/main" val="16872659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1"/>
            <a:ext cx="2057400" cy="32908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54781"/>
            <a:ext cx="6019800" cy="3290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C82BE4-5D0C-A74F-1692-17AB07A81041}"/>
              </a:ext>
            </a:extLst>
          </p:cNvPr>
          <p:cNvSpPr>
            <a:spLocks noGrp="1"/>
          </p:cNvSpPr>
          <p:nvPr>
            <p:ph type="dt" sz="half" idx="10"/>
          </p:nvPr>
        </p:nvSpPr>
        <p:spPr/>
        <p:txBody>
          <a:bodyPr/>
          <a:lstStyle>
            <a:lvl1pPr>
              <a:defRPr/>
            </a:lvl1pPr>
          </a:lstStyle>
          <a:p>
            <a:pPr>
              <a:defRPr/>
            </a:pPr>
            <a:fld id="{BDF87419-F5FA-5E48-8194-0A8567C6C82D}" type="datetimeFigureOut">
              <a:rPr lang="en-US"/>
              <a:pPr>
                <a:defRPr/>
              </a:pPr>
              <a:t>5/21/2026</a:t>
            </a:fld>
            <a:endParaRPr lang="en-US"/>
          </a:p>
        </p:txBody>
      </p:sp>
      <p:sp>
        <p:nvSpPr>
          <p:cNvPr id="5" name="Footer Placeholder 4">
            <a:extLst>
              <a:ext uri="{FF2B5EF4-FFF2-40B4-BE49-F238E27FC236}">
                <a16:creationId xmlns:a16="http://schemas.microsoft.com/office/drawing/2014/main" id="{50EB73F4-9A39-E973-A330-DFEEB8D6428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6078CF3-0DC8-CFE3-4678-2DBAFF5C9D24}"/>
              </a:ext>
            </a:extLst>
          </p:cNvPr>
          <p:cNvSpPr>
            <a:spLocks noGrp="1"/>
          </p:cNvSpPr>
          <p:nvPr>
            <p:ph type="sldNum" sz="quarter" idx="12"/>
          </p:nvPr>
        </p:nvSpPr>
        <p:spPr/>
        <p:txBody>
          <a:bodyPr/>
          <a:lstStyle>
            <a:lvl1pPr>
              <a:defRPr/>
            </a:lvl1pPr>
          </a:lstStyle>
          <a:p>
            <a:pPr>
              <a:defRPr/>
            </a:pPr>
            <a:fld id="{29DE1550-DB4A-6A45-8B8E-CF62B330646F}" type="slidenum">
              <a:rPr lang="en-US" altLang="en-US"/>
              <a:pPr>
                <a:defRPr/>
              </a:pPr>
              <a:t>‹#›</a:t>
            </a:fld>
            <a:endParaRPr lang="en-US" altLang="en-US"/>
          </a:p>
        </p:txBody>
      </p:sp>
    </p:spTree>
    <p:extLst>
      <p:ext uri="{BB962C8B-B14F-4D97-AF65-F5344CB8AC3E}">
        <p14:creationId xmlns:p14="http://schemas.microsoft.com/office/powerpoint/2010/main" val="41073242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62E4CE63-2D1A-AF61-04B7-62EF8C49AC54}"/>
              </a:ext>
            </a:extLst>
          </p:cNvPr>
          <p:cNvSpPr>
            <a:spLocks noGrp="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3461DA91-1D97-DAC9-D197-063CCAD76685}"/>
              </a:ext>
            </a:extLst>
          </p:cNvPr>
          <p:cNvSpPr>
            <a:spLocks noGrp="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1118B871-CF62-CE5A-E720-D98B2520CEEF}"/>
              </a:ext>
            </a:extLst>
          </p:cNvPr>
          <p:cNvSpPr>
            <a:spLocks noGrp="1"/>
          </p:cNvSpPr>
          <p:nvPr>
            <p:ph type="dt" sz="half" idx="2"/>
          </p:nvPr>
        </p:nvSpPr>
        <p:spPr>
          <a:xfrm>
            <a:off x="457200" y="4767263"/>
            <a:ext cx="2133600" cy="274637"/>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264296C4-DBE3-7040-AEB0-6220C6C829A5}" type="datetimeFigureOut">
              <a:rPr lang="en-US"/>
              <a:pPr>
                <a:defRPr/>
              </a:pPr>
              <a:t>5/21/2026</a:t>
            </a:fld>
            <a:endParaRPr lang="en-US"/>
          </a:p>
        </p:txBody>
      </p:sp>
      <p:sp>
        <p:nvSpPr>
          <p:cNvPr id="5" name="Footer Placeholder 4">
            <a:extLst>
              <a:ext uri="{FF2B5EF4-FFF2-40B4-BE49-F238E27FC236}">
                <a16:creationId xmlns:a16="http://schemas.microsoft.com/office/drawing/2014/main" id="{64315F57-38CB-B03C-EA0C-05FAF64AE5A7}"/>
              </a:ext>
            </a:extLst>
          </p:cNvPr>
          <p:cNvSpPr>
            <a:spLocks noGrp="1"/>
          </p:cNvSpPr>
          <p:nvPr>
            <p:ph type="ftr" sz="quarter" idx="3"/>
          </p:nvPr>
        </p:nvSpPr>
        <p:spPr>
          <a:xfrm>
            <a:off x="3124200" y="4767263"/>
            <a:ext cx="2895600" cy="274637"/>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a:extLst>
              <a:ext uri="{FF2B5EF4-FFF2-40B4-BE49-F238E27FC236}">
                <a16:creationId xmlns:a16="http://schemas.microsoft.com/office/drawing/2014/main" id="{CB5772A6-0718-37BA-7655-DB16B7F9EA75}"/>
              </a:ext>
            </a:extLst>
          </p:cNvPr>
          <p:cNvSpPr>
            <a:spLocks noGrp="1"/>
          </p:cNvSpPr>
          <p:nvPr>
            <p:ph type="sldNum" sz="quarter" idx="4"/>
          </p:nvPr>
        </p:nvSpPr>
        <p:spPr>
          <a:xfrm>
            <a:off x="6553200" y="4767263"/>
            <a:ext cx="2133600" cy="274637"/>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1A3C7280-C190-A443-A107-2A222B844453}"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93" r:id="rId1"/>
    <p:sldLayoutId id="2147483794"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 id="2147483792" r:id="rId12"/>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50D5D7-FB6C-EB8A-4A14-0C377DF62E8B}"/>
              </a:ext>
            </a:extLst>
          </p:cNvPr>
          <p:cNvPicPr>
            <a:picLocks noChangeAspect="1"/>
          </p:cNvPicPr>
          <p:nvPr/>
        </p:nvPicPr>
        <p:blipFill>
          <a:blip r:embed="rId3">
            <a:extLst>
              <a:ext uri="{28A0092B-C50C-407E-A947-70E740481C1C}">
                <a14:useLocalDpi xmlns:a14="http://schemas.microsoft.com/office/drawing/2010/main" val="0"/>
              </a:ext>
            </a:extLst>
          </a:blip>
          <a:srcRect t="23913"/>
          <a:stretch>
            <a:fillRect/>
          </a:stretch>
        </p:blipFill>
        <p:spPr>
          <a:xfrm>
            <a:off x="1" y="1047750"/>
            <a:ext cx="9144000" cy="3429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E8E981E-CCCC-7EE9-4081-0D4ECC093867}"/>
              </a:ext>
            </a:extLst>
          </p:cNvPr>
          <p:cNvPicPr>
            <a:picLocks noChangeAspect="1"/>
          </p:cNvPicPr>
          <p:nvPr/>
        </p:nvPicPr>
        <p:blipFill>
          <a:blip r:embed="rId3"/>
          <a:stretch>
            <a:fillRect/>
          </a:stretch>
        </p:blipFill>
        <p:spPr>
          <a:xfrm>
            <a:off x="0" y="0"/>
            <a:ext cx="9144000" cy="449293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C6D24-102B-90C9-92B6-C6A7FB03A23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86DB016-808C-DB50-9B67-FAE3A10FDB02}"/>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406895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4D34C-1023-EA2A-580E-3AFF120F2B1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3FE4C91-2EBE-5DF6-0E73-557016F23E00}"/>
              </a:ext>
            </a:extLst>
          </p:cNvPr>
          <p:cNvPicPr>
            <a:picLocks noChangeAspect="1"/>
          </p:cNvPicPr>
          <p:nvPr/>
        </p:nvPicPr>
        <p:blipFill>
          <a:blip r:embed="rId3"/>
          <a:stretch>
            <a:fillRect/>
          </a:stretch>
        </p:blipFill>
        <p:spPr>
          <a:xfrm>
            <a:off x="0" y="0"/>
            <a:ext cx="9144000" cy="4475436"/>
          </a:xfrm>
          <a:prstGeom prst="rect">
            <a:avLst/>
          </a:prstGeom>
        </p:spPr>
      </p:pic>
    </p:spTree>
    <p:extLst>
      <p:ext uri="{BB962C8B-B14F-4D97-AF65-F5344CB8AC3E}">
        <p14:creationId xmlns:p14="http://schemas.microsoft.com/office/powerpoint/2010/main" val="16050432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FACEB-D3FA-7013-0C28-C0B01B064C5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5820C27-D9B7-100A-4A47-52E324BE11E0}"/>
              </a:ext>
            </a:extLst>
          </p:cNvPr>
          <p:cNvPicPr>
            <a:picLocks noChangeAspect="1"/>
          </p:cNvPicPr>
          <p:nvPr/>
        </p:nvPicPr>
        <p:blipFill>
          <a:blip r:embed="rId3"/>
          <a:stretch>
            <a:fillRect/>
          </a:stretch>
        </p:blipFill>
        <p:spPr>
          <a:xfrm>
            <a:off x="0" y="0"/>
            <a:ext cx="9144000" cy="4476750"/>
          </a:xfrm>
          <a:prstGeom prst="rect">
            <a:avLst/>
          </a:prstGeom>
        </p:spPr>
      </p:pic>
    </p:spTree>
    <p:extLst>
      <p:ext uri="{BB962C8B-B14F-4D97-AF65-F5344CB8AC3E}">
        <p14:creationId xmlns:p14="http://schemas.microsoft.com/office/powerpoint/2010/main" val="22195782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2FEB2-FC67-2410-AE12-67FB27DFD7E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AD9FBEB-2B81-5843-2217-D0FA6A0A70C7}"/>
              </a:ext>
            </a:extLst>
          </p:cNvPr>
          <p:cNvPicPr>
            <a:picLocks noChangeAspect="1"/>
          </p:cNvPicPr>
          <p:nvPr/>
        </p:nvPicPr>
        <p:blipFill>
          <a:blip r:embed="rId3"/>
          <a:stretch>
            <a:fillRect/>
          </a:stretch>
        </p:blipFill>
        <p:spPr>
          <a:xfrm>
            <a:off x="0" y="0"/>
            <a:ext cx="9144000" cy="4476750"/>
          </a:xfrm>
          <a:prstGeom prst="rect">
            <a:avLst/>
          </a:prstGeom>
        </p:spPr>
      </p:pic>
    </p:spTree>
    <p:extLst>
      <p:ext uri="{BB962C8B-B14F-4D97-AF65-F5344CB8AC3E}">
        <p14:creationId xmlns:p14="http://schemas.microsoft.com/office/powerpoint/2010/main" val="19177720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8B36A-8CA7-5B75-6660-1371FF07B57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5D6C80A-2BD7-5669-81BD-8450D47BF4D8}"/>
              </a:ext>
            </a:extLst>
          </p:cNvPr>
          <p:cNvPicPr>
            <a:picLocks noChangeAspect="1"/>
          </p:cNvPicPr>
          <p:nvPr/>
        </p:nvPicPr>
        <p:blipFill>
          <a:blip r:embed="rId3"/>
          <a:stretch>
            <a:fillRect/>
          </a:stretch>
        </p:blipFill>
        <p:spPr>
          <a:xfrm>
            <a:off x="0" y="0"/>
            <a:ext cx="9144000" cy="4468358"/>
          </a:xfrm>
          <a:prstGeom prst="rect">
            <a:avLst/>
          </a:prstGeom>
        </p:spPr>
      </p:pic>
    </p:spTree>
    <p:extLst>
      <p:ext uri="{BB962C8B-B14F-4D97-AF65-F5344CB8AC3E}">
        <p14:creationId xmlns:p14="http://schemas.microsoft.com/office/powerpoint/2010/main" val="1122328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7A267-B860-BC53-1961-98B82D60C63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8ECE9E4-8380-EF41-6769-A33D8C53C98D}"/>
              </a:ext>
            </a:extLst>
          </p:cNvPr>
          <p:cNvPicPr>
            <a:picLocks noChangeAspect="1"/>
          </p:cNvPicPr>
          <p:nvPr/>
        </p:nvPicPr>
        <p:blipFill>
          <a:blip r:embed="rId3"/>
          <a:stretch>
            <a:fillRect/>
          </a:stretch>
        </p:blipFill>
        <p:spPr>
          <a:xfrm>
            <a:off x="0" y="1"/>
            <a:ext cx="9144000" cy="4476750"/>
          </a:xfrm>
          <a:prstGeom prst="rect">
            <a:avLst/>
          </a:prstGeom>
        </p:spPr>
      </p:pic>
    </p:spTree>
    <p:extLst>
      <p:ext uri="{BB962C8B-B14F-4D97-AF65-F5344CB8AC3E}">
        <p14:creationId xmlns:p14="http://schemas.microsoft.com/office/powerpoint/2010/main" val="20760690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72551-D9EA-1CC5-2CBC-3A2D9A158C7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0C92A63-8717-FE54-274B-721AEB6D4C3D}"/>
              </a:ext>
            </a:extLst>
          </p:cNvPr>
          <p:cNvPicPr>
            <a:picLocks noChangeAspect="1"/>
          </p:cNvPicPr>
          <p:nvPr/>
        </p:nvPicPr>
        <p:blipFill>
          <a:blip r:embed="rId3"/>
          <a:stretch>
            <a:fillRect/>
          </a:stretch>
        </p:blipFill>
        <p:spPr>
          <a:xfrm>
            <a:off x="0" y="0"/>
            <a:ext cx="9144000" cy="4481015"/>
          </a:xfrm>
          <a:prstGeom prst="rect">
            <a:avLst/>
          </a:prstGeom>
        </p:spPr>
      </p:pic>
    </p:spTree>
    <p:extLst>
      <p:ext uri="{BB962C8B-B14F-4D97-AF65-F5344CB8AC3E}">
        <p14:creationId xmlns:p14="http://schemas.microsoft.com/office/powerpoint/2010/main" val="26425719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5D152-886E-4AE1-083F-8EA24EF0FEB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1C60C2D-FDFF-4CFA-32B1-BE82ECFB857C}"/>
              </a:ext>
            </a:extLst>
          </p:cNvPr>
          <p:cNvPicPr>
            <a:picLocks noChangeAspect="1"/>
          </p:cNvPicPr>
          <p:nvPr/>
        </p:nvPicPr>
        <p:blipFill>
          <a:blip r:embed="rId3"/>
          <a:stretch>
            <a:fillRect/>
          </a:stretch>
        </p:blipFill>
        <p:spPr>
          <a:xfrm>
            <a:off x="0" y="0"/>
            <a:ext cx="9144000" cy="4471892"/>
          </a:xfrm>
          <a:prstGeom prst="rect">
            <a:avLst/>
          </a:prstGeom>
        </p:spPr>
      </p:pic>
    </p:spTree>
    <p:extLst>
      <p:ext uri="{BB962C8B-B14F-4D97-AF65-F5344CB8AC3E}">
        <p14:creationId xmlns:p14="http://schemas.microsoft.com/office/powerpoint/2010/main" val="2522997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68031-DA89-51F1-EFFA-EC4FB5BBBAA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E647F14-8220-64BD-83F1-7B4A5E35C305}"/>
              </a:ext>
            </a:extLst>
          </p:cNvPr>
          <p:cNvPicPr>
            <a:picLocks noChangeAspect="1"/>
          </p:cNvPicPr>
          <p:nvPr/>
        </p:nvPicPr>
        <p:blipFill>
          <a:blip r:embed="rId3"/>
          <a:stretch>
            <a:fillRect/>
          </a:stretch>
        </p:blipFill>
        <p:spPr>
          <a:xfrm>
            <a:off x="0" y="0"/>
            <a:ext cx="9144000" cy="4477938"/>
          </a:xfrm>
          <a:prstGeom prst="rect">
            <a:avLst/>
          </a:prstGeom>
        </p:spPr>
      </p:pic>
    </p:spTree>
    <p:extLst>
      <p:ext uri="{BB962C8B-B14F-4D97-AF65-F5344CB8AC3E}">
        <p14:creationId xmlns:p14="http://schemas.microsoft.com/office/powerpoint/2010/main" val="36233117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5761D-7AF7-0362-0C7F-6AA5667ABD4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8E72B03-E2E2-3DE8-9607-27AC6BF93F51}"/>
              </a:ext>
            </a:extLst>
          </p:cNvPr>
          <p:cNvPicPr>
            <a:picLocks noChangeAspect="1"/>
          </p:cNvPicPr>
          <p:nvPr/>
        </p:nvPicPr>
        <p:blipFill>
          <a:blip r:embed="rId3"/>
          <a:stretch>
            <a:fillRect/>
          </a:stretch>
        </p:blipFill>
        <p:spPr>
          <a:xfrm>
            <a:off x="0" y="1"/>
            <a:ext cx="9144000" cy="4476750"/>
          </a:xfrm>
          <a:prstGeom prst="rect">
            <a:avLst/>
          </a:prstGeom>
        </p:spPr>
      </p:pic>
    </p:spTree>
    <p:extLst>
      <p:ext uri="{BB962C8B-B14F-4D97-AF65-F5344CB8AC3E}">
        <p14:creationId xmlns:p14="http://schemas.microsoft.com/office/powerpoint/2010/main" val="2174710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B060D-700E-DBD3-C2D1-A90E4185988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9D23D1A-5DA2-C7C2-DA07-29658B4A3627}"/>
              </a:ext>
            </a:extLst>
          </p:cNvPr>
          <p:cNvPicPr>
            <a:picLocks noChangeAspect="1"/>
          </p:cNvPicPr>
          <p:nvPr/>
        </p:nvPicPr>
        <p:blipFill>
          <a:blip r:embed="rId3"/>
          <a:stretch>
            <a:fillRect/>
          </a:stretch>
        </p:blipFill>
        <p:spPr>
          <a:xfrm>
            <a:off x="0" y="1"/>
            <a:ext cx="9144000" cy="4476750"/>
          </a:xfrm>
          <a:prstGeom prst="rect">
            <a:avLst/>
          </a:prstGeom>
        </p:spPr>
      </p:pic>
    </p:spTree>
    <p:extLst>
      <p:ext uri="{BB962C8B-B14F-4D97-AF65-F5344CB8AC3E}">
        <p14:creationId xmlns:p14="http://schemas.microsoft.com/office/powerpoint/2010/main" val="2378940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2E8B7-4C2D-550E-9875-24C11F9A6B5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9BA2E27-552D-555B-8786-66A792D814E6}"/>
              </a:ext>
            </a:extLst>
          </p:cNvPr>
          <p:cNvPicPr>
            <a:picLocks noChangeAspect="1"/>
          </p:cNvPicPr>
          <p:nvPr/>
        </p:nvPicPr>
        <p:blipFill>
          <a:blip r:embed="rId3"/>
          <a:stretch>
            <a:fillRect/>
          </a:stretch>
        </p:blipFill>
        <p:spPr>
          <a:xfrm>
            <a:off x="0" y="-95250"/>
            <a:ext cx="9144000" cy="4573953"/>
          </a:xfrm>
          <a:prstGeom prst="rect">
            <a:avLst/>
          </a:prstGeom>
        </p:spPr>
      </p:pic>
    </p:spTree>
    <p:extLst>
      <p:ext uri="{BB962C8B-B14F-4D97-AF65-F5344CB8AC3E}">
        <p14:creationId xmlns:p14="http://schemas.microsoft.com/office/powerpoint/2010/main" val="5037116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93552-1A46-F641-D24B-59044B469DE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5CEB24C-84D0-B011-6EAD-2AD4DC25CCFE}"/>
              </a:ext>
            </a:extLst>
          </p:cNvPr>
          <p:cNvPicPr>
            <a:picLocks noChangeAspect="1"/>
          </p:cNvPicPr>
          <p:nvPr/>
        </p:nvPicPr>
        <p:blipFill>
          <a:blip r:embed="rId3"/>
          <a:stretch>
            <a:fillRect/>
          </a:stretch>
        </p:blipFill>
        <p:spPr>
          <a:xfrm>
            <a:off x="0" y="1"/>
            <a:ext cx="9144000" cy="4476750"/>
          </a:xfrm>
          <a:prstGeom prst="rect">
            <a:avLst/>
          </a:prstGeom>
        </p:spPr>
      </p:pic>
    </p:spTree>
    <p:extLst>
      <p:ext uri="{BB962C8B-B14F-4D97-AF65-F5344CB8AC3E}">
        <p14:creationId xmlns:p14="http://schemas.microsoft.com/office/powerpoint/2010/main" val="14133202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02B67-01A7-51E4-6F64-5F5B5B523EF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7FE0C7C-622B-EF02-CFA6-8C024DBAF8D1}"/>
              </a:ext>
            </a:extLst>
          </p:cNvPr>
          <p:cNvPicPr>
            <a:picLocks noChangeAspect="1"/>
          </p:cNvPicPr>
          <p:nvPr/>
        </p:nvPicPr>
        <p:blipFill>
          <a:blip r:embed="rId3"/>
          <a:stretch>
            <a:fillRect/>
          </a:stretch>
        </p:blipFill>
        <p:spPr>
          <a:xfrm>
            <a:off x="0" y="0"/>
            <a:ext cx="9144000" cy="4471355"/>
          </a:xfrm>
          <a:prstGeom prst="rect">
            <a:avLst/>
          </a:prstGeom>
        </p:spPr>
      </p:pic>
    </p:spTree>
    <p:extLst>
      <p:ext uri="{BB962C8B-B14F-4D97-AF65-F5344CB8AC3E}">
        <p14:creationId xmlns:p14="http://schemas.microsoft.com/office/powerpoint/2010/main" val="35793454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18A07-108D-F419-40D0-EC057CF0F98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3E39B9E-9F47-4712-1719-D0D503C3A463}"/>
              </a:ext>
            </a:extLst>
          </p:cNvPr>
          <p:cNvPicPr>
            <a:picLocks noChangeAspect="1"/>
          </p:cNvPicPr>
          <p:nvPr/>
        </p:nvPicPr>
        <p:blipFill>
          <a:blip r:embed="rId3"/>
          <a:stretch>
            <a:fillRect/>
          </a:stretch>
        </p:blipFill>
        <p:spPr>
          <a:xfrm>
            <a:off x="0" y="0"/>
            <a:ext cx="9144000" cy="4465079"/>
          </a:xfrm>
          <a:prstGeom prst="rect">
            <a:avLst/>
          </a:prstGeom>
        </p:spPr>
      </p:pic>
    </p:spTree>
    <p:extLst>
      <p:ext uri="{BB962C8B-B14F-4D97-AF65-F5344CB8AC3E}">
        <p14:creationId xmlns:p14="http://schemas.microsoft.com/office/powerpoint/2010/main" val="20051682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CE1A5-B4E2-0CEB-8076-0ECA808F242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AE065463-A667-A588-D8A1-653A099D1506}"/>
              </a:ext>
            </a:extLst>
          </p:cNvPr>
          <p:cNvPicPr>
            <a:picLocks noChangeAspect="1"/>
          </p:cNvPicPr>
          <p:nvPr/>
        </p:nvPicPr>
        <p:blipFill>
          <a:blip r:embed="rId3"/>
          <a:stretch>
            <a:fillRect/>
          </a:stretch>
        </p:blipFill>
        <p:spPr>
          <a:xfrm>
            <a:off x="0" y="-95249"/>
            <a:ext cx="9144000" cy="4572000"/>
          </a:xfrm>
          <a:prstGeom prst="rect">
            <a:avLst/>
          </a:prstGeom>
        </p:spPr>
      </p:pic>
    </p:spTree>
    <p:extLst>
      <p:ext uri="{BB962C8B-B14F-4D97-AF65-F5344CB8AC3E}">
        <p14:creationId xmlns:p14="http://schemas.microsoft.com/office/powerpoint/2010/main" val="34502766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121AB-90B7-D6E2-996E-D25675DFC04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136DA49-80C4-553C-6F47-F98822900F65}"/>
              </a:ext>
            </a:extLst>
          </p:cNvPr>
          <p:cNvPicPr>
            <a:picLocks noChangeAspect="1"/>
          </p:cNvPicPr>
          <p:nvPr/>
        </p:nvPicPr>
        <p:blipFill>
          <a:blip r:embed="rId3"/>
          <a:stretch>
            <a:fillRect/>
          </a:stretch>
        </p:blipFill>
        <p:spPr>
          <a:xfrm>
            <a:off x="0" y="0"/>
            <a:ext cx="9144000" cy="4476750"/>
          </a:xfrm>
          <a:prstGeom prst="rect">
            <a:avLst/>
          </a:prstGeom>
        </p:spPr>
      </p:pic>
    </p:spTree>
    <p:extLst>
      <p:ext uri="{BB962C8B-B14F-4D97-AF65-F5344CB8AC3E}">
        <p14:creationId xmlns:p14="http://schemas.microsoft.com/office/powerpoint/2010/main" val="4468777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TotalTime>
  <Words>8023</Words>
  <Application>Microsoft Office PowerPoint</Application>
  <PresentationFormat>On-screen Show (16:9)</PresentationFormat>
  <Paragraphs>346</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Angie</dc:creator>
  <cp:lastModifiedBy>Stephen Campbell</cp:lastModifiedBy>
  <cp:revision>13</cp:revision>
  <dcterms:created xsi:type="dcterms:W3CDTF">2024-02-21T13:30:06Z</dcterms:created>
  <dcterms:modified xsi:type="dcterms:W3CDTF">2026-05-21T20:52:47Z</dcterms:modified>
</cp:coreProperties>
</file>